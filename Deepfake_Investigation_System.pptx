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8FAFC"/>
                </a:solidFill>
                <a:latin typeface="Calibri"/>
              </a:rPr>
              <a:t>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DEEPFAKE INVESTIGATION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429000"/>
            <a:ext cx="667512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94A3B8"/>
                </a:solidFill>
                <a:latin typeface="Calibri"/>
              </a:rPr>
              <a:t>Advanced AI-Powered Digital Forensics &amp; Media Authenticity Verification 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434840"/>
            <a:ext cx="1737360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4531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EfficientNet-B3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4434840"/>
            <a:ext cx="1737360" cy="3840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39" y="44531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Grad-CAM XAI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8" y="4434840"/>
            <a:ext cx="173736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58" y="44531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OpenCV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77" y="4434840"/>
            <a:ext cx="173736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77" y="44531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Flask REST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796" y="4434840"/>
            <a:ext cx="1737360" cy="38404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796" y="44531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ReportLab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44652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Digital Forensics  |  AI Research  |  Media Verification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3F5E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Calibri"/>
              </a:rPr>
              <a:t>Deepfakes: A Growing Threat to Digital Trust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2697480" cy="15087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269748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554480"/>
            <a:ext cx="2697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43F5E"/>
                </a:solidFill>
                <a:latin typeface="Calibri"/>
              </a:rPr>
              <a:t>900%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Increase in deepfake content
online since 2019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1463040"/>
            <a:ext cx="2697480" cy="15087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18688" y="1463040"/>
            <a:ext cx="26974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1554480"/>
            <a:ext cx="2697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9E0B"/>
                </a:solidFill>
                <a:latin typeface="Calibri"/>
              </a:rPr>
              <a:t>96%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212848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Of deepfakes target
individuals non-consensually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6" y="1463040"/>
            <a:ext cx="2697480" cy="15087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71616" y="1463040"/>
            <a:ext cx="2697480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1554480"/>
            <a:ext cx="2697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6B6D4"/>
                </a:solidFill>
                <a:latin typeface="Calibri"/>
              </a:rPr>
              <a:t>$25B+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1616" y="2212848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Projected financial fraud
damage by 2027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24544" y="1463040"/>
            <a:ext cx="2697480" cy="15087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24544" y="1463040"/>
            <a:ext cx="26974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24544" y="1554480"/>
            <a:ext cx="2697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3.8s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4" y="2212848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Average time to generate
a convincing deepfake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"/>
              </a:rPr>
              <a:t>Key Challenges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61188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94A3B8"/>
                </a:solidFill>
                <a:latin typeface="Calibri"/>
              </a:rPr>
              <a:t>  •  Hyper-realistic AI face-swaps that fool the human eye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94A3B8"/>
                </a:solidFill>
                <a:latin typeface="Calibri"/>
              </a:rPr>
              <a:t>  •  No reliable manual verification method at scale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94A3B8"/>
                </a:solidFill>
                <a:latin typeface="Calibri"/>
              </a:rPr>
              <a:t>  •  Criminal use in disinformation campaigns &amp; identity fraud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94A3B8"/>
                </a:solidFill>
                <a:latin typeface="Calibri"/>
              </a:rPr>
              <a:t>  •  Evidence integrity compromised in legal proceedings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94A3B8"/>
                </a:solidFill>
                <a:latin typeface="Calibri"/>
              </a:rPr>
              <a:t>  •  Rapid evolution of generative AI (GANs, Diffusion Models)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54680"/>
            <a:ext cx="5486400" cy="33832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54680"/>
            <a:ext cx="54864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2918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B6D4"/>
                </a:solidFill>
                <a:latin typeface="Calibri"/>
              </a:rPr>
              <a:t>Our Solution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749039"/>
            <a:ext cx="5120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An enterprise-grade AI forensic platform that automatically
detects synthetic facial manipulation with:
- Deep CNN (EfficientNet-B3) binary classification
- Explainable AI heatmaps via Grad-CAM
- Frame-level video forensics
- Cryptographically-structured forensic reports
- Real-time REST API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PROJECT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Calibri"/>
              </a:rPr>
              <a:t>What We Set Out to Achieve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3749039" cy="1691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3749039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5361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B82F6"/>
                </a:solidFill>
                <a:latin typeface="Calibri"/>
              </a:rPr>
              <a:t>[Target]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554480"/>
            <a:ext cx="3017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Automated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38528"/>
            <a:ext cx="35661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Build an end-to-end pipeline that automatically identifies synthetic facial manipulation in uploaded images and videos without manual intervention.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399" y="1463040"/>
            <a:ext cx="3749039" cy="1691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399" y="1463040"/>
            <a:ext cx="3749039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361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B6D4"/>
                </a:solidFill>
                <a:latin typeface="Calibri"/>
              </a:rPr>
              <a:t>[Lens]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59" y="1554480"/>
            <a:ext cx="3017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Calibri"/>
              </a:rPr>
              <a:t>Explainable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1938528"/>
            <a:ext cx="35661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Provide transparency into model decisions using Grad-CAM activation heatmaps that highlight the exact pixel regions triggering deepfake classification.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58" y="1463040"/>
            <a:ext cx="3749039" cy="1691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58" y="1463040"/>
            <a:ext cx="3749039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6" y="15361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0B981"/>
                </a:solidFill>
                <a:latin typeface="Calibri"/>
              </a:rPr>
              <a:t>[Film]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8" y="1554480"/>
            <a:ext cx="3017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Video Forensics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6486" y="1938528"/>
            <a:ext cx="35661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Implement temporal frame-by-frame analysis for video files, computing per-frame confidence and aggregate fake-ratio metrics.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383280"/>
            <a:ext cx="3749039" cy="1691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383280"/>
            <a:ext cx="3749039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34564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9E0B"/>
                </a:solidFill>
                <a:latin typeface="Calibri"/>
              </a:rPr>
              <a:t>[Doc]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474720"/>
            <a:ext cx="3017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Calibri"/>
              </a:rPr>
              <a:t>Forensic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3858768"/>
            <a:ext cx="35661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Auto-generate structured PDF investigation reports suitable for legal and evidentiary use, including confidence scores, heatmaps and risk assessments.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399" y="3383280"/>
            <a:ext cx="3749039" cy="1691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399" y="3383280"/>
            <a:ext cx="3749039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3127" y="34564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3F5E"/>
                </a:solidFill>
                <a:latin typeface="Calibri"/>
              </a:rPr>
              <a:t>[Chart]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59" y="3474720"/>
            <a:ext cx="3017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3F5E"/>
                </a:solidFill>
                <a:latin typeface="Calibri"/>
              </a:rPr>
              <a:t>Analytics 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3127" y="3858768"/>
            <a:ext cx="35661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Provide a real-time interactive dashboard with historical case tracking, trend visualisations, and 1-click CSV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66758" y="3383280"/>
            <a:ext cx="3749039" cy="1691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66758" y="3383280"/>
            <a:ext cx="3749039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6486" y="34564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B82F6"/>
                </a:solidFill>
                <a:latin typeface="Calibri"/>
              </a:rPr>
              <a:t>[API]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18" y="3474720"/>
            <a:ext cx="3017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REST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6486" y="3858768"/>
            <a:ext cx="35661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Expose a headless JSON REST API endpoint enabling seamless integration with third-party microservices and mobile applications.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Calibri"/>
              </a:rPr>
              <a:t>7-Stage Detection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474720" cy="5120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160520" y="1417320"/>
            <a:ext cx="425196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417320"/>
            <a:ext cx="45720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417320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14538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Input Validation &amp; MIME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17647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File type and size verification before processing.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121408"/>
            <a:ext cx="425196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2121408"/>
            <a:ext cx="457200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12140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15798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OpenCV Face Extraction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468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Haar Cascade face detection + proportional padding crop.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2825496"/>
            <a:ext cx="425196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60520" y="2825496"/>
            <a:ext cx="457200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0520" y="2825496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872" y="2862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EfficientNet-B3 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0872" y="3172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300x300 input -&gt; deep CNN binary classification.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3529584"/>
            <a:ext cx="425196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3529584"/>
            <a:ext cx="45720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3529584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2" y="3566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Grad-CAM XAI Heatmap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2" y="38770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Gradient-weighted activation maps on last conv layer.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0520" y="4233672"/>
            <a:ext cx="425196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60520" y="4233672"/>
            <a:ext cx="457200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20" y="4233672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42702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Risk &amp; Confidence Scoring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0872" y="45811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Tiered risk: Low -&gt; Medium -&gt; High -&gt; Very High.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4937760"/>
            <a:ext cx="425196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0520" y="4937760"/>
            <a:ext cx="45720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60520" y="4937760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90872" y="49743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SQLite Case Logging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90872" y="528523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Persistent investigation history with SQLAlchemy ORM.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5641848"/>
            <a:ext cx="425196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60520" y="5641848"/>
            <a:ext cx="457200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60520" y="564184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5678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PDF Report &amp; Dashboard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5989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ReportLab PDF + Chart.js real-time analytics.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41080" y="1417320"/>
            <a:ext cx="3200400" cy="5120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41080" y="1417320"/>
            <a:ext cx="32004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1508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  <a:latin typeface="Calibri"/>
              </a:rPr>
              <a:t>Technology Stack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192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Python 3.11+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52760" y="192024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Runtime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23500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TensorFlow / Keras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52760" y="23500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Deep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277977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EfficientNet-B3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52760" y="277977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CNN Backbone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32095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OpenCV 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320954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Computer Vision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0" y="36393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Flask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52760" y="363931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Web Framework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0" y="4069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SQLAlchemy / SQLite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52760" y="40690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Database ORM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0" y="44988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ReportLab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52760" y="449884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PDF Generation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492861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Chart.js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52760" y="492861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Analytics UI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53583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Docker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535838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Containerization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8240" y="57881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Calibri"/>
              </a:rPr>
              <a:t>&gt;&gt; Render.com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52760" y="578815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Cloud Deployment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DEEP LEARNING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Calibri"/>
              </a:rPr>
              <a:t>EfficientNet-B3 CNN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3749039" cy="5943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4864" cy="825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90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Input 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556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300 x 300 x 3 (RGB)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03120"/>
            <a:ext cx="3749039" cy="5943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103120"/>
            <a:ext cx="54864" cy="8255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130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9572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EfficientNet-B3 + Custom 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3749039" cy="5943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54864" cy="8255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7706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Task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3580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Binary Classification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83280"/>
            <a:ext cx="3749039" cy="5943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383280"/>
            <a:ext cx="54864" cy="825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4107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6758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Sigmoid -&gt; Fake / Real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023360"/>
            <a:ext cx="3749039" cy="5943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023360"/>
            <a:ext cx="54864" cy="8255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0507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Preprocessing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31596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EfficientNet preprocess_input()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663440"/>
            <a:ext cx="3749039" cy="5943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663440"/>
            <a:ext cx="54864" cy="825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6908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Optimizer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9560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Adam + Binary Cross-Entropy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1463040"/>
            <a:ext cx="7452360" cy="51663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9120" y="1463040"/>
            <a:ext cx="745236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1554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Inference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26280" y="2011680"/>
            <a:ext cx="7132320" cy="484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26280" y="2011680"/>
            <a:ext cx="64008" cy="4846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81728" y="2020824"/>
            <a:ext cx="17373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01  Input Image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202082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Raw JPEG/PNG upload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2523744"/>
            <a:ext cx="7132320" cy="484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26280" y="2523744"/>
            <a:ext cx="64008" cy="4846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81728" y="2532888"/>
            <a:ext cx="17373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02  Face Detection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25328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Haar Cascade -&gt; largest face ROI + 20% padding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26280" y="3035808"/>
            <a:ext cx="7132320" cy="484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26280" y="3035808"/>
            <a:ext cx="64008" cy="4846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81728" y="3044952"/>
            <a:ext cx="17373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03  Resize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0449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cv2.resize -&gt; 300x300  BGR-&gt;RGB conversion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26280" y="3547872"/>
            <a:ext cx="7132320" cy="484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26280" y="3547872"/>
            <a:ext cx="64008" cy="484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81728" y="3557016"/>
            <a:ext cx="17373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04  Normalize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55701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EfficientNet preprocess_input() -&gt; float32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26280" y="4059936"/>
            <a:ext cx="7132320" cy="484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26280" y="4059936"/>
            <a:ext cx="64008" cy="48463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81728" y="4069080"/>
            <a:ext cx="17373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3F5E"/>
                </a:solidFill>
                <a:latin typeface="Calibri"/>
              </a:rPr>
              <a:t>05  Forward Pass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4069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model.predict(batch) -&gt; score in [0, 1]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6280" y="4572000"/>
            <a:ext cx="7132320" cy="484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26280" y="4572000"/>
            <a:ext cx="64008" cy="4846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81728" y="4581144"/>
            <a:ext cx="17373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06  Decision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58114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score &lt; 0.45 = Fake | &gt; 0.55 = Real | else Uncertain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26280" y="5084064"/>
            <a:ext cx="7132320" cy="484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26280" y="5084064"/>
            <a:ext cx="64008" cy="4846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81728" y="5093208"/>
            <a:ext cx="17373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07  Risk Tier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50932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Confidence -&gt; Low / Medium / High / Very High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26280" y="5596128"/>
            <a:ext cx="7132320" cy="4846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596128"/>
            <a:ext cx="64008" cy="4846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81728" y="5605272"/>
            <a:ext cx="17373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08  Grad-CAM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6052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Gradient of class score wrt last conv layer activations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Calibri"/>
              </a:rPr>
              <a:t>Platform Capabilities at a Glance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2834640" cy="19202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283464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55448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[Eye]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Face Auto-Extraction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01168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Automatically isolates and centers facial regions using OpenCV Haar Cascades before inference, eliminating background noise.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1463040"/>
            <a:ext cx="2834640" cy="19202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463040"/>
            <a:ext cx="2834640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7288" y="155448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[Brain]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EfficientNet-B3 CNN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201168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State-of-the-art binary classification neural network pre-trained on ImageNet, fine-tuned on deepfake forensic datasets.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63040"/>
            <a:ext cx="2834640" cy="19202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1463040"/>
            <a:ext cx="283464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55448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3F5E"/>
                </a:solidFill>
                <a:latin typeface="Calibri"/>
              </a:rPr>
              <a:t>[Heatmap]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3F5E"/>
                </a:solidFill>
                <a:latin typeface="Calibri"/>
              </a:rPr>
              <a:t>Grad-CAM Heatmaps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201168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Generates transparent activation heatmaps highlighting exact pixel regions that triggered the deepfake classification.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1463040"/>
            <a:ext cx="2834640" cy="19202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72600" y="1463040"/>
            <a:ext cx="283464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2328" y="155448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[Video]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15727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Video Frame Forensics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201168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Samples sequential frames, computes per-frame fake probability, and aggregates confidence ratios with temporal metrics.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566160"/>
            <a:ext cx="2834640" cy="19202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566160"/>
            <a:ext cx="283464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" y="3657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[PDF]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367588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Forensic PDF Reports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" y="411480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Compiles case metadata, media snapshots, Grad-CAM attention maps, and breakdown metrics into printable evidence documents.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3566160"/>
            <a:ext cx="2834640" cy="19202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37560" y="3566160"/>
            <a:ext cx="2834640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47288" y="3657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[Chart]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67588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Analytics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7288" y="411480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Interactive Chart.js donut and bar visualizations tracking historical detection distributions and KPI counters in real-time.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3566160"/>
            <a:ext cx="2834640" cy="19202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5080" y="3566160"/>
            <a:ext cx="283464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4808" y="3657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[CSV]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367588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CSV Data Export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4808" y="411480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1-Click download of complete historical case registry in standard RFC 4180 CSV format for downstream analysis.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72600" y="3566160"/>
            <a:ext cx="2834640" cy="19202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3566160"/>
            <a:ext cx="283464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82328" y="3657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3F5E"/>
                </a:solidFill>
                <a:latin typeface="Calibri"/>
              </a:rPr>
              <a:t>[API]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40" y="367588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3F5E"/>
                </a:solidFill>
                <a:latin typeface="Calibri"/>
              </a:rPr>
              <a:t>Headless REST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82328" y="411480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POST /api/predict endpoint returns structured JSON results, enabling integration with mobile apps and microservices.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MODEL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Calibri"/>
              </a:rPr>
              <a:t>Empirical Evaluation &amp; Benchmark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  <a:latin typeface="Calibri"/>
              </a:rPr>
              <a:t>Evaluated on FaceForensics++ &amp; Celeb-DF benchmarks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2194560" cy="14630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219456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901952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0B981"/>
                </a:solidFill>
                <a:latin typeface="Calibri"/>
              </a:rPr>
              <a:t>69.86%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5603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Overall
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783080"/>
            <a:ext cx="2194560" cy="14630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97480" y="1783080"/>
            <a:ext cx="2194560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901952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B6D4"/>
                </a:solidFill>
                <a:latin typeface="Calibri"/>
              </a:rPr>
              <a:t>74.49%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603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Deepfake
Recall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1783080"/>
            <a:ext cx="2194560" cy="14630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1783080"/>
            <a:ext cx="219456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901952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B82F6"/>
                </a:solidFill>
                <a:latin typeface="Calibri"/>
              </a:rPr>
              <a:t>65.77%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5603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Authentic
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60920" y="1783080"/>
            <a:ext cx="2194560" cy="14630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60920" y="1783080"/>
            <a:ext cx="21945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1901952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0.684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5603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Macro
F1-Score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92640" y="1783080"/>
            <a:ext cx="2194560" cy="14630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2640" y="1783080"/>
            <a:ext cx="219456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0" y="1901952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43F5E"/>
                </a:solidFill>
                <a:latin typeface="Calibri"/>
              </a:rPr>
              <a:t>0.584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2560320"/>
            <a:ext cx="2194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Validation
Loss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29000"/>
            <a:ext cx="5669280" cy="3154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429000"/>
            <a:ext cx="5669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520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  <a:latin typeface="Calibri"/>
              </a:rPr>
              <a:t>Performance Breakdown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977639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Overall Accuracy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0" y="4014215"/>
            <a:ext cx="2874599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06319" y="397763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69.86%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544567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Deepfake Recall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4581143"/>
            <a:ext cx="3065114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96834" y="454456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alibri"/>
              </a:rPr>
              <a:t>74.49%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111495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Authentic Precision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5148071"/>
            <a:ext cx="2706303" cy="2560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38023" y="5111495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65.77%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67842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F1-Score (x100)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5714999"/>
            <a:ext cx="2814523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46243" y="5678423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68.4%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3429000"/>
            <a:ext cx="5623560" cy="3154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3429000"/>
            <a:ext cx="562356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3520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Classification Report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931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A3B8"/>
                </a:solidFill>
                <a:latin typeface="Calibri"/>
              </a:rPr>
              <a:t>Class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3931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A3B8"/>
                </a:solidFill>
                <a:latin typeface="Calibri"/>
              </a:rPr>
              <a:t>Precision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3931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A3B8"/>
                </a:solidFill>
                <a:latin typeface="Calibri"/>
              </a:rPr>
              <a:t>Recall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3931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A3B8"/>
                </a:solidFill>
                <a:latin typeface="Calibri"/>
              </a:rPr>
              <a:t>F1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4251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0B981"/>
                </a:solidFill>
                <a:latin typeface="Calibri"/>
              </a:rPr>
              <a:t>REAL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4251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0B981"/>
                </a:solidFill>
                <a:latin typeface="Calibri"/>
              </a:rPr>
              <a:t>65.77%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251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0B981"/>
                </a:solidFill>
                <a:latin typeface="Calibri"/>
              </a:rPr>
              <a:t>63.28%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4251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0B981"/>
                </a:solidFill>
                <a:latin typeface="Calibri"/>
              </a:rPr>
              <a:t>0.645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599432"/>
            <a:ext cx="530352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46360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43F5E"/>
                </a:solidFill>
                <a:latin typeface="Calibri"/>
              </a:rPr>
              <a:t>FAKE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0" y="46360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43F5E"/>
                </a:solidFill>
                <a:latin typeface="Calibri"/>
              </a:rPr>
              <a:t>72.56%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6360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43F5E"/>
                </a:solidFill>
                <a:latin typeface="Calibri"/>
              </a:rPr>
              <a:t>74.49%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6360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43F5E"/>
                </a:solidFill>
                <a:latin typeface="Calibri"/>
              </a:rPr>
              <a:t>0.735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983480"/>
            <a:ext cx="530352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502005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Macro Avg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502005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69.17%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502005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68.88%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24160" y="502005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0.690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5367528"/>
            <a:ext cx="530352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54041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Weighted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041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69.36%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0" y="54041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69.86%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24160" y="54041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0.693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5751576"/>
            <a:ext cx="530352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4A3B8"/>
                </a:solidFill>
                <a:latin typeface="Calibri"/>
              </a:rPr>
              <a:t>Dataset: FaceForensics++ / Celeb-DF  |  Version: EfficientNet-B3 v3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3F5E"/>
                </a:solidFill>
                <a:latin typeface="Calibri"/>
              </a:rPr>
              <a:t>WEB INTERFACE &amp; REST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"/>
              </a:rPr>
              <a:t>Forensic Web Dashboard &amp; Programmatic Integration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486400" cy="5120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54864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3F5E"/>
                </a:solidFill>
                <a:latin typeface="Calibri"/>
              </a:rPr>
              <a:t>Web Routes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50292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6596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9659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Drag-and-Drop Forensic Ingestion Studio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14016"/>
            <a:ext cx="502920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1401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41401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/predict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241401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Processes image/video -&gt; verdict + heatmap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62072"/>
            <a:ext cx="502920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6207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620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28620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KPI counters &amp; Chart.js analytics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10128"/>
            <a:ext cx="50292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31012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3101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/history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33101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Searchable historical case registry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758184"/>
            <a:ext cx="502920" cy="29260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758184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75818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/export_csv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375818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1-Click CSV case history download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206240"/>
            <a:ext cx="502920" cy="2926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20624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/architecture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42062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Interactive pipeline architecture view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654296"/>
            <a:ext cx="50292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65429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65429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/results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65429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Model benchmarks &amp; confusion matrix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102352"/>
            <a:ext cx="502920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10235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10235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/about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5102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Mission overview &amp; tech specifications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550408"/>
            <a:ext cx="50292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55040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" y="55504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/health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4600" y="555040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System heartbeat health check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1417320"/>
            <a:ext cx="5760720" cy="5120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80760" y="1417320"/>
            <a:ext cx="576072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508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  <a:latin typeface="Calibri"/>
              </a:rPr>
              <a:t>REST API  --  POST /api/predict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1920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  <a:latin typeface="Calibri"/>
              </a:rPr>
              <a:t>Example JSON Response (Image):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2240280"/>
            <a:ext cx="5440680" cy="23317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228600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6B6D4"/>
                </a:solidFill>
                <a:latin typeface="Calibri"/>
              </a:rPr>
              <a:t>{
  "success": true,
  "media_type": "Image",
  "filename": "suspect_face.jpg",
  "prediction": "Fake",
  "confidence": 89.64,
  "fake_probability": 89.64,
  "real_probability": 10.36,
  "risk": "Very High",
  "heatmap_url": "/uploads/hm.jpg",
  "report_download_url": "/download/rpt.pdf"
}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4617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  <a:latin typeface="Calibri"/>
              </a:rPr>
              <a:t>Example JSON Response (Video):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4937760"/>
            <a:ext cx="54406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498348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0B981"/>
                </a:solidFill>
                <a:latin typeface="Calibri"/>
              </a:rPr>
              <a:t>{
  "prediction": "Fake",  "confidence": 74.49,
  "fake_frames": 26,     "real_frames": 9,
  "fake_percentage": 74.29,  "risk": "High",
  "report_download_url": "/download/report_vid.pdf"
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DEPLOYMENT &amp;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Calibri"/>
              </a:rPr>
              <a:t>Containerised &amp; Cloud-Ready Deployment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3611880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36118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554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Windows -- 1-Click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965960"/>
            <a:ext cx="3383280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84247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$ run.bat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423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Double-click to automatically verify Python dependencies,
launch Flask server, and open browser.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463040"/>
            <a:ext cx="3611880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463040"/>
            <a:ext cx="3611880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5968" y="1554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  <a:latin typeface="Calibri"/>
              </a:rPr>
              <a:t>Linux / macOS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1965960"/>
            <a:ext cx="3383280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984247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$ start.sh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2423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Bash shell script equivalent for Unix-based systems.
python app.py -&gt; http://127.0.0.1:5000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1463040"/>
            <a:ext cx="3611880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1463040"/>
            <a:ext cx="36118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15544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Docker Container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6448" y="1965960"/>
            <a:ext cx="3383280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84247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$ docker-compose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6448" y="24231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Full containerised stack via Docker Compose.
Isolated environment with automatic dependency management.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5486400" cy="29260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54864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7490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Dockerfile Highlights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160520"/>
            <a:ext cx="5212080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0624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4"/>
                </a:solidFill>
                <a:latin typeface="Calibri"/>
              </a:rPr>
              <a:t>FROM python:3.11-slim
WORKDIR /app
COPY requirements.txt .
RUN pip install --no-cache-dir -r requirements.txt
COPY . .
EXPOSE 5000
CMD ["python", "app.py"]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3657600"/>
            <a:ext cx="5760720" cy="29260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0760" y="3657600"/>
            <a:ext cx="5760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37490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render.yaml (Cloud Deployment)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41605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  •  Platform: Render.com (render.yaml configured)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  •  Auto-builds from Git push -&gt; zero-downtime deploy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  •  Gunicorn WSGI production server (not Flask dev)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  •  Environment: PYTHON_VERSION=3.11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  •  Persistent disk mount for SQLite case database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94A3B8"/>
                </a:solidFill>
                <a:latin typeface="Calibri"/>
              </a:rPr>
              <a:t>  •  Health check endpoint: GET /health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FUTURE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4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AFC"/>
                </a:solidFill>
                <a:latin typeface="Calibri"/>
              </a:rPr>
              <a:t>Planned Enhancements &amp; Research Directions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731520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3749039" cy="5074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3749039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55448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Phase 1
Near-Term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19456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194560"/>
            <a:ext cx="54864" cy="133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EfficientNet-V2 / ViT transformer backbone upgrade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24612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3246120"/>
            <a:ext cx="54864" cy="133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Multi-face detection in group photos &amp; crowd scenes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9768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97680"/>
            <a:ext cx="54864" cy="133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Audio-visual deepfake detection (voice + face sync)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534924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5488" y="5349240"/>
            <a:ext cx="54864" cy="133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Batch upload API for bulk forensic processing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463040"/>
            <a:ext cx="3749039" cy="5074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1463040"/>
            <a:ext cx="3749039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155448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Calibri"/>
              </a:rPr>
              <a:t>Phase 2
Mid-Term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8" y="219456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07408" y="2194560"/>
            <a:ext cx="54864" cy="13335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Federated learning across distributed investigation nodes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7408" y="324612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07408" y="3246120"/>
            <a:ext cx="54864" cy="13335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32918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Blockchain evidence timestamping (Ethereum / IPFS)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07408" y="429768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07408" y="4297680"/>
            <a:ext cx="54864" cy="13335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Real-time video stream analysis (RTSP / WebRTC)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534924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07408" y="5349240"/>
            <a:ext cx="54864" cy="13335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3949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Mobile companion app (React Native iOS + Android)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1463040"/>
            <a:ext cx="3749039" cy="5074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1463040"/>
            <a:ext cx="3749039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8" y="1554480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Calibri"/>
              </a:rPr>
              <a:t>Phase 3
Long-Term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39328" y="219456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339328" y="2194560"/>
            <a:ext cx="54864" cy="133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2240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Cross-modal manipulation detection (text, audio, video)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39328" y="324612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339328" y="3246120"/>
            <a:ext cx="54864" cy="133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3920" y="32918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Zero-shot generalization to unseen GAN architectures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39328" y="429768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39328" y="4297680"/>
            <a:ext cx="54864" cy="133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Certified adversarial robustness against evasion attacks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39328" y="5349240"/>
            <a:ext cx="352044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39328" y="5349240"/>
            <a:ext cx="54864" cy="133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03920" y="53949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Integration with law enforcement forensic frameworks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6492240"/>
            <a:ext cx="11475720" cy="2743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6B6D4"/>
                </a:solidFill>
                <a:latin typeface="Calibri"/>
              </a:rPr>
              <a:t>Target: &gt;85% accuracy | &gt;90% deepfake recall | &lt;5% false-positive rate on production datasets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34088" y="0"/>
            <a:ext cx="54864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100584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06B6D4"/>
                </a:solidFill>
                <a:latin typeface="Calibri"/>
              </a:rPr>
              <a:t>[ DIS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889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8FAFC"/>
                </a:solidFill>
                <a:latin typeface="Calibr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880360"/>
            <a:ext cx="576072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30632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4A3B8"/>
                </a:solidFill>
                <a:latin typeface="Calibri"/>
              </a:rPr>
              <a:t>Deepfake Investigation System  --  AI-Powered Digital Forensics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611880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  &gt;&gt;  EfficientNet-B3 deep CNN achieving 69.86% accuracy &amp; 74.49% deepfake 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005072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  &gt;&gt;  Explainable AI via Grad-CAM activation heatmaps for transparent verdicts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398264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  &gt;&gt;  Frame-by-frame video forensics with temporal anomaly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791456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  &gt;&gt;  Auto-generated forensic PDF investigation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184648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  &gt;&gt;  Real-time analytics dashboard &amp; REST API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577840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  &gt;&gt;  Containerised with Docker, deployable to Render.com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492240"/>
            <a:ext cx="1218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Built with  TensorFlow  |  OpenCV  |  Flask  |  ReportLab  |  SQLAlchemy  |  Chart.js  |  Docker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