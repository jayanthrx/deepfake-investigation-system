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731520"/>
            <a:ext cx="10725912" cy="53949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731520"/>
            <a:ext cx="10725912"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931920" y="1188720"/>
            <a:ext cx="4297680" cy="384048"/>
          </a:xfrm>
          <a:prstGeom prst="roundRect">
            <a:avLst/>
          </a:prstGeom>
          <a:solidFill>
            <a:srgbClr val="1A233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31920" y="1261872"/>
            <a:ext cx="4297680" cy="320040"/>
          </a:xfrm>
          <a:prstGeom prst="rect">
            <a:avLst/>
          </a:prstGeom>
          <a:noFill/>
        </p:spPr>
        <p:txBody>
          <a:bodyPr wrap="square" lIns="45720" rIns="45720">
            <a:spAutoFit/>
          </a:bodyPr>
          <a:lstStyle/>
          <a:p>
            <a:pPr algn="ctr"/>
            <a:r>
              <a:rPr sz="1100" b="1" i="0">
                <a:solidFill>
                  <a:srgbClr val="06B6D4"/>
                </a:solidFill>
                <a:latin typeface="Segoe UI"/>
              </a:rPr>
              <a:t>CYBER FORENSICS &amp; COMPUTER VISION</a:t>
            </a:r>
          </a:p>
        </p:txBody>
      </p:sp>
      <p:sp>
        <p:nvSpPr>
          <p:cNvPr id="8" name="TextBox 7"/>
          <p:cNvSpPr txBox="1"/>
          <p:nvPr/>
        </p:nvSpPr>
        <p:spPr>
          <a:xfrm>
            <a:off x="914400" y="1828800"/>
            <a:ext cx="10332720" cy="822960"/>
          </a:xfrm>
          <a:prstGeom prst="rect">
            <a:avLst/>
          </a:prstGeom>
          <a:noFill/>
        </p:spPr>
        <p:txBody>
          <a:bodyPr wrap="square" lIns="45720" rIns="45720">
            <a:spAutoFit/>
          </a:bodyPr>
          <a:lstStyle/>
          <a:p>
            <a:pPr algn="ctr"/>
            <a:r>
              <a:rPr sz="3600" b="1" i="0">
                <a:solidFill>
                  <a:srgbClr val="FFFFFF"/>
                </a:solidFill>
                <a:latin typeface="Segoe UI"/>
              </a:rPr>
              <a:t>DEEPFAKE INVESTIGATION SYSTEM</a:t>
            </a:r>
          </a:p>
        </p:txBody>
      </p:sp>
      <p:sp>
        <p:nvSpPr>
          <p:cNvPr id="9" name="TextBox 8"/>
          <p:cNvSpPr txBox="1"/>
          <p:nvPr/>
        </p:nvSpPr>
        <p:spPr>
          <a:xfrm>
            <a:off x="1097280" y="2697480"/>
            <a:ext cx="10058400" cy="457200"/>
          </a:xfrm>
          <a:prstGeom prst="rect">
            <a:avLst/>
          </a:prstGeom>
          <a:noFill/>
        </p:spPr>
        <p:txBody>
          <a:bodyPr wrap="square" lIns="45720" rIns="45720">
            <a:spAutoFit/>
          </a:bodyPr>
          <a:lstStyle/>
          <a:p>
            <a:pPr algn="ctr"/>
            <a:r>
              <a:rPr sz="1600" b="0" i="1">
                <a:solidFill>
                  <a:srgbClr val="94A3B8"/>
                </a:solidFill>
                <a:latin typeface="Segoe UI"/>
              </a:rPr>
              <a:t>Advanced AI-Powered Digital Forensics &amp; Media Authenticity Verification Platform</a:t>
            </a:r>
          </a:p>
        </p:txBody>
      </p:sp>
      <p:sp>
        <p:nvSpPr>
          <p:cNvPr id="10" name="Rounded Rectangle 9"/>
          <p:cNvSpPr/>
          <p:nvPr/>
        </p:nvSpPr>
        <p:spPr>
          <a:xfrm>
            <a:off x="1051560" y="3429000"/>
            <a:ext cx="1600200" cy="347472"/>
          </a:xfrm>
          <a:prstGeom prst="roundRect">
            <a:avLst/>
          </a:prstGeom>
          <a:solidFill>
            <a:srgbClr val="1A233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483864"/>
            <a:ext cx="1600200" cy="274320"/>
          </a:xfrm>
          <a:prstGeom prst="rect">
            <a:avLst/>
          </a:prstGeom>
          <a:noFill/>
        </p:spPr>
        <p:txBody>
          <a:bodyPr wrap="square" lIns="45720" rIns="45720">
            <a:spAutoFit/>
          </a:bodyPr>
          <a:lstStyle/>
          <a:p>
            <a:pPr algn="ctr"/>
            <a:r>
              <a:rPr sz="1000" b="1" i="0">
                <a:solidFill>
                  <a:srgbClr val="3B82F6"/>
                </a:solidFill>
                <a:latin typeface="Segoe UI"/>
              </a:rPr>
              <a:t>EfficientNet-B3</a:t>
            </a:r>
          </a:p>
        </p:txBody>
      </p:sp>
      <p:sp>
        <p:nvSpPr>
          <p:cNvPr id="12" name="Rounded Rectangle 11"/>
          <p:cNvSpPr/>
          <p:nvPr/>
        </p:nvSpPr>
        <p:spPr>
          <a:xfrm>
            <a:off x="2743200" y="3429000"/>
            <a:ext cx="1600200" cy="347472"/>
          </a:xfrm>
          <a:prstGeom prst="roundRect">
            <a:avLst/>
          </a:prstGeom>
          <a:solidFill>
            <a:srgbClr val="1A233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0" y="3483864"/>
            <a:ext cx="1600200" cy="274320"/>
          </a:xfrm>
          <a:prstGeom prst="rect">
            <a:avLst/>
          </a:prstGeom>
          <a:noFill/>
        </p:spPr>
        <p:txBody>
          <a:bodyPr wrap="square" lIns="45720" rIns="45720">
            <a:spAutoFit/>
          </a:bodyPr>
          <a:lstStyle/>
          <a:p>
            <a:pPr algn="ctr"/>
            <a:r>
              <a:rPr sz="1000" b="1" i="0">
                <a:solidFill>
                  <a:srgbClr val="06B6D4"/>
                </a:solidFill>
                <a:latin typeface="Segoe UI"/>
              </a:rPr>
              <a:t>Grad-CAM XAI</a:t>
            </a:r>
          </a:p>
        </p:txBody>
      </p:sp>
      <p:sp>
        <p:nvSpPr>
          <p:cNvPr id="14" name="Rounded Rectangle 13"/>
          <p:cNvSpPr/>
          <p:nvPr/>
        </p:nvSpPr>
        <p:spPr>
          <a:xfrm>
            <a:off x="4434840" y="3429000"/>
            <a:ext cx="1600200" cy="347472"/>
          </a:xfrm>
          <a:prstGeom prst="roundRect">
            <a:avLst/>
          </a:prstGeom>
          <a:solidFill>
            <a:srgbClr val="1A233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3483864"/>
            <a:ext cx="1600200" cy="274320"/>
          </a:xfrm>
          <a:prstGeom prst="rect">
            <a:avLst/>
          </a:prstGeom>
          <a:noFill/>
        </p:spPr>
        <p:txBody>
          <a:bodyPr wrap="square" lIns="45720" rIns="45720">
            <a:spAutoFit/>
          </a:bodyPr>
          <a:lstStyle/>
          <a:p>
            <a:pPr algn="ctr"/>
            <a:r>
              <a:rPr sz="1000" b="1" i="0">
                <a:solidFill>
                  <a:srgbClr val="8B5CF6"/>
                </a:solidFill>
                <a:latin typeface="Segoe UI"/>
              </a:rPr>
              <a:t>Dual-Stream Forensics</a:t>
            </a:r>
          </a:p>
        </p:txBody>
      </p:sp>
      <p:sp>
        <p:nvSpPr>
          <p:cNvPr id="16" name="Rounded Rectangle 15"/>
          <p:cNvSpPr/>
          <p:nvPr/>
        </p:nvSpPr>
        <p:spPr>
          <a:xfrm>
            <a:off x="6126480" y="3429000"/>
            <a:ext cx="1600200" cy="347472"/>
          </a:xfrm>
          <a:prstGeom prst="roundRect">
            <a:avLst/>
          </a:prstGeom>
          <a:solidFill>
            <a:srgbClr val="1A233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3483864"/>
            <a:ext cx="1600200" cy="274320"/>
          </a:xfrm>
          <a:prstGeom prst="rect">
            <a:avLst/>
          </a:prstGeom>
          <a:noFill/>
        </p:spPr>
        <p:txBody>
          <a:bodyPr wrap="square" lIns="45720" rIns="45720">
            <a:spAutoFit/>
          </a:bodyPr>
          <a:lstStyle/>
          <a:p>
            <a:pPr algn="ctr"/>
            <a:r>
              <a:rPr sz="1000" b="1" i="0">
                <a:solidFill>
                  <a:srgbClr val="10B981"/>
                </a:solidFill>
                <a:latin typeface="Segoe UI"/>
              </a:rPr>
              <a:t>OpenCV Video Pipeline</a:t>
            </a:r>
          </a:p>
        </p:txBody>
      </p:sp>
      <p:sp>
        <p:nvSpPr>
          <p:cNvPr id="18" name="Rounded Rectangle 17"/>
          <p:cNvSpPr/>
          <p:nvPr/>
        </p:nvSpPr>
        <p:spPr>
          <a:xfrm>
            <a:off x="7818120" y="3429000"/>
            <a:ext cx="1600200" cy="347472"/>
          </a:xfrm>
          <a:prstGeom prst="roundRect">
            <a:avLst/>
          </a:prstGeom>
          <a:solidFill>
            <a:srgbClr val="1A233A"/>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18120" y="3483864"/>
            <a:ext cx="1600200" cy="274320"/>
          </a:xfrm>
          <a:prstGeom prst="rect">
            <a:avLst/>
          </a:prstGeom>
          <a:noFill/>
        </p:spPr>
        <p:txBody>
          <a:bodyPr wrap="square" lIns="45720" rIns="45720">
            <a:spAutoFit/>
          </a:bodyPr>
          <a:lstStyle/>
          <a:p>
            <a:pPr algn="ctr"/>
            <a:r>
              <a:rPr sz="1000" b="1" i="0">
                <a:solidFill>
                  <a:srgbClr val="F43F5E"/>
                </a:solidFill>
                <a:latin typeface="Segoe UI"/>
              </a:rPr>
              <a:t>Automated PDF Dossier</a:t>
            </a:r>
          </a:p>
        </p:txBody>
      </p:sp>
      <p:sp>
        <p:nvSpPr>
          <p:cNvPr id="20" name="Rounded Rectangle 19"/>
          <p:cNvSpPr/>
          <p:nvPr/>
        </p:nvSpPr>
        <p:spPr>
          <a:xfrm>
            <a:off x="9509760" y="3429000"/>
            <a:ext cx="1600200" cy="347472"/>
          </a:xfrm>
          <a:prstGeom prst="roundRect">
            <a:avLst/>
          </a:prstGeom>
          <a:solidFill>
            <a:srgbClr val="1A23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09760" y="3483864"/>
            <a:ext cx="1600200" cy="274320"/>
          </a:xfrm>
          <a:prstGeom prst="rect">
            <a:avLst/>
          </a:prstGeom>
          <a:noFill/>
        </p:spPr>
        <p:txBody>
          <a:bodyPr wrap="square" lIns="45720" rIns="45720">
            <a:spAutoFit/>
          </a:bodyPr>
          <a:lstStyle/>
          <a:p>
            <a:pPr algn="ctr"/>
            <a:r>
              <a:rPr sz="1000" b="1" i="0">
                <a:solidFill>
                  <a:srgbClr val="F59E0B"/>
                </a:solidFill>
                <a:latin typeface="Segoe UI"/>
              </a:rPr>
              <a:t>Flask REST API</a:t>
            </a:r>
          </a:p>
        </p:txBody>
      </p:sp>
      <p:sp>
        <p:nvSpPr>
          <p:cNvPr id="22" name="Rectangle 21"/>
          <p:cNvSpPr/>
          <p:nvPr/>
        </p:nvSpPr>
        <p:spPr>
          <a:xfrm>
            <a:off x="2286000" y="4114800"/>
            <a:ext cx="758952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389120"/>
            <a:ext cx="10360152" cy="320040"/>
          </a:xfrm>
          <a:prstGeom prst="rect">
            <a:avLst/>
          </a:prstGeom>
          <a:noFill/>
        </p:spPr>
        <p:txBody>
          <a:bodyPr wrap="square" lIns="45720" rIns="45720">
            <a:spAutoFit/>
          </a:bodyPr>
          <a:lstStyle/>
          <a:p>
            <a:pPr algn="ctr"/>
            <a:r>
              <a:rPr sz="1300" b="1" i="0">
                <a:solidFill>
                  <a:srgbClr val="F8FAFC"/>
                </a:solidFill>
                <a:latin typeface="Segoe UI"/>
              </a:rPr>
              <a:t>Project Presentation  |  Academic Evaluation  |  Digital Forensics &amp; Deep Learning System</a:t>
            </a:r>
          </a:p>
        </p:txBody>
      </p:sp>
      <p:sp>
        <p:nvSpPr>
          <p:cNvPr id="24" name="TextBox 23"/>
          <p:cNvSpPr txBox="1"/>
          <p:nvPr/>
        </p:nvSpPr>
        <p:spPr>
          <a:xfrm>
            <a:off x="914400" y="4709160"/>
            <a:ext cx="10360152" cy="320040"/>
          </a:xfrm>
          <a:prstGeom prst="rect">
            <a:avLst/>
          </a:prstGeom>
          <a:noFill/>
        </p:spPr>
        <p:txBody>
          <a:bodyPr wrap="square" lIns="45720" rIns="45720">
            <a:spAutoFit/>
          </a:bodyPr>
          <a:lstStyle/>
          <a:p>
            <a:pPr algn="ctr"/>
            <a:r>
              <a:rPr sz="1100" b="0" i="0">
                <a:solidFill>
                  <a:srgbClr val="94A3B8"/>
                </a:solidFill>
                <a:latin typeface="Segoe UI"/>
              </a:rPr>
              <a:t>Featuring: Frame-by-Frame Video Forensics • Explainable Heatmaps • Forensic Audit Trails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20040"/>
            <a:ext cx="2560320" cy="292608"/>
          </a:xfrm>
          <a:prstGeom prst="roundRect">
            <a:avLst/>
          </a:prstGeom>
          <a:solidFill>
            <a:srgbClr val="111827"/>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47472"/>
            <a:ext cx="2560320" cy="274320"/>
          </a:xfrm>
          <a:prstGeom prst="rect">
            <a:avLst/>
          </a:prstGeom>
          <a:noFill/>
        </p:spPr>
        <p:txBody>
          <a:bodyPr wrap="square" lIns="45720" rIns="45720">
            <a:spAutoFit/>
          </a:bodyPr>
          <a:lstStyle/>
          <a:p>
            <a:pPr algn="ctr"/>
            <a:r>
              <a:rPr sz="1000" b="1" i="0">
                <a:solidFill>
                  <a:srgbClr val="3B82F6"/>
                </a:solidFill>
                <a:latin typeface="Segoe UI"/>
              </a:rPr>
              <a:t>AGENDA OVERVIEW</a:t>
            </a:r>
          </a:p>
        </p:txBody>
      </p:sp>
      <p:sp>
        <p:nvSpPr>
          <p:cNvPr id="6" name="Rounded Rectangle 5"/>
          <p:cNvSpPr/>
          <p:nvPr/>
        </p:nvSpPr>
        <p:spPr>
          <a:xfrm>
            <a:off x="11064240" y="320040"/>
            <a:ext cx="640080" cy="292608"/>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47472"/>
            <a:ext cx="640080" cy="274320"/>
          </a:xfrm>
          <a:prstGeom prst="rect">
            <a:avLst/>
          </a:prstGeom>
          <a:noFill/>
        </p:spPr>
        <p:txBody>
          <a:bodyPr wrap="square" lIns="45720" rIns="45720">
            <a:spAutoFit/>
          </a:bodyPr>
          <a:lstStyle/>
          <a:p>
            <a:pPr algn="ctr"/>
            <a:r>
              <a:rPr sz="1100" b="1" i="0">
                <a:solidFill>
                  <a:srgbClr val="94A3B8"/>
                </a:solidFill>
                <a:latin typeface="Segoe UI"/>
              </a:rPr>
              <a:t>02</a:t>
            </a:r>
          </a:p>
        </p:txBody>
      </p:sp>
      <p:sp>
        <p:nvSpPr>
          <p:cNvPr id="8" name="TextBox 7"/>
          <p:cNvSpPr txBox="1"/>
          <p:nvPr/>
        </p:nvSpPr>
        <p:spPr>
          <a:xfrm>
            <a:off x="548640" y="685800"/>
            <a:ext cx="10515600" cy="502920"/>
          </a:xfrm>
          <a:prstGeom prst="rect">
            <a:avLst/>
          </a:prstGeom>
          <a:noFill/>
        </p:spPr>
        <p:txBody>
          <a:bodyPr wrap="square" lIns="45720" rIns="45720">
            <a:spAutoFit/>
          </a:bodyPr>
          <a:lstStyle/>
          <a:p>
            <a:pPr algn="l"/>
            <a:r>
              <a:rPr sz="2400" b="1" i="0">
                <a:solidFill>
                  <a:srgbClr val="F8FAFC"/>
                </a:solidFill>
                <a:latin typeface="Segoe UI"/>
              </a:rPr>
              <a:t>Table of Contents</a:t>
            </a:r>
          </a:p>
        </p:txBody>
      </p:sp>
      <p:sp>
        <p:nvSpPr>
          <p:cNvPr id="9" name="Rectangle 8"/>
          <p:cNvSpPr/>
          <p:nvPr/>
        </p:nvSpPr>
        <p:spPr>
          <a:xfrm>
            <a:off x="548640" y="1234440"/>
            <a:ext cx="1115568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463040"/>
            <a:ext cx="10725912" cy="621792"/>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463040"/>
            <a:ext cx="73152" cy="62179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05840" y="1591056"/>
            <a:ext cx="548640" cy="365760"/>
          </a:xfrm>
          <a:prstGeom prst="roundRect">
            <a:avLst/>
          </a:prstGeom>
          <a:solidFill>
            <a:srgbClr val="1A233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627632"/>
            <a:ext cx="548640" cy="320040"/>
          </a:xfrm>
          <a:prstGeom prst="rect">
            <a:avLst/>
          </a:prstGeom>
          <a:noFill/>
        </p:spPr>
        <p:txBody>
          <a:bodyPr wrap="square" lIns="45720" rIns="45720">
            <a:spAutoFit/>
          </a:bodyPr>
          <a:lstStyle/>
          <a:p>
            <a:pPr algn="ctr"/>
            <a:r>
              <a:rPr sz="1200" b="1" i="0">
                <a:solidFill>
                  <a:srgbClr val="3B82F6"/>
                </a:solidFill>
                <a:latin typeface="Segoe UI"/>
              </a:rPr>
              <a:t>01</a:t>
            </a:r>
          </a:p>
        </p:txBody>
      </p:sp>
      <p:sp>
        <p:nvSpPr>
          <p:cNvPr id="14" name="TextBox 13"/>
          <p:cNvSpPr txBox="1"/>
          <p:nvPr/>
        </p:nvSpPr>
        <p:spPr>
          <a:xfrm>
            <a:off x="1737360" y="1609344"/>
            <a:ext cx="3108960" cy="320040"/>
          </a:xfrm>
          <a:prstGeom prst="rect">
            <a:avLst/>
          </a:prstGeom>
          <a:noFill/>
        </p:spPr>
        <p:txBody>
          <a:bodyPr wrap="square" lIns="45720" rIns="45720">
            <a:spAutoFit/>
          </a:bodyPr>
          <a:lstStyle/>
          <a:p>
            <a:pPr algn="l"/>
            <a:r>
              <a:rPr sz="1500" b="1" i="0">
                <a:solidFill>
                  <a:srgbClr val="F8FAFC"/>
                </a:solidFill>
                <a:latin typeface="Segoe UI"/>
              </a:rPr>
              <a:t>Introduction</a:t>
            </a:r>
          </a:p>
        </p:txBody>
      </p:sp>
      <p:sp>
        <p:nvSpPr>
          <p:cNvPr id="15" name="TextBox 14"/>
          <p:cNvSpPr txBox="1"/>
          <p:nvPr/>
        </p:nvSpPr>
        <p:spPr>
          <a:xfrm>
            <a:off x="4937760" y="1627632"/>
            <a:ext cx="6400800" cy="320040"/>
          </a:xfrm>
          <a:prstGeom prst="rect">
            <a:avLst/>
          </a:prstGeom>
          <a:noFill/>
        </p:spPr>
        <p:txBody>
          <a:bodyPr wrap="square" lIns="45720" rIns="45720">
            <a:spAutoFit/>
          </a:bodyPr>
          <a:lstStyle/>
          <a:p>
            <a:pPr algn="l"/>
            <a:r>
              <a:rPr sz="1200" b="0" i="0">
                <a:solidFill>
                  <a:srgbClr val="94A3B8"/>
                </a:solidFill>
                <a:latin typeface="Segoe UI"/>
              </a:rPr>
              <a:t>Context, Problem Statement, Motivation &amp; Forensic Objectives</a:t>
            </a:r>
          </a:p>
        </p:txBody>
      </p:sp>
      <p:sp>
        <p:nvSpPr>
          <p:cNvPr id="16" name="Rounded Rectangle 15"/>
          <p:cNvSpPr/>
          <p:nvPr/>
        </p:nvSpPr>
        <p:spPr>
          <a:xfrm>
            <a:off x="731520" y="2176272"/>
            <a:ext cx="10725912" cy="621792"/>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2176272"/>
            <a:ext cx="73152" cy="62179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05840" y="2304288"/>
            <a:ext cx="548640" cy="365760"/>
          </a:xfrm>
          <a:prstGeom prst="roundRect">
            <a:avLst/>
          </a:prstGeom>
          <a:solidFill>
            <a:srgbClr val="1A233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2340864"/>
            <a:ext cx="548640" cy="320040"/>
          </a:xfrm>
          <a:prstGeom prst="rect">
            <a:avLst/>
          </a:prstGeom>
          <a:noFill/>
        </p:spPr>
        <p:txBody>
          <a:bodyPr wrap="square" lIns="45720" rIns="45720">
            <a:spAutoFit/>
          </a:bodyPr>
          <a:lstStyle/>
          <a:p>
            <a:pPr algn="ctr"/>
            <a:r>
              <a:rPr sz="1200" b="1" i="0">
                <a:solidFill>
                  <a:srgbClr val="06B6D4"/>
                </a:solidFill>
                <a:latin typeface="Segoe UI"/>
              </a:rPr>
              <a:t>02</a:t>
            </a:r>
          </a:p>
        </p:txBody>
      </p:sp>
      <p:sp>
        <p:nvSpPr>
          <p:cNvPr id="20" name="TextBox 19"/>
          <p:cNvSpPr txBox="1"/>
          <p:nvPr/>
        </p:nvSpPr>
        <p:spPr>
          <a:xfrm>
            <a:off x="1737360" y="2322576"/>
            <a:ext cx="3108960" cy="320040"/>
          </a:xfrm>
          <a:prstGeom prst="rect">
            <a:avLst/>
          </a:prstGeom>
          <a:noFill/>
        </p:spPr>
        <p:txBody>
          <a:bodyPr wrap="square" lIns="45720" rIns="45720">
            <a:spAutoFit/>
          </a:bodyPr>
          <a:lstStyle/>
          <a:p>
            <a:pPr algn="l"/>
            <a:r>
              <a:rPr sz="1500" b="1" i="0">
                <a:solidFill>
                  <a:srgbClr val="F8FAFC"/>
                </a:solidFill>
                <a:latin typeface="Segoe UI"/>
              </a:rPr>
              <a:t>Literature Review</a:t>
            </a:r>
          </a:p>
        </p:txBody>
      </p:sp>
      <p:sp>
        <p:nvSpPr>
          <p:cNvPr id="21" name="TextBox 20"/>
          <p:cNvSpPr txBox="1"/>
          <p:nvPr/>
        </p:nvSpPr>
        <p:spPr>
          <a:xfrm>
            <a:off x="4937760" y="2340864"/>
            <a:ext cx="6400800" cy="320040"/>
          </a:xfrm>
          <a:prstGeom prst="rect">
            <a:avLst/>
          </a:prstGeom>
          <a:noFill/>
        </p:spPr>
        <p:txBody>
          <a:bodyPr wrap="square" lIns="45720" rIns="45720">
            <a:spAutoFit/>
          </a:bodyPr>
          <a:lstStyle/>
          <a:p>
            <a:pPr algn="l"/>
            <a:r>
              <a:rPr sz="1200" b="0" i="0">
                <a:solidFill>
                  <a:srgbClr val="94A3B8"/>
                </a:solidFill>
                <a:latin typeface="Segoe UI"/>
              </a:rPr>
              <a:t>Evolution of Deepfake Detection, Prior Art &amp; Research Gaps</a:t>
            </a:r>
          </a:p>
        </p:txBody>
      </p:sp>
      <p:sp>
        <p:nvSpPr>
          <p:cNvPr id="22" name="Rounded Rectangle 21"/>
          <p:cNvSpPr/>
          <p:nvPr/>
        </p:nvSpPr>
        <p:spPr>
          <a:xfrm>
            <a:off x="731520" y="2889504"/>
            <a:ext cx="10725912" cy="621792"/>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 y="2889504"/>
            <a:ext cx="73152" cy="62179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05840" y="3017520"/>
            <a:ext cx="548640" cy="365760"/>
          </a:xfrm>
          <a:prstGeom prst="roundRect">
            <a:avLst/>
          </a:prstGeom>
          <a:solidFill>
            <a:srgbClr val="1A233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3054096"/>
            <a:ext cx="548640" cy="320040"/>
          </a:xfrm>
          <a:prstGeom prst="rect">
            <a:avLst/>
          </a:prstGeom>
          <a:noFill/>
        </p:spPr>
        <p:txBody>
          <a:bodyPr wrap="square" lIns="45720" rIns="45720">
            <a:spAutoFit/>
          </a:bodyPr>
          <a:lstStyle/>
          <a:p>
            <a:pPr algn="ctr"/>
            <a:r>
              <a:rPr sz="1200" b="1" i="0">
                <a:solidFill>
                  <a:srgbClr val="10B981"/>
                </a:solidFill>
                <a:latin typeface="Segoe UI"/>
              </a:rPr>
              <a:t>03</a:t>
            </a:r>
          </a:p>
        </p:txBody>
      </p:sp>
      <p:sp>
        <p:nvSpPr>
          <p:cNvPr id="26" name="TextBox 25"/>
          <p:cNvSpPr txBox="1"/>
          <p:nvPr/>
        </p:nvSpPr>
        <p:spPr>
          <a:xfrm>
            <a:off x="1737360" y="3035808"/>
            <a:ext cx="3108960" cy="320040"/>
          </a:xfrm>
          <a:prstGeom prst="rect">
            <a:avLst/>
          </a:prstGeom>
          <a:noFill/>
        </p:spPr>
        <p:txBody>
          <a:bodyPr wrap="square" lIns="45720" rIns="45720">
            <a:spAutoFit/>
          </a:bodyPr>
          <a:lstStyle/>
          <a:p>
            <a:pPr algn="l"/>
            <a:r>
              <a:rPr sz="1500" b="1" i="0">
                <a:solidFill>
                  <a:srgbClr val="F8FAFC"/>
                </a:solidFill>
                <a:latin typeface="Segoe UI"/>
              </a:rPr>
              <a:t>Advantages</a:t>
            </a:r>
          </a:p>
        </p:txBody>
      </p:sp>
      <p:sp>
        <p:nvSpPr>
          <p:cNvPr id="27" name="TextBox 26"/>
          <p:cNvSpPr txBox="1"/>
          <p:nvPr/>
        </p:nvSpPr>
        <p:spPr>
          <a:xfrm>
            <a:off x="4937760" y="3054096"/>
            <a:ext cx="6400800" cy="320040"/>
          </a:xfrm>
          <a:prstGeom prst="rect">
            <a:avLst/>
          </a:prstGeom>
          <a:noFill/>
        </p:spPr>
        <p:txBody>
          <a:bodyPr wrap="square" lIns="45720" rIns="45720">
            <a:spAutoFit/>
          </a:bodyPr>
          <a:lstStyle/>
          <a:p>
            <a:pPr algn="l"/>
            <a:r>
              <a:rPr sz="1200" b="0" i="0">
                <a:solidFill>
                  <a:srgbClr val="94A3B8"/>
                </a:solidFill>
                <a:latin typeface="Segoe UI"/>
              </a:rPr>
              <a:t>Core Strengths, Dual-Stream Engine &amp; Explainability Innovations</a:t>
            </a:r>
          </a:p>
        </p:txBody>
      </p:sp>
      <p:sp>
        <p:nvSpPr>
          <p:cNvPr id="28" name="Rounded Rectangle 27"/>
          <p:cNvSpPr/>
          <p:nvPr/>
        </p:nvSpPr>
        <p:spPr>
          <a:xfrm>
            <a:off x="731520" y="3602736"/>
            <a:ext cx="10725912" cy="621792"/>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1520" y="3602736"/>
            <a:ext cx="73152" cy="6217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05840" y="3730752"/>
            <a:ext cx="548640" cy="365760"/>
          </a:xfrm>
          <a:prstGeom prst="roundRect">
            <a:avLst/>
          </a:prstGeom>
          <a:solidFill>
            <a:srgbClr val="1A23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3767328"/>
            <a:ext cx="548640" cy="320040"/>
          </a:xfrm>
          <a:prstGeom prst="rect">
            <a:avLst/>
          </a:prstGeom>
          <a:noFill/>
        </p:spPr>
        <p:txBody>
          <a:bodyPr wrap="square" lIns="45720" rIns="45720">
            <a:spAutoFit/>
          </a:bodyPr>
          <a:lstStyle/>
          <a:p>
            <a:pPr algn="ctr"/>
            <a:r>
              <a:rPr sz="1200" b="1" i="0">
                <a:solidFill>
                  <a:srgbClr val="F59E0B"/>
                </a:solidFill>
                <a:latin typeface="Segoe UI"/>
              </a:rPr>
              <a:t>04</a:t>
            </a:r>
          </a:p>
        </p:txBody>
      </p:sp>
      <p:sp>
        <p:nvSpPr>
          <p:cNvPr id="32" name="TextBox 31"/>
          <p:cNvSpPr txBox="1"/>
          <p:nvPr/>
        </p:nvSpPr>
        <p:spPr>
          <a:xfrm>
            <a:off x="1737360" y="3749040"/>
            <a:ext cx="3108960" cy="320040"/>
          </a:xfrm>
          <a:prstGeom prst="rect">
            <a:avLst/>
          </a:prstGeom>
          <a:noFill/>
        </p:spPr>
        <p:txBody>
          <a:bodyPr wrap="square" lIns="45720" rIns="45720">
            <a:spAutoFit/>
          </a:bodyPr>
          <a:lstStyle/>
          <a:p>
            <a:pPr algn="l"/>
            <a:r>
              <a:rPr sz="1500" b="1" i="0">
                <a:solidFill>
                  <a:srgbClr val="F8FAFC"/>
                </a:solidFill>
                <a:latin typeface="Segoe UI"/>
              </a:rPr>
              <a:t>Requirements</a:t>
            </a:r>
          </a:p>
        </p:txBody>
      </p:sp>
      <p:sp>
        <p:nvSpPr>
          <p:cNvPr id="33" name="TextBox 32"/>
          <p:cNvSpPr txBox="1"/>
          <p:nvPr/>
        </p:nvSpPr>
        <p:spPr>
          <a:xfrm>
            <a:off x="4937760" y="3767328"/>
            <a:ext cx="6400800" cy="320040"/>
          </a:xfrm>
          <a:prstGeom prst="rect">
            <a:avLst/>
          </a:prstGeom>
          <a:noFill/>
        </p:spPr>
        <p:txBody>
          <a:bodyPr wrap="square" lIns="45720" rIns="45720">
            <a:spAutoFit/>
          </a:bodyPr>
          <a:lstStyle/>
          <a:p>
            <a:pPr algn="l"/>
            <a:r>
              <a:rPr sz="1200" b="0" i="0">
                <a:solidFill>
                  <a:srgbClr val="94A3B8"/>
                </a:solidFill>
                <a:latin typeface="Segoe UI"/>
              </a:rPr>
              <a:t>Software Stack, Toolchain &amp; Hardware Specification Matrix</a:t>
            </a:r>
          </a:p>
        </p:txBody>
      </p:sp>
      <p:sp>
        <p:nvSpPr>
          <p:cNvPr id="34" name="Rounded Rectangle 33"/>
          <p:cNvSpPr/>
          <p:nvPr/>
        </p:nvSpPr>
        <p:spPr>
          <a:xfrm>
            <a:off x="731520" y="4315968"/>
            <a:ext cx="10725912" cy="621792"/>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31520" y="4315968"/>
            <a:ext cx="73152" cy="62179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05840" y="4443984"/>
            <a:ext cx="548640" cy="365760"/>
          </a:xfrm>
          <a:prstGeom prst="roundRect">
            <a:avLst/>
          </a:prstGeom>
          <a:solidFill>
            <a:srgbClr val="1A233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5840" y="4480560"/>
            <a:ext cx="548640" cy="320040"/>
          </a:xfrm>
          <a:prstGeom prst="rect">
            <a:avLst/>
          </a:prstGeom>
          <a:noFill/>
        </p:spPr>
        <p:txBody>
          <a:bodyPr wrap="square" lIns="45720" rIns="45720">
            <a:spAutoFit/>
          </a:bodyPr>
          <a:lstStyle/>
          <a:p>
            <a:pPr algn="ctr"/>
            <a:r>
              <a:rPr sz="1200" b="1" i="0">
                <a:solidFill>
                  <a:srgbClr val="8B5CF6"/>
                </a:solidFill>
                <a:latin typeface="Segoe UI"/>
              </a:rPr>
              <a:t>05</a:t>
            </a:r>
          </a:p>
        </p:txBody>
      </p:sp>
      <p:sp>
        <p:nvSpPr>
          <p:cNvPr id="38" name="TextBox 37"/>
          <p:cNvSpPr txBox="1"/>
          <p:nvPr/>
        </p:nvSpPr>
        <p:spPr>
          <a:xfrm>
            <a:off x="1737360" y="4462272"/>
            <a:ext cx="3108960" cy="320040"/>
          </a:xfrm>
          <a:prstGeom prst="rect">
            <a:avLst/>
          </a:prstGeom>
          <a:noFill/>
        </p:spPr>
        <p:txBody>
          <a:bodyPr wrap="square" lIns="45720" rIns="45720">
            <a:spAutoFit/>
          </a:bodyPr>
          <a:lstStyle/>
          <a:p>
            <a:pPr algn="l"/>
            <a:r>
              <a:rPr sz="1500" b="1" i="0">
                <a:solidFill>
                  <a:srgbClr val="F8FAFC"/>
                </a:solidFill>
                <a:latin typeface="Segoe UI"/>
              </a:rPr>
              <a:t>Architecture</a:t>
            </a:r>
          </a:p>
        </p:txBody>
      </p:sp>
      <p:sp>
        <p:nvSpPr>
          <p:cNvPr id="39" name="TextBox 38"/>
          <p:cNvSpPr txBox="1"/>
          <p:nvPr/>
        </p:nvSpPr>
        <p:spPr>
          <a:xfrm>
            <a:off x="4937760" y="4480560"/>
            <a:ext cx="6400800" cy="320040"/>
          </a:xfrm>
          <a:prstGeom prst="rect">
            <a:avLst/>
          </a:prstGeom>
          <a:noFill/>
        </p:spPr>
        <p:txBody>
          <a:bodyPr wrap="square" lIns="45720" rIns="45720">
            <a:spAutoFit/>
          </a:bodyPr>
          <a:lstStyle/>
          <a:p>
            <a:pPr algn="l"/>
            <a:r>
              <a:rPr sz="1200" b="0" i="0">
                <a:solidFill>
                  <a:srgbClr val="94A3B8"/>
                </a:solidFill>
                <a:latin typeface="Segoe UI"/>
              </a:rPr>
              <a:t>Multi-Tier Forensic Engineering Pipeline &amp; AI Inference Flow</a:t>
            </a:r>
          </a:p>
        </p:txBody>
      </p:sp>
      <p:sp>
        <p:nvSpPr>
          <p:cNvPr id="40" name="Rounded Rectangle 39"/>
          <p:cNvSpPr/>
          <p:nvPr/>
        </p:nvSpPr>
        <p:spPr>
          <a:xfrm>
            <a:off x="731520" y="5029200"/>
            <a:ext cx="10725912" cy="621792"/>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31520" y="5029200"/>
            <a:ext cx="73152" cy="62179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1005840" y="5157216"/>
            <a:ext cx="548640" cy="365760"/>
          </a:xfrm>
          <a:prstGeom prst="roundRect">
            <a:avLst/>
          </a:prstGeom>
          <a:solidFill>
            <a:srgbClr val="1A233A"/>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5840" y="5193792"/>
            <a:ext cx="548640" cy="320040"/>
          </a:xfrm>
          <a:prstGeom prst="rect">
            <a:avLst/>
          </a:prstGeom>
          <a:noFill/>
        </p:spPr>
        <p:txBody>
          <a:bodyPr wrap="square" lIns="45720" rIns="45720">
            <a:spAutoFit/>
          </a:bodyPr>
          <a:lstStyle/>
          <a:p>
            <a:pPr algn="ctr"/>
            <a:r>
              <a:rPr sz="1200" b="1" i="0">
                <a:solidFill>
                  <a:srgbClr val="F43F5E"/>
                </a:solidFill>
                <a:latin typeface="Segoe UI"/>
              </a:rPr>
              <a:t>06</a:t>
            </a:r>
          </a:p>
        </p:txBody>
      </p:sp>
      <p:sp>
        <p:nvSpPr>
          <p:cNvPr id="44" name="TextBox 43"/>
          <p:cNvSpPr txBox="1"/>
          <p:nvPr/>
        </p:nvSpPr>
        <p:spPr>
          <a:xfrm>
            <a:off x="1737360" y="5175504"/>
            <a:ext cx="3108960" cy="320040"/>
          </a:xfrm>
          <a:prstGeom prst="rect">
            <a:avLst/>
          </a:prstGeom>
          <a:noFill/>
        </p:spPr>
        <p:txBody>
          <a:bodyPr wrap="square" lIns="45720" rIns="45720">
            <a:spAutoFit/>
          </a:bodyPr>
          <a:lstStyle/>
          <a:p>
            <a:pPr algn="l"/>
            <a:r>
              <a:rPr sz="1500" b="1" i="0">
                <a:solidFill>
                  <a:srgbClr val="F8FAFC"/>
                </a:solidFill>
                <a:latin typeface="Segoe UI"/>
              </a:rPr>
              <a:t>Data Flow &amp; Use Cases</a:t>
            </a:r>
          </a:p>
        </p:txBody>
      </p:sp>
      <p:sp>
        <p:nvSpPr>
          <p:cNvPr id="45" name="TextBox 44"/>
          <p:cNvSpPr txBox="1"/>
          <p:nvPr/>
        </p:nvSpPr>
        <p:spPr>
          <a:xfrm>
            <a:off x="4937760" y="5193792"/>
            <a:ext cx="6400800" cy="320040"/>
          </a:xfrm>
          <a:prstGeom prst="rect">
            <a:avLst/>
          </a:prstGeom>
          <a:noFill/>
        </p:spPr>
        <p:txBody>
          <a:bodyPr wrap="square" lIns="45720" rIns="45720">
            <a:spAutoFit/>
          </a:bodyPr>
          <a:lstStyle/>
          <a:p>
            <a:pPr algn="l"/>
            <a:r>
              <a:rPr sz="1200" b="0" i="0">
                <a:solidFill>
                  <a:srgbClr val="94A3B8"/>
                </a:solidFill>
                <a:latin typeface="Segoe UI"/>
              </a:rPr>
              <a:t>DFD Level 0/1 Pipelines &amp; Forensic Investigator Actor Workflows</a:t>
            </a:r>
          </a:p>
        </p:txBody>
      </p:sp>
      <p:sp>
        <p:nvSpPr>
          <p:cNvPr id="46" name="Rounded Rectangle 45"/>
          <p:cNvSpPr/>
          <p:nvPr/>
        </p:nvSpPr>
        <p:spPr>
          <a:xfrm>
            <a:off x="731520" y="5742432"/>
            <a:ext cx="10725912" cy="621792"/>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31520" y="5742432"/>
            <a:ext cx="73152" cy="62179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005840" y="5870448"/>
            <a:ext cx="548640" cy="365760"/>
          </a:xfrm>
          <a:prstGeom prst="roundRect">
            <a:avLst/>
          </a:prstGeom>
          <a:solidFill>
            <a:srgbClr val="1A233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5840" y="5907024"/>
            <a:ext cx="548640" cy="320040"/>
          </a:xfrm>
          <a:prstGeom prst="rect">
            <a:avLst/>
          </a:prstGeom>
          <a:noFill/>
        </p:spPr>
        <p:txBody>
          <a:bodyPr wrap="square" lIns="45720" rIns="45720">
            <a:spAutoFit/>
          </a:bodyPr>
          <a:lstStyle/>
          <a:p>
            <a:pPr algn="ctr"/>
            <a:r>
              <a:rPr sz="1200" b="1" i="0">
                <a:solidFill>
                  <a:srgbClr val="06B6D4"/>
                </a:solidFill>
                <a:latin typeface="Segoe UI"/>
              </a:rPr>
              <a:t>07</a:t>
            </a:r>
          </a:p>
        </p:txBody>
      </p:sp>
      <p:sp>
        <p:nvSpPr>
          <p:cNvPr id="50" name="TextBox 49"/>
          <p:cNvSpPr txBox="1"/>
          <p:nvPr/>
        </p:nvSpPr>
        <p:spPr>
          <a:xfrm>
            <a:off x="1737360" y="5888736"/>
            <a:ext cx="3108960" cy="320040"/>
          </a:xfrm>
          <a:prstGeom prst="rect">
            <a:avLst/>
          </a:prstGeom>
          <a:noFill/>
        </p:spPr>
        <p:txBody>
          <a:bodyPr wrap="square" lIns="45720" rIns="45720">
            <a:spAutoFit/>
          </a:bodyPr>
          <a:lstStyle/>
          <a:p>
            <a:pPr algn="l"/>
            <a:r>
              <a:rPr sz="1500" b="1" i="0">
                <a:solidFill>
                  <a:srgbClr val="F8FAFC"/>
                </a:solidFill>
                <a:latin typeface="Segoe UI"/>
              </a:rPr>
              <a:t>Conclusion</a:t>
            </a:r>
          </a:p>
        </p:txBody>
      </p:sp>
      <p:sp>
        <p:nvSpPr>
          <p:cNvPr id="51" name="TextBox 50"/>
          <p:cNvSpPr txBox="1"/>
          <p:nvPr/>
        </p:nvSpPr>
        <p:spPr>
          <a:xfrm>
            <a:off x="4937760" y="5907024"/>
            <a:ext cx="6400800" cy="320040"/>
          </a:xfrm>
          <a:prstGeom prst="rect">
            <a:avLst/>
          </a:prstGeom>
          <a:noFill/>
        </p:spPr>
        <p:txBody>
          <a:bodyPr wrap="square" lIns="45720" rIns="45720">
            <a:spAutoFit/>
          </a:bodyPr>
          <a:lstStyle/>
          <a:p>
            <a:pPr algn="l"/>
            <a:r>
              <a:rPr sz="1200" b="0" i="0">
                <a:solidFill>
                  <a:srgbClr val="94A3B8"/>
                </a:solidFill>
                <a:latin typeface="Segoe UI"/>
              </a:rPr>
              <a:t>Key Project Achievements, Forensic Significance &amp; Future Roadmap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 cy="685800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20040"/>
            <a:ext cx="2560320" cy="292608"/>
          </a:xfrm>
          <a:prstGeom prst="roundRect">
            <a:avLst/>
          </a:prstGeom>
          <a:solidFill>
            <a:srgbClr val="111827"/>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47472"/>
            <a:ext cx="2560320" cy="274320"/>
          </a:xfrm>
          <a:prstGeom prst="rect">
            <a:avLst/>
          </a:prstGeom>
          <a:noFill/>
        </p:spPr>
        <p:txBody>
          <a:bodyPr wrap="square" lIns="45720" rIns="45720">
            <a:spAutoFit/>
          </a:bodyPr>
          <a:lstStyle/>
          <a:p>
            <a:pPr algn="ctr"/>
            <a:r>
              <a:rPr sz="1000" b="1" i="0">
                <a:solidFill>
                  <a:srgbClr val="F43F5E"/>
                </a:solidFill>
                <a:latin typeface="Segoe UI"/>
              </a:rPr>
              <a:t>1. INTRODUCTION</a:t>
            </a:r>
          </a:p>
        </p:txBody>
      </p:sp>
      <p:sp>
        <p:nvSpPr>
          <p:cNvPr id="6" name="Rounded Rectangle 5"/>
          <p:cNvSpPr/>
          <p:nvPr/>
        </p:nvSpPr>
        <p:spPr>
          <a:xfrm>
            <a:off x="11064240" y="320040"/>
            <a:ext cx="640080" cy="292608"/>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47472"/>
            <a:ext cx="640080" cy="274320"/>
          </a:xfrm>
          <a:prstGeom prst="rect">
            <a:avLst/>
          </a:prstGeom>
          <a:noFill/>
        </p:spPr>
        <p:txBody>
          <a:bodyPr wrap="square" lIns="45720" rIns="45720">
            <a:spAutoFit/>
          </a:bodyPr>
          <a:lstStyle/>
          <a:p>
            <a:pPr algn="ctr"/>
            <a:r>
              <a:rPr sz="1100" b="1" i="0">
                <a:solidFill>
                  <a:srgbClr val="94A3B8"/>
                </a:solidFill>
                <a:latin typeface="Segoe UI"/>
              </a:rPr>
              <a:t>03</a:t>
            </a:r>
          </a:p>
        </p:txBody>
      </p:sp>
      <p:sp>
        <p:nvSpPr>
          <p:cNvPr id="8" name="TextBox 7"/>
          <p:cNvSpPr txBox="1"/>
          <p:nvPr/>
        </p:nvSpPr>
        <p:spPr>
          <a:xfrm>
            <a:off x="548640" y="685800"/>
            <a:ext cx="10515600" cy="502920"/>
          </a:xfrm>
          <a:prstGeom prst="rect">
            <a:avLst/>
          </a:prstGeom>
          <a:noFill/>
        </p:spPr>
        <p:txBody>
          <a:bodyPr wrap="square" lIns="45720" rIns="45720">
            <a:spAutoFit/>
          </a:bodyPr>
          <a:lstStyle/>
          <a:p>
            <a:pPr algn="l"/>
            <a:r>
              <a:rPr sz="2400" b="1" i="0">
                <a:solidFill>
                  <a:srgbClr val="F8FAFC"/>
                </a:solidFill>
                <a:latin typeface="Segoe UI"/>
              </a:rPr>
              <a:t>Background &amp; The Growing Deepfake Threat</a:t>
            </a:r>
          </a:p>
        </p:txBody>
      </p:sp>
      <p:sp>
        <p:nvSpPr>
          <p:cNvPr id="9" name="Rectangle 8"/>
          <p:cNvSpPr/>
          <p:nvPr/>
        </p:nvSpPr>
        <p:spPr>
          <a:xfrm>
            <a:off x="548640" y="1234440"/>
            <a:ext cx="1115568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417320"/>
            <a:ext cx="2651760" cy="12801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651760" cy="3810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536192"/>
            <a:ext cx="2651760" cy="502920"/>
          </a:xfrm>
          <a:prstGeom prst="rect">
            <a:avLst/>
          </a:prstGeom>
          <a:noFill/>
        </p:spPr>
        <p:txBody>
          <a:bodyPr wrap="square" lIns="45720" rIns="45720">
            <a:spAutoFit/>
          </a:bodyPr>
          <a:lstStyle/>
          <a:p>
            <a:pPr algn="ctr"/>
            <a:r>
              <a:rPr sz="2800" b="1" i="0">
                <a:solidFill>
                  <a:srgbClr val="F43F5E"/>
                </a:solidFill>
                <a:latin typeface="Segoe UI"/>
              </a:rPr>
              <a:t>900%+</a:t>
            </a:r>
          </a:p>
        </p:txBody>
      </p:sp>
      <p:sp>
        <p:nvSpPr>
          <p:cNvPr id="13" name="TextBox 12"/>
          <p:cNvSpPr txBox="1"/>
          <p:nvPr/>
        </p:nvSpPr>
        <p:spPr>
          <a:xfrm>
            <a:off x="640080" y="2084831"/>
            <a:ext cx="2468880" cy="548640"/>
          </a:xfrm>
          <a:prstGeom prst="rect">
            <a:avLst/>
          </a:prstGeom>
          <a:noFill/>
        </p:spPr>
        <p:txBody>
          <a:bodyPr wrap="square" lIns="45720" rIns="45720">
            <a:spAutoFit/>
          </a:bodyPr>
          <a:lstStyle/>
          <a:p>
            <a:pPr algn="ctr"/>
            <a:r>
              <a:rPr sz="1100" b="0" i="0">
                <a:solidFill>
                  <a:srgbClr val="94A3B8"/>
                </a:solidFill>
                <a:latin typeface="Segoe UI"/>
              </a:rPr>
              <a:t>Growth in synthetic media online since 2019</a:t>
            </a:r>
          </a:p>
        </p:txBody>
      </p:sp>
      <p:sp>
        <p:nvSpPr>
          <p:cNvPr id="14" name="Rounded Rectangle 13"/>
          <p:cNvSpPr/>
          <p:nvPr/>
        </p:nvSpPr>
        <p:spPr>
          <a:xfrm>
            <a:off x="3383280" y="1417320"/>
            <a:ext cx="2651760" cy="12801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80" y="1417320"/>
            <a:ext cx="2651760" cy="381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1536192"/>
            <a:ext cx="2651760" cy="502920"/>
          </a:xfrm>
          <a:prstGeom prst="rect">
            <a:avLst/>
          </a:prstGeom>
          <a:noFill/>
        </p:spPr>
        <p:txBody>
          <a:bodyPr wrap="square" lIns="45720" rIns="45720">
            <a:spAutoFit/>
          </a:bodyPr>
          <a:lstStyle/>
          <a:p>
            <a:pPr algn="ctr"/>
            <a:r>
              <a:rPr sz="2800" b="1" i="0">
                <a:solidFill>
                  <a:srgbClr val="F59E0B"/>
                </a:solidFill>
                <a:latin typeface="Segoe UI"/>
              </a:rPr>
              <a:t>96%</a:t>
            </a:r>
          </a:p>
        </p:txBody>
      </p:sp>
      <p:sp>
        <p:nvSpPr>
          <p:cNvPr id="17" name="TextBox 16"/>
          <p:cNvSpPr txBox="1"/>
          <p:nvPr/>
        </p:nvSpPr>
        <p:spPr>
          <a:xfrm>
            <a:off x="3474720" y="2084831"/>
            <a:ext cx="2468880" cy="548640"/>
          </a:xfrm>
          <a:prstGeom prst="rect">
            <a:avLst/>
          </a:prstGeom>
          <a:noFill/>
        </p:spPr>
        <p:txBody>
          <a:bodyPr wrap="square" lIns="45720" rIns="45720">
            <a:spAutoFit/>
          </a:bodyPr>
          <a:lstStyle/>
          <a:p>
            <a:pPr algn="ctr"/>
            <a:r>
              <a:rPr sz="1100" b="0" i="0">
                <a:solidFill>
                  <a:srgbClr val="94A3B8"/>
                </a:solidFill>
                <a:latin typeface="Segoe UI"/>
              </a:rPr>
              <a:t>Non-consensual targets &amp; defamatory content</a:t>
            </a:r>
          </a:p>
        </p:txBody>
      </p:sp>
      <p:sp>
        <p:nvSpPr>
          <p:cNvPr id="18" name="Rounded Rectangle 17"/>
          <p:cNvSpPr/>
          <p:nvPr/>
        </p:nvSpPr>
        <p:spPr>
          <a:xfrm>
            <a:off x="6217920" y="1417320"/>
            <a:ext cx="2651760" cy="12801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1417320"/>
            <a:ext cx="265176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536192"/>
            <a:ext cx="2651760" cy="502920"/>
          </a:xfrm>
          <a:prstGeom prst="rect">
            <a:avLst/>
          </a:prstGeom>
          <a:noFill/>
        </p:spPr>
        <p:txBody>
          <a:bodyPr wrap="square" lIns="45720" rIns="45720">
            <a:spAutoFit/>
          </a:bodyPr>
          <a:lstStyle/>
          <a:p>
            <a:pPr algn="ctr"/>
            <a:r>
              <a:rPr sz="2800" b="1" i="0">
                <a:solidFill>
                  <a:srgbClr val="06B6D4"/>
                </a:solidFill>
                <a:latin typeface="Segoe UI"/>
              </a:rPr>
              <a:t>$25B+</a:t>
            </a:r>
          </a:p>
        </p:txBody>
      </p:sp>
      <p:sp>
        <p:nvSpPr>
          <p:cNvPr id="21" name="TextBox 20"/>
          <p:cNvSpPr txBox="1"/>
          <p:nvPr/>
        </p:nvSpPr>
        <p:spPr>
          <a:xfrm>
            <a:off x="6309360" y="2084831"/>
            <a:ext cx="2468880" cy="548640"/>
          </a:xfrm>
          <a:prstGeom prst="rect">
            <a:avLst/>
          </a:prstGeom>
          <a:noFill/>
        </p:spPr>
        <p:txBody>
          <a:bodyPr wrap="square" lIns="45720" rIns="45720">
            <a:spAutoFit/>
          </a:bodyPr>
          <a:lstStyle/>
          <a:p>
            <a:pPr algn="ctr"/>
            <a:r>
              <a:rPr sz="1100" b="0" i="0">
                <a:solidFill>
                  <a:srgbClr val="94A3B8"/>
                </a:solidFill>
                <a:latin typeface="Segoe UI"/>
              </a:rPr>
              <a:t>Global financial fraud &amp; executive impersonation</a:t>
            </a:r>
          </a:p>
        </p:txBody>
      </p:sp>
      <p:sp>
        <p:nvSpPr>
          <p:cNvPr id="22" name="Rounded Rectangle 21"/>
          <p:cNvSpPr/>
          <p:nvPr/>
        </p:nvSpPr>
        <p:spPr>
          <a:xfrm>
            <a:off x="9052560" y="1417320"/>
            <a:ext cx="2651760" cy="12801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52560" y="1417320"/>
            <a:ext cx="265176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0" y="1536192"/>
            <a:ext cx="2651760" cy="502920"/>
          </a:xfrm>
          <a:prstGeom prst="rect">
            <a:avLst/>
          </a:prstGeom>
          <a:noFill/>
        </p:spPr>
        <p:txBody>
          <a:bodyPr wrap="square" lIns="45720" rIns="45720">
            <a:spAutoFit/>
          </a:bodyPr>
          <a:lstStyle/>
          <a:p>
            <a:pPr algn="ctr"/>
            <a:r>
              <a:rPr sz="2800" b="1" i="0">
                <a:solidFill>
                  <a:srgbClr val="10B981"/>
                </a:solidFill>
                <a:latin typeface="Segoe UI"/>
              </a:rPr>
              <a:t>&lt; 3.5s</a:t>
            </a:r>
          </a:p>
        </p:txBody>
      </p:sp>
      <p:sp>
        <p:nvSpPr>
          <p:cNvPr id="25" name="TextBox 24"/>
          <p:cNvSpPr txBox="1"/>
          <p:nvPr/>
        </p:nvSpPr>
        <p:spPr>
          <a:xfrm>
            <a:off x="9144000" y="2084831"/>
            <a:ext cx="2468880" cy="548640"/>
          </a:xfrm>
          <a:prstGeom prst="rect">
            <a:avLst/>
          </a:prstGeom>
          <a:noFill/>
        </p:spPr>
        <p:txBody>
          <a:bodyPr wrap="square" lIns="45720" rIns="45720">
            <a:spAutoFit/>
          </a:bodyPr>
          <a:lstStyle/>
          <a:p>
            <a:pPr algn="ctr"/>
            <a:r>
              <a:rPr sz="1100" b="0" i="0">
                <a:solidFill>
                  <a:srgbClr val="94A3B8"/>
                </a:solidFill>
                <a:latin typeface="Segoe UI"/>
              </a:rPr>
              <a:t>Generation time with modern diffusion models</a:t>
            </a:r>
          </a:p>
        </p:txBody>
      </p:sp>
      <p:sp>
        <p:nvSpPr>
          <p:cNvPr id="26" name="Rounded Rectangle 25"/>
          <p:cNvSpPr/>
          <p:nvPr/>
        </p:nvSpPr>
        <p:spPr>
          <a:xfrm>
            <a:off x="548640" y="2880360"/>
            <a:ext cx="5440680" cy="35661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2880360"/>
            <a:ext cx="5440680" cy="254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3017520"/>
            <a:ext cx="5029200" cy="320040"/>
          </a:xfrm>
          <a:prstGeom prst="rect">
            <a:avLst/>
          </a:prstGeom>
          <a:noFill/>
        </p:spPr>
        <p:txBody>
          <a:bodyPr wrap="square" lIns="45720" rIns="45720">
            <a:spAutoFit/>
          </a:bodyPr>
          <a:lstStyle/>
          <a:p>
            <a:pPr algn="l"/>
            <a:r>
              <a:rPr sz="1600" b="1" i="0">
                <a:solidFill>
                  <a:srgbClr val="06B6D4"/>
                </a:solidFill>
                <a:latin typeface="Segoe UI"/>
              </a:rPr>
              <a:t>The Deepfake Phenomenon</a:t>
            </a:r>
          </a:p>
        </p:txBody>
      </p:sp>
      <p:sp>
        <p:nvSpPr>
          <p:cNvPr id="29" name="TextBox 28"/>
          <p:cNvSpPr txBox="1"/>
          <p:nvPr/>
        </p:nvSpPr>
        <p:spPr>
          <a:xfrm>
            <a:off x="731520" y="3429000"/>
            <a:ext cx="5029200" cy="2834640"/>
          </a:xfrm>
          <a:prstGeom prst="rect">
            <a:avLst/>
          </a:prstGeom>
          <a:noFill/>
        </p:spPr>
        <p:txBody>
          <a:bodyPr wrap="square" lIns="45720" rIns="45720">
            <a:spAutoFit/>
          </a:bodyPr>
          <a:lstStyle/>
          <a:p>
            <a:pPr>
              <a:spcBef>
                <a:spcPts val="600"/>
              </a:spcBef>
            </a:pPr>
            <a:r>
              <a:rPr sz="1200" b="1">
                <a:solidFill>
                  <a:srgbClr val="06B6D4"/>
                </a:solidFill>
                <a:latin typeface="Segoe UI"/>
              </a:rPr>
              <a:t>•  </a:t>
            </a:r>
            <a:r>
              <a:rPr sz="1200">
                <a:solidFill>
                  <a:srgbClr val="94A3B8"/>
                </a:solidFill>
                <a:latin typeface="Segoe UI"/>
              </a:rPr>
              <a:t>Synthetic media created using Generative Adversarial Networks (GANs), Autoencoders, and modern Diffusion Models.</a:t>
            </a:r>
          </a:p>
          <a:p>
            <a:pPr>
              <a:spcBef>
                <a:spcPts val="600"/>
              </a:spcBef>
            </a:pPr>
            <a:r>
              <a:rPr sz="1200" b="1">
                <a:solidFill>
                  <a:srgbClr val="06B6D4"/>
                </a:solidFill>
                <a:latin typeface="Segoe UI"/>
              </a:rPr>
              <a:t>•  </a:t>
            </a:r>
            <a:r>
              <a:rPr sz="1200">
                <a:solidFill>
                  <a:srgbClr val="94A3B8"/>
                </a:solidFill>
                <a:latin typeface="Segoe UI"/>
              </a:rPr>
              <a:t>Enables hyper-realistic facial swaps, lip-sync manipulation, and full-head digital reenactment.</a:t>
            </a:r>
          </a:p>
          <a:p>
            <a:pPr>
              <a:spcBef>
                <a:spcPts val="600"/>
              </a:spcBef>
            </a:pPr>
            <a:r>
              <a:rPr sz="1200" b="1">
                <a:solidFill>
                  <a:srgbClr val="06B6D4"/>
                </a:solidFill>
                <a:latin typeface="Segoe UI"/>
              </a:rPr>
              <a:t>•  </a:t>
            </a:r>
            <a:r>
              <a:rPr sz="1200">
                <a:solidFill>
                  <a:srgbClr val="94A3B8"/>
                </a:solidFill>
                <a:latin typeface="Segoe UI"/>
              </a:rPr>
              <a:t>Commoditization of AI tools enables novice threat actors to generate photorealistic fakes on consumer hardware.</a:t>
            </a:r>
          </a:p>
          <a:p>
            <a:pPr>
              <a:spcBef>
                <a:spcPts val="600"/>
              </a:spcBef>
            </a:pPr>
            <a:r>
              <a:rPr sz="1200" b="1">
                <a:solidFill>
                  <a:srgbClr val="06B6D4"/>
                </a:solidFill>
                <a:latin typeface="Segoe UI"/>
              </a:rPr>
              <a:t>•  </a:t>
            </a:r>
            <a:r>
              <a:rPr sz="1200">
                <a:solidFill>
                  <a:srgbClr val="94A3B8"/>
                </a:solidFill>
                <a:latin typeface="Segoe UI"/>
              </a:rPr>
              <a:t>Social media platforms disseminate manipulated clips virally before manual fact-checking can respond.</a:t>
            </a:r>
          </a:p>
        </p:txBody>
      </p:sp>
      <p:sp>
        <p:nvSpPr>
          <p:cNvPr id="30" name="Rounded Rectangle 29"/>
          <p:cNvSpPr/>
          <p:nvPr/>
        </p:nvSpPr>
        <p:spPr>
          <a:xfrm>
            <a:off x="6172200" y="2880360"/>
            <a:ext cx="5440680" cy="35661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72200" y="2880360"/>
            <a:ext cx="5440680" cy="2540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80" y="3017520"/>
            <a:ext cx="5029200" cy="320040"/>
          </a:xfrm>
          <a:prstGeom prst="rect">
            <a:avLst/>
          </a:prstGeom>
          <a:noFill/>
        </p:spPr>
        <p:txBody>
          <a:bodyPr wrap="square" lIns="45720" rIns="45720">
            <a:spAutoFit/>
          </a:bodyPr>
          <a:lstStyle/>
          <a:p>
            <a:pPr algn="l"/>
            <a:r>
              <a:rPr sz="1600" b="1" i="0">
                <a:solidFill>
                  <a:srgbClr val="F43F5E"/>
                </a:solidFill>
                <a:latin typeface="Segoe UI"/>
              </a:rPr>
              <a:t>Core Forensic &amp; Investigative Challenges</a:t>
            </a:r>
          </a:p>
        </p:txBody>
      </p:sp>
      <p:sp>
        <p:nvSpPr>
          <p:cNvPr id="33" name="TextBox 32"/>
          <p:cNvSpPr txBox="1"/>
          <p:nvPr/>
        </p:nvSpPr>
        <p:spPr>
          <a:xfrm>
            <a:off x="6355080" y="3429000"/>
            <a:ext cx="5029200" cy="2834640"/>
          </a:xfrm>
          <a:prstGeom prst="rect">
            <a:avLst/>
          </a:prstGeom>
          <a:noFill/>
        </p:spPr>
        <p:txBody>
          <a:bodyPr wrap="square" lIns="45720" rIns="45720">
            <a:spAutoFit/>
          </a:bodyPr>
          <a:lstStyle/>
          <a:p>
            <a:pPr>
              <a:spcBef>
                <a:spcPts val="600"/>
              </a:spcBef>
            </a:pPr>
            <a:r>
              <a:rPr sz="1200" b="1">
                <a:solidFill>
                  <a:srgbClr val="06B6D4"/>
                </a:solidFill>
                <a:latin typeface="Segoe UI"/>
              </a:rPr>
              <a:t>•  </a:t>
            </a:r>
            <a:r>
              <a:rPr sz="1200">
                <a:solidFill>
                  <a:srgbClr val="94A3B8"/>
                </a:solidFill>
                <a:latin typeface="Segoe UI"/>
              </a:rPr>
              <a:t>Human Eye Fallibility: High-resolution generative face-swaps are imperceptible to human reviewers.</a:t>
            </a:r>
          </a:p>
          <a:p>
            <a:pPr>
              <a:spcBef>
                <a:spcPts val="600"/>
              </a:spcBef>
            </a:pPr>
            <a:r>
              <a:rPr sz="1200" b="1">
                <a:solidFill>
                  <a:srgbClr val="06B6D4"/>
                </a:solidFill>
                <a:latin typeface="Segoe UI"/>
              </a:rPr>
              <a:t>•  </a:t>
            </a:r>
            <a:r>
              <a:rPr sz="1200">
                <a:solidFill>
                  <a:srgbClr val="94A3B8"/>
                </a:solidFill>
                <a:latin typeface="Segoe UI"/>
              </a:rPr>
              <a:t>Loss of Forensic Trust: Digital images &amp; video submissions in courtrooms are challenged without auditable proof.</a:t>
            </a:r>
          </a:p>
          <a:p>
            <a:pPr>
              <a:spcBef>
                <a:spcPts val="600"/>
              </a:spcBef>
            </a:pPr>
            <a:r>
              <a:rPr sz="1200" b="1">
                <a:solidFill>
                  <a:srgbClr val="06B6D4"/>
                </a:solidFill>
                <a:latin typeface="Segoe UI"/>
              </a:rPr>
              <a:t>•  </a:t>
            </a:r>
            <a:r>
              <a:rPr sz="1200">
                <a:solidFill>
                  <a:srgbClr val="94A3B8"/>
                </a:solidFill>
                <a:latin typeface="Segoe UI"/>
              </a:rPr>
              <a:t>Compression Degradation: Social platform re-encoding (H.264/JPEG compression) destroys classical metadata markers.</a:t>
            </a:r>
          </a:p>
          <a:p>
            <a:pPr>
              <a:spcBef>
                <a:spcPts val="600"/>
              </a:spcBef>
            </a:pPr>
            <a:r>
              <a:rPr sz="1200" b="1">
                <a:solidFill>
                  <a:srgbClr val="06B6D4"/>
                </a:solidFill>
                <a:latin typeface="Segoe UI"/>
              </a:rPr>
              <a:t>•  </a:t>
            </a:r>
            <a:r>
              <a:rPr sz="1200">
                <a:solidFill>
                  <a:srgbClr val="94A3B8"/>
                </a:solidFill>
                <a:latin typeface="Segoe UI"/>
              </a:rPr>
              <a:t>The Black-Box Dilemma: Standard deep learning models output raw scores without explainable visual justifications.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20040"/>
            <a:ext cx="2560320" cy="292608"/>
          </a:xfrm>
          <a:prstGeom prst="roundRect">
            <a:avLst/>
          </a:prstGeom>
          <a:solidFill>
            <a:srgbClr val="111827"/>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47472"/>
            <a:ext cx="2560320" cy="274320"/>
          </a:xfrm>
          <a:prstGeom prst="rect">
            <a:avLst/>
          </a:prstGeom>
          <a:noFill/>
        </p:spPr>
        <p:txBody>
          <a:bodyPr wrap="square" lIns="45720" rIns="45720">
            <a:spAutoFit/>
          </a:bodyPr>
          <a:lstStyle/>
          <a:p>
            <a:pPr algn="ctr"/>
            <a:r>
              <a:rPr sz="1000" b="1" i="0">
                <a:solidFill>
                  <a:srgbClr val="06B6D4"/>
                </a:solidFill>
                <a:latin typeface="Segoe UI"/>
              </a:rPr>
              <a:t>1. INTRODUCTION</a:t>
            </a:r>
          </a:p>
        </p:txBody>
      </p:sp>
      <p:sp>
        <p:nvSpPr>
          <p:cNvPr id="6" name="Rounded Rectangle 5"/>
          <p:cNvSpPr/>
          <p:nvPr/>
        </p:nvSpPr>
        <p:spPr>
          <a:xfrm>
            <a:off x="11064240" y="320040"/>
            <a:ext cx="640080" cy="292608"/>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47472"/>
            <a:ext cx="640080" cy="274320"/>
          </a:xfrm>
          <a:prstGeom prst="rect">
            <a:avLst/>
          </a:prstGeom>
          <a:noFill/>
        </p:spPr>
        <p:txBody>
          <a:bodyPr wrap="square" lIns="45720" rIns="45720">
            <a:spAutoFit/>
          </a:bodyPr>
          <a:lstStyle/>
          <a:p>
            <a:pPr algn="ctr"/>
            <a:r>
              <a:rPr sz="1100" b="1" i="0">
                <a:solidFill>
                  <a:srgbClr val="94A3B8"/>
                </a:solidFill>
                <a:latin typeface="Segoe UI"/>
              </a:rPr>
              <a:t>04</a:t>
            </a:r>
          </a:p>
        </p:txBody>
      </p:sp>
      <p:sp>
        <p:nvSpPr>
          <p:cNvPr id="8" name="TextBox 7"/>
          <p:cNvSpPr txBox="1"/>
          <p:nvPr/>
        </p:nvSpPr>
        <p:spPr>
          <a:xfrm>
            <a:off x="548640" y="685800"/>
            <a:ext cx="10515600" cy="502920"/>
          </a:xfrm>
          <a:prstGeom prst="rect">
            <a:avLst/>
          </a:prstGeom>
          <a:noFill/>
        </p:spPr>
        <p:txBody>
          <a:bodyPr wrap="square" lIns="45720" rIns="45720">
            <a:spAutoFit/>
          </a:bodyPr>
          <a:lstStyle/>
          <a:p>
            <a:pPr algn="l"/>
            <a:r>
              <a:rPr sz="2400" b="1" i="0">
                <a:solidFill>
                  <a:srgbClr val="F8FAFC"/>
                </a:solidFill>
                <a:latin typeface="Segoe UI"/>
              </a:rPr>
              <a:t>Project Vision, Scope &amp; Core Objectives</a:t>
            </a:r>
          </a:p>
        </p:txBody>
      </p:sp>
      <p:sp>
        <p:nvSpPr>
          <p:cNvPr id="9" name="Rectangle 8"/>
          <p:cNvSpPr/>
          <p:nvPr/>
        </p:nvSpPr>
        <p:spPr>
          <a:xfrm>
            <a:off x="548640" y="1234440"/>
            <a:ext cx="1115568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417320"/>
            <a:ext cx="11064240" cy="1051560"/>
          </a:xfrm>
          <a:prstGeom prst="roundRect">
            <a:avLst/>
          </a:prstGeom>
          <a:solidFill>
            <a:srgbClr val="111827"/>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508760"/>
            <a:ext cx="10698480" cy="228600"/>
          </a:xfrm>
          <a:prstGeom prst="rect">
            <a:avLst/>
          </a:prstGeom>
          <a:noFill/>
        </p:spPr>
        <p:txBody>
          <a:bodyPr wrap="square" lIns="45720" rIns="45720">
            <a:spAutoFit/>
          </a:bodyPr>
          <a:lstStyle/>
          <a:p>
            <a:pPr algn="l"/>
            <a:r>
              <a:rPr sz="1100" b="1" i="0">
                <a:solidFill>
                  <a:srgbClr val="06B6D4"/>
                </a:solidFill>
                <a:latin typeface="Segoe UI"/>
              </a:rPr>
              <a:t>PROJECT MISSION</a:t>
            </a:r>
          </a:p>
        </p:txBody>
      </p:sp>
      <p:sp>
        <p:nvSpPr>
          <p:cNvPr id="12" name="TextBox 11"/>
          <p:cNvSpPr txBox="1"/>
          <p:nvPr/>
        </p:nvSpPr>
        <p:spPr>
          <a:xfrm>
            <a:off x="731520" y="1783080"/>
            <a:ext cx="10698480" cy="594360"/>
          </a:xfrm>
          <a:prstGeom prst="rect">
            <a:avLst/>
          </a:prstGeom>
          <a:noFill/>
        </p:spPr>
        <p:txBody>
          <a:bodyPr wrap="square" lIns="45720" rIns="45720">
            <a:spAutoFit/>
          </a:bodyPr>
          <a:lstStyle/>
          <a:p>
            <a:pPr algn="l"/>
            <a:r>
              <a:rPr sz="1300" b="0" i="1">
                <a:solidFill>
                  <a:srgbClr val="F8FAFC"/>
                </a:solidFill>
                <a:latin typeface="Segoe UI"/>
              </a:rPr>
              <a:t>To design and engineer an end-to-end, explainable digital forensics system that detects facial manipulation in both static imagery and continuous video streams, producing legally defensible forensic evidence dossiers and actionable risk metrics for digital investigators, media outlets, and security teams.</a:t>
            </a:r>
          </a:p>
        </p:txBody>
      </p:sp>
      <p:sp>
        <p:nvSpPr>
          <p:cNvPr id="13" name="Rounded Rectangle 12"/>
          <p:cNvSpPr/>
          <p:nvPr/>
        </p:nvSpPr>
        <p:spPr>
          <a:xfrm>
            <a:off x="548640" y="2651760"/>
            <a:ext cx="2651760" cy="37947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651760"/>
            <a:ext cx="2651760" cy="381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85800" y="2834640"/>
            <a:ext cx="640080" cy="365760"/>
          </a:xfrm>
          <a:prstGeom prst="roundRect">
            <a:avLst/>
          </a:prstGeom>
          <a:solidFill>
            <a:srgbClr val="1A233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880360"/>
            <a:ext cx="640080" cy="274320"/>
          </a:xfrm>
          <a:prstGeom prst="rect">
            <a:avLst/>
          </a:prstGeom>
          <a:noFill/>
        </p:spPr>
        <p:txBody>
          <a:bodyPr wrap="square" lIns="45720" rIns="45720">
            <a:spAutoFit/>
          </a:bodyPr>
          <a:lstStyle/>
          <a:p>
            <a:pPr algn="ctr"/>
            <a:r>
              <a:rPr sz="1300" b="1" i="0">
                <a:solidFill>
                  <a:srgbClr val="3B82F6"/>
                </a:solidFill>
                <a:latin typeface="Segoe UI"/>
              </a:rPr>
              <a:t>01</a:t>
            </a:r>
          </a:p>
        </p:txBody>
      </p:sp>
      <p:sp>
        <p:nvSpPr>
          <p:cNvPr id="17" name="TextBox 16"/>
          <p:cNvSpPr txBox="1"/>
          <p:nvPr/>
        </p:nvSpPr>
        <p:spPr>
          <a:xfrm>
            <a:off x="685800" y="3383280"/>
            <a:ext cx="2377440" cy="548640"/>
          </a:xfrm>
          <a:prstGeom prst="rect">
            <a:avLst/>
          </a:prstGeom>
          <a:noFill/>
        </p:spPr>
        <p:txBody>
          <a:bodyPr wrap="square" lIns="45720" rIns="45720">
            <a:spAutoFit/>
          </a:bodyPr>
          <a:lstStyle/>
          <a:p>
            <a:pPr algn="l"/>
            <a:r>
              <a:rPr sz="1500" b="1" i="0">
                <a:solidFill>
                  <a:srgbClr val="F8FAFC"/>
                </a:solidFill>
                <a:latin typeface="Segoe UI"/>
              </a:rPr>
              <a:t>Multi-Modal Detection</a:t>
            </a:r>
          </a:p>
        </p:txBody>
      </p:sp>
      <p:sp>
        <p:nvSpPr>
          <p:cNvPr id="18" name="Rectangle 17"/>
          <p:cNvSpPr/>
          <p:nvPr/>
        </p:nvSpPr>
        <p:spPr>
          <a:xfrm>
            <a:off x="685800" y="3977640"/>
            <a:ext cx="237744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114800"/>
            <a:ext cx="2377440" cy="2103120"/>
          </a:xfrm>
          <a:prstGeom prst="rect">
            <a:avLst/>
          </a:prstGeom>
          <a:noFill/>
        </p:spPr>
        <p:txBody>
          <a:bodyPr wrap="square" lIns="45720" rIns="45720">
            <a:spAutoFit/>
          </a:bodyPr>
          <a:lstStyle/>
          <a:p>
            <a:pPr algn="l"/>
            <a:r>
              <a:rPr sz="1200" b="0" i="0">
                <a:solidFill>
                  <a:srgbClr val="94A3B8"/>
                </a:solidFill>
                <a:latin typeface="Segoe UI"/>
              </a:rPr>
              <a:t>Process both high-resolution static images (JPG, PNG, WebP) and temporal multi-frame video clips (MP4, AVI) through an automated face extraction and normalization pipeline.</a:t>
            </a:r>
          </a:p>
        </p:txBody>
      </p:sp>
      <p:sp>
        <p:nvSpPr>
          <p:cNvPr id="20" name="Rounded Rectangle 19"/>
          <p:cNvSpPr/>
          <p:nvPr/>
        </p:nvSpPr>
        <p:spPr>
          <a:xfrm>
            <a:off x="3355848" y="2651760"/>
            <a:ext cx="2651760" cy="37947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55848" y="2651760"/>
            <a:ext cx="2651760" cy="381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493008" y="2834640"/>
            <a:ext cx="640080" cy="365760"/>
          </a:xfrm>
          <a:prstGeom prst="roundRect">
            <a:avLst/>
          </a:prstGeom>
          <a:solidFill>
            <a:srgbClr val="1A233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93008" y="2880360"/>
            <a:ext cx="640080" cy="274320"/>
          </a:xfrm>
          <a:prstGeom prst="rect">
            <a:avLst/>
          </a:prstGeom>
          <a:noFill/>
        </p:spPr>
        <p:txBody>
          <a:bodyPr wrap="square" lIns="45720" rIns="45720">
            <a:spAutoFit/>
          </a:bodyPr>
          <a:lstStyle/>
          <a:p>
            <a:pPr algn="ctr"/>
            <a:r>
              <a:rPr sz="1300" b="1" i="0">
                <a:solidFill>
                  <a:srgbClr val="8B5CF6"/>
                </a:solidFill>
                <a:latin typeface="Segoe UI"/>
              </a:rPr>
              <a:t>02</a:t>
            </a:r>
          </a:p>
        </p:txBody>
      </p:sp>
      <p:sp>
        <p:nvSpPr>
          <p:cNvPr id="24" name="TextBox 23"/>
          <p:cNvSpPr txBox="1"/>
          <p:nvPr/>
        </p:nvSpPr>
        <p:spPr>
          <a:xfrm>
            <a:off x="3493008" y="3383280"/>
            <a:ext cx="2377440" cy="548640"/>
          </a:xfrm>
          <a:prstGeom prst="rect">
            <a:avLst/>
          </a:prstGeom>
          <a:noFill/>
        </p:spPr>
        <p:txBody>
          <a:bodyPr wrap="square" lIns="45720" rIns="45720">
            <a:spAutoFit/>
          </a:bodyPr>
          <a:lstStyle/>
          <a:p>
            <a:pPr algn="l"/>
            <a:r>
              <a:rPr sz="1500" b="1" i="0">
                <a:solidFill>
                  <a:srgbClr val="F8FAFC"/>
                </a:solidFill>
                <a:latin typeface="Segoe UI"/>
              </a:rPr>
              <a:t>Dual-Stream AI Inference</a:t>
            </a:r>
          </a:p>
        </p:txBody>
      </p:sp>
      <p:sp>
        <p:nvSpPr>
          <p:cNvPr id="25" name="Rectangle 24"/>
          <p:cNvSpPr/>
          <p:nvPr/>
        </p:nvSpPr>
        <p:spPr>
          <a:xfrm>
            <a:off x="3493008" y="3977640"/>
            <a:ext cx="237744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93008" y="4114800"/>
            <a:ext cx="2377440" cy="2103120"/>
          </a:xfrm>
          <a:prstGeom prst="rect">
            <a:avLst/>
          </a:prstGeom>
          <a:noFill/>
        </p:spPr>
        <p:txBody>
          <a:bodyPr wrap="square" lIns="45720" rIns="45720">
            <a:spAutoFit/>
          </a:bodyPr>
          <a:lstStyle/>
          <a:p>
            <a:pPr algn="l"/>
            <a:r>
              <a:rPr sz="1200" b="0" i="0">
                <a:solidFill>
                  <a:srgbClr val="94A3B8"/>
                </a:solidFill>
                <a:latin typeface="Segoe UI"/>
              </a:rPr>
              <a:t>Combine deep spatial features (EfficientNet-B3 compound scaling) with high-pass frequency residual analysis to detect subtle blending and re-sampling artifacts.</a:t>
            </a:r>
          </a:p>
        </p:txBody>
      </p:sp>
      <p:sp>
        <p:nvSpPr>
          <p:cNvPr id="27" name="Rounded Rectangle 26"/>
          <p:cNvSpPr/>
          <p:nvPr/>
        </p:nvSpPr>
        <p:spPr>
          <a:xfrm>
            <a:off x="6163056" y="2651760"/>
            <a:ext cx="2651760" cy="37947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63056" y="2651760"/>
            <a:ext cx="265176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300216" y="2834640"/>
            <a:ext cx="640080" cy="365760"/>
          </a:xfrm>
          <a:prstGeom prst="roundRect">
            <a:avLst/>
          </a:prstGeom>
          <a:solidFill>
            <a:srgbClr val="1A233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0216" y="2880360"/>
            <a:ext cx="640080" cy="274320"/>
          </a:xfrm>
          <a:prstGeom prst="rect">
            <a:avLst/>
          </a:prstGeom>
          <a:noFill/>
        </p:spPr>
        <p:txBody>
          <a:bodyPr wrap="square" lIns="45720" rIns="45720">
            <a:spAutoFit/>
          </a:bodyPr>
          <a:lstStyle/>
          <a:p>
            <a:pPr algn="ctr"/>
            <a:r>
              <a:rPr sz="1300" b="1" i="0">
                <a:solidFill>
                  <a:srgbClr val="06B6D4"/>
                </a:solidFill>
                <a:latin typeface="Segoe UI"/>
              </a:rPr>
              <a:t>03</a:t>
            </a:r>
          </a:p>
        </p:txBody>
      </p:sp>
      <p:sp>
        <p:nvSpPr>
          <p:cNvPr id="31" name="TextBox 30"/>
          <p:cNvSpPr txBox="1"/>
          <p:nvPr/>
        </p:nvSpPr>
        <p:spPr>
          <a:xfrm>
            <a:off x="6300216" y="3383280"/>
            <a:ext cx="2377440" cy="548640"/>
          </a:xfrm>
          <a:prstGeom prst="rect">
            <a:avLst/>
          </a:prstGeom>
          <a:noFill/>
        </p:spPr>
        <p:txBody>
          <a:bodyPr wrap="square" lIns="45720" rIns="45720">
            <a:spAutoFit/>
          </a:bodyPr>
          <a:lstStyle/>
          <a:p>
            <a:pPr algn="l"/>
            <a:r>
              <a:rPr sz="1500" b="1" i="0">
                <a:solidFill>
                  <a:srgbClr val="F8FAFC"/>
                </a:solidFill>
                <a:latin typeface="Segoe UI"/>
              </a:rPr>
              <a:t>Explainable AI (Grad-CAM)</a:t>
            </a:r>
          </a:p>
        </p:txBody>
      </p:sp>
      <p:sp>
        <p:nvSpPr>
          <p:cNvPr id="32" name="Rectangle 31"/>
          <p:cNvSpPr/>
          <p:nvPr/>
        </p:nvSpPr>
        <p:spPr>
          <a:xfrm>
            <a:off x="6300216" y="3977640"/>
            <a:ext cx="237744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0216" y="4114800"/>
            <a:ext cx="2377440" cy="2103120"/>
          </a:xfrm>
          <a:prstGeom prst="rect">
            <a:avLst/>
          </a:prstGeom>
          <a:noFill/>
        </p:spPr>
        <p:txBody>
          <a:bodyPr wrap="square" lIns="45720" rIns="45720">
            <a:spAutoFit/>
          </a:bodyPr>
          <a:lstStyle/>
          <a:p>
            <a:pPr algn="l"/>
            <a:r>
              <a:rPr sz="1200" b="0" i="0">
                <a:solidFill>
                  <a:srgbClr val="94A3B8"/>
                </a:solidFill>
                <a:latin typeface="Segoe UI"/>
              </a:rPr>
              <a:t>Demystify black-box neural classifications by projecting gradient-weighted class activation heatmaps directly over facial zones to highlight manipulation boundaries.</a:t>
            </a:r>
          </a:p>
        </p:txBody>
      </p:sp>
      <p:sp>
        <p:nvSpPr>
          <p:cNvPr id="34" name="Rounded Rectangle 33"/>
          <p:cNvSpPr/>
          <p:nvPr/>
        </p:nvSpPr>
        <p:spPr>
          <a:xfrm>
            <a:off x="8970264" y="2651760"/>
            <a:ext cx="2651760" cy="37947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970264" y="2651760"/>
            <a:ext cx="265176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07424" y="2834640"/>
            <a:ext cx="640080" cy="365760"/>
          </a:xfrm>
          <a:prstGeom prst="roundRect">
            <a:avLst/>
          </a:prstGeom>
          <a:solidFill>
            <a:srgbClr val="1A233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2880360"/>
            <a:ext cx="640080" cy="274320"/>
          </a:xfrm>
          <a:prstGeom prst="rect">
            <a:avLst/>
          </a:prstGeom>
          <a:noFill/>
        </p:spPr>
        <p:txBody>
          <a:bodyPr wrap="square" lIns="45720" rIns="45720">
            <a:spAutoFit/>
          </a:bodyPr>
          <a:lstStyle/>
          <a:p>
            <a:pPr algn="ctr"/>
            <a:r>
              <a:rPr sz="1300" b="1" i="0">
                <a:solidFill>
                  <a:srgbClr val="10B981"/>
                </a:solidFill>
                <a:latin typeface="Segoe UI"/>
              </a:rPr>
              <a:t>04</a:t>
            </a:r>
          </a:p>
        </p:txBody>
      </p:sp>
      <p:sp>
        <p:nvSpPr>
          <p:cNvPr id="38" name="TextBox 37"/>
          <p:cNvSpPr txBox="1"/>
          <p:nvPr/>
        </p:nvSpPr>
        <p:spPr>
          <a:xfrm>
            <a:off x="9107424" y="3383280"/>
            <a:ext cx="2377440" cy="548640"/>
          </a:xfrm>
          <a:prstGeom prst="rect">
            <a:avLst/>
          </a:prstGeom>
          <a:noFill/>
        </p:spPr>
        <p:txBody>
          <a:bodyPr wrap="square" lIns="45720" rIns="45720">
            <a:spAutoFit/>
          </a:bodyPr>
          <a:lstStyle/>
          <a:p>
            <a:pPr algn="l"/>
            <a:r>
              <a:rPr sz="1500" b="1" i="0">
                <a:solidFill>
                  <a:srgbClr val="F8FAFC"/>
                </a:solidFill>
                <a:latin typeface="Segoe UI"/>
              </a:rPr>
              <a:t>Forensic Dossier &amp; API</a:t>
            </a:r>
          </a:p>
        </p:txBody>
      </p:sp>
      <p:sp>
        <p:nvSpPr>
          <p:cNvPr id="39" name="Rectangle 38"/>
          <p:cNvSpPr/>
          <p:nvPr/>
        </p:nvSpPr>
        <p:spPr>
          <a:xfrm>
            <a:off x="9107424" y="3977640"/>
            <a:ext cx="237744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07424" y="4114800"/>
            <a:ext cx="2377440" cy="2103120"/>
          </a:xfrm>
          <a:prstGeom prst="rect">
            <a:avLst/>
          </a:prstGeom>
          <a:noFill/>
        </p:spPr>
        <p:txBody>
          <a:bodyPr wrap="square" lIns="45720" rIns="45720">
            <a:spAutoFit/>
          </a:bodyPr>
          <a:lstStyle/>
          <a:p>
            <a:pPr algn="l"/>
            <a:r>
              <a:rPr sz="1200" b="0" i="0">
                <a:solidFill>
                  <a:srgbClr val="94A3B8"/>
                </a:solidFill>
                <a:latin typeface="Segoe UI"/>
              </a:rPr>
              <a:t>Generate automated, court-admissible ReportLab PDF reports with case IDs, cryptographic hashes, and temporal graphs, backed by an enterprise REST API.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20040"/>
            <a:ext cx="2560320" cy="292608"/>
          </a:xfrm>
          <a:prstGeom prst="roundRect">
            <a:avLst/>
          </a:prstGeom>
          <a:solidFill>
            <a:srgbClr val="111827"/>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47472"/>
            <a:ext cx="2560320" cy="274320"/>
          </a:xfrm>
          <a:prstGeom prst="rect">
            <a:avLst/>
          </a:prstGeom>
          <a:noFill/>
        </p:spPr>
        <p:txBody>
          <a:bodyPr wrap="square" lIns="45720" rIns="45720">
            <a:spAutoFit/>
          </a:bodyPr>
          <a:lstStyle/>
          <a:p>
            <a:pPr algn="ctr"/>
            <a:r>
              <a:rPr sz="1000" b="1" i="0">
                <a:solidFill>
                  <a:srgbClr val="06B6D4"/>
                </a:solidFill>
                <a:latin typeface="Segoe UI"/>
              </a:rPr>
              <a:t>2. LITERATURE REVIEW</a:t>
            </a:r>
          </a:p>
        </p:txBody>
      </p:sp>
      <p:sp>
        <p:nvSpPr>
          <p:cNvPr id="6" name="Rounded Rectangle 5"/>
          <p:cNvSpPr/>
          <p:nvPr/>
        </p:nvSpPr>
        <p:spPr>
          <a:xfrm>
            <a:off x="11064240" y="320040"/>
            <a:ext cx="640080" cy="292608"/>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47472"/>
            <a:ext cx="640080" cy="274320"/>
          </a:xfrm>
          <a:prstGeom prst="rect">
            <a:avLst/>
          </a:prstGeom>
          <a:noFill/>
        </p:spPr>
        <p:txBody>
          <a:bodyPr wrap="square" lIns="45720" rIns="45720">
            <a:spAutoFit/>
          </a:bodyPr>
          <a:lstStyle/>
          <a:p>
            <a:pPr algn="ctr"/>
            <a:r>
              <a:rPr sz="1100" b="1" i="0">
                <a:solidFill>
                  <a:srgbClr val="94A3B8"/>
                </a:solidFill>
                <a:latin typeface="Segoe UI"/>
              </a:rPr>
              <a:t>05</a:t>
            </a:r>
          </a:p>
        </p:txBody>
      </p:sp>
      <p:sp>
        <p:nvSpPr>
          <p:cNvPr id="8" name="TextBox 7"/>
          <p:cNvSpPr txBox="1"/>
          <p:nvPr/>
        </p:nvSpPr>
        <p:spPr>
          <a:xfrm>
            <a:off x="548640" y="685800"/>
            <a:ext cx="10515600" cy="502920"/>
          </a:xfrm>
          <a:prstGeom prst="rect">
            <a:avLst/>
          </a:prstGeom>
          <a:noFill/>
        </p:spPr>
        <p:txBody>
          <a:bodyPr wrap="square" lIns="45720" rIns="45720">
            <a:spAutoFit/>
          </a:bodyPr>
          <a:lstStyle/>
          <a:p>
            <a:pPr algn="l"/>
            <a:r>
              <a:rPr sz="2400" b="1" i="0">
                <a:solidFill>
                  <a:srgbClr val="F8FAFC"/>
                </a:solidFill>
                <a:latin typeface="Segoe UI"/>
              </a:rPr>
              <a:t>Evolution of Deepfake Detection Methodologies</a:t>
            </a:r>
          </a:p>
        </p:txBody>
      </p:sp>
      <p:sp>
        <p:nvSpPr>
          <p:cNvPr id="9" name="Rectangle 8"/>
          <p:cNvSpPr/>
          <p:nvPr/>
        </p:nvSpPr>
        <p:spPr>
          <a:xfrm>
            <a:off x="548640" y="1234440"/>
            <a:ext cx="1115568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417320"/>
            <a:ext cx="11064240" cy="1536192"/>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73152" cy="15361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508760"/>
            <a:ext cx="5943600" cy="274320"/>
          </a:xfrm>
          <a:prstGeom prst="rect">
            <a:avLst/>
          </a:prstGeom>
          <a:noFill/>
        </p:spPr>
        <p:txBody>
          <a:bodyPr wrap="square" lIns="45720" rIns="45720">
            <a:spAutoFit/>
          </a:bodyPr>
          <a:lstStyle/>
          <a:p>
            <a:pPr algn="l"/>
            <a:r>
              <a:rPr sz="1200" b="1" i="0">
                <a:solidFill>
                  <a:srgbClr val="F59E0B"/>
                </a:solidFill>
                <a:latin typeface="Segoe UI"/>
              </a:rPr>
              <a:t>GENERATION 1: BIOLOGICAL &amp; HEURISTICS (2018 - 2020)</a:t>
            </a:r>
          </a:p>
        </p:txBody>
      </p:sp>
      <p:sp>
        <p:nvSpPr>
          <p:cNvPr id="13" name="TextBox 12"/>
          <p:cNvSpPr txBox="1"/>
          <p:nvPr/>
        </p:nvSpPr>
        <p:spPr>
          <a:xfrm>
            <a:off x="6858000" y="1508760"/>
            <a:ext cx="4572000" cy="274320"/>
          </a:xfrm>
          <a:prstGeom prst="rect">
            <a:avLst/>
          </a:prstGeom>
          <a:noFill/>
        </p:spPr>
        <p:txBody>
          <a:bodyPr wrap="square" lIns="45720" rIns="45720">
            <a:spAutoFit/>
          </a:bodyPr>
          <a:lstStyle/>
          <a:p>
            <a:pPr algn="r"/>
            <a:r>
              <a:rPr sz="1100" b="0" i="1">
                <a:solidFill>
                  <a:srgbClr val="94A3B8"/>
                </a:solidFill>
                <a:latin typeface="Segoe UI"/>
              </a:rPr>
              <a:t>Handcrafted Physical &amp; Biological Markers</a:t>
            </a:r>
          </a:p>
        </p:txBody>
      </p:sp>
      <p:sp>
        <p:nvSpPr>
          <p:cNvPr id="14" name="TextBox 13"/>
          <p:cNvSpPr txBox="1"/>
          <p:nvPr/>
        </p:nvSpPr>
        <p:spPr>
          <a:xfrm>
            <a:off x="777240" y="1764792"/>
            <a:ext cx="10607040" cy="777240"/>
          </a:xfrm>
          <a:prstGeom prst="rect">
            <a:avLst/>
          </a:prstGeom>
          <a:noFill/>
        </p:spPr>
        <p:txBody>
          <a:bodyPr wrap="square" lIns="45720" rIns="45720">
            <a:spAutoFit/>
          </a:bodyPr>
          <a:lstStyle/>
          <a:p>
            <a:pPr>
              <a:spcBef>
                <a:spcPts val="200"/>
              </a:spcBef>
            </a:pPr>
            <a:r>
              <a:rPr sz="1100" b="1">
                <a:solidFill>
                  <a:srgbClr val="06B6D4"/>
                </a:solidFill>
                <a:latin typeface="Segoe UI"/>
              </a:rPr>
              <a:t>•  </a:t>
            </a:r>
            <a:r>
              <a:rPr sz="1100">
                <a:solidFill>
                  <a:srgbClr val="94A3B8"/>
                </a:solidFill>
                <a:latin typeface="Segoe UI"/>
              </a:rPr>
              <a:t>Eye-blinking deficiency detection (Li et al., 2018) leveraging EAR (Eye Aspect Ratio).</a:t>
            </a:r>
          </a:p>
          <a:p>
            <a:pPr>
              <a:spcBef>
                <a:spcPts val="200"/>
              </a:spcBef>
            </a:pPr>
            <a:r>
              <a:rPr sz="1100" b="1">
                <a:solidFill>
                  <a:srgbClr val="06B6D4"/>
                </a:solidFill>
                <a:latin typeface="Segoe UI"/>
              </a:rPr>
              <a:t>•  </a:t>
            </a:r>
            <a:r>
              <a:rPr sz="1100">
                <a:solidFill>
                  <a:srgbClr val="94A3B8"/>
                </a:solidFill>
                <a:latin typeface="Segoe UI"/>
              </a:rPr>
              <a:t>Head pose and 3D facial landmark inconsistency analysis (Yang et al., 2019).</a:t>
            </a:r>
          </a:p>
          <a:p>
            <a:pPr>
              <a:spcBef>
                <a:spcPts val="200"/>
              </a:spcBef>
            </a:pPr>
            <a:r>
              <a:rPr sz="1100" b="1">
                <a:solidFill>
                  <a:srgbClr val="06B6D4"/>
                </a:solidFill>
                <a:latin typeface="Segoe UI"/>
              </a:rPr>
              <a:t>•  </a:t>
            </a:r>
            <a:r>
              <a:rPr sz="1100">
                <a:solidFill>
                  <a:srgbClr val="94A3B8"/>
                </a:solidFill>
                <a:latin typeface="Segoe UI"/>
              </a:rPr>
              <a:t>Remote Photoplethysmography (rPPG) measuring synthetic heartbeat signals (Hernandez-Ortega, 2020).</a:t>
            </a:r>
          </a:p>
        </p:txBody>
      </p:sp>
      <p:sp>
        <p:nvSpPr>
          <p:cNvPr id="15" name="Rounded Rectangle 14"/>
          <p:cNvSpPr/>
          <p:nvPr/>
        </p:nvSpPr>
        <p:spPr>
          <a:xfrm>
            <a:off x="777240" y="2569464"/>
            <a:ext cx="10652760" cy="292608"/>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606040"/>
            <a:ext cx="10424160" cy="228600"/>
          </a:xfrm>
          <a:prstGeom prst="rect">
            <a:avLst/>
          </a:prstGeom>
          <a:noFill/>
        </p:spPr>
        <p:txBody>
          <a:bodyPr wrap="square" lIns="45720" rIns="45720">
            <a:spAutoFit/>
          </a:bodyPr>
          <a:lstStyle/>
          <a:p>
            <a:pPr algn="l"/>
            <a:r>
              <a:rPr sz="1000" b="0" i="1">
                <a:solidFill>
                  <a:srgbClr val="F59E0B"/>
                </a:solidFill>
                <a:latin typeface="Segoe UI"/>
              </a:rPr>
              <a:t>Forensic Assessment: Critical Limitations: Fragile to video compression; modern GANs generate realistic blinking and smooth facial geometry.</a:t>
            </a:r>
          </a:p>
        </p:txBody>
      </p:sp>
      <p:sp>
        <p:nvSpPr>
          <p:cNvPr id="17" name="Rounded Rectangle 16"/>
          <p:cNvSpPr/>
          <p:nvPr/>
        </p:nvSpPr>
        <p:spPr>
          <a:xfrm>
            <a:off x="548640" y="3108960"/>
            <a:ext cx="11064240" cy="1536192"/>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108960"/>
            <a:ext cx="73152" cy="153619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00400"/>
            <a:ext cx="5943600" cy="274320"/>
          </a:xfrm>
          <a:prstGeom prst="rect">
            <a:avLst/>
          </a:prstGeom>
          <a:noFill/>
        </p:spPr>
        <p:txBody>
          <a:bodyPr wrap="square" lIns="45720" rIns="45720">
            <a:spAutoFit/>
          </a:bodyPr>
          <a:lstStyle/>
          <a:p>
            <a:pPr algn="l"/>
            <a:r>
              <a:rPr sz="1200" b="1" i="0">
                <a:solidFill>
                  <a:srgbClr val="3B82F6"/>
                </a:solidFill>
                <a:latin typeface="Segoe UI"/>
              </a:rPr>
              <a:t>GENERATION 2: EARLY DEEP LEARNING &amp; SHALLOW CNNS (2020 - 2022)</a:t>
            </a:r>
          </a:p>
        </p:txBody>
      </p:sp>
      <p:sp>
        <p:nvSpPr>
          <p:cNvPr id="20" name="TextBox 19"/>
          <p:cNvSpPr txBox="1"/>
          <p:nvPr/>
        </p:nvSpPr>
        <p:spPr>
          <a:xfrm>
            <a:off x="6858000" y="3200400"/>
            <a:ext cx="4572000" cy="274320"/>
          </a:xfrm>
          <a:prstGeom prst="rect">
            <a:avLst/>
          </a:prstGeom>
          <a:noFill/>
        </p:spPr>
        <p:txBody>
          <a:bodyPr wrap="square" lIns="45720" rIns="45720">
            <a:spAutoFit/>
          </a:bodyPr>
          <a:lstStyle/>
          <a:p>
            <a:pPr algn="r"/>
            <a:r>
              <a:rPr sz="1100" b="0" i="1">
                <a:solidFill>
                  <a:srgbClr val="94A3B8"/>
                </a:solidFill>
                <a:latin typeface="Segoe UI"/>
              </a:rPr>
              <a:t>Domain-Specific Meso-Scale Feature Extractors</a:t>
            </a:r>
          </a:p>
        </p:txBody>
      </p:sp>
      <p:sp>
        <p:nvSpPr>
          <p:cNvPr id="21" name="TextBox 20"/>
          <p:cNvSpPr txBox="1"/>
          <p:nvPr/>
        </p:nvSpPr>
        <p:spPr>
          <a:xfrm>
            <a:off x="777240" y="3456432"/>
            <a:ext cx="10607040" cy="777240"/>
          </a:xfrm>
          <a:prstGeom prst="rect">
            <a:avLst/>
          </a:prstGeom>
          <a:noFill/>
        </p:spPr>
        <p:txBody>
          <a:bodyPr wrap="square" lIns="45720" rIns="45720">
            <a:spAutoFit/>
          </a:bodyPr>
          <a:lstStyle/>
          <a:p>
            <a:pPr>
              <a:spcBef>
                <a:spcPts val="200"/>
              </a:spcBef>
            </a:pPr>
            <a:r>
              <a:rPr sz="1100" b="1">
                <a:solidFill>
                  <a:srgbClr val="06B6D4"/>
                </a:solidFill>
                <a:latin typeface="Segoe UI"/>
              </a:rPr>
              <a:t>•  </a:t>
            </a:r>
            <a:r>
              <a:rPr sz="1100">
                <a:solidFill>
                  <a:srgbClr val="94A3B8"/>
                </a:solidFill>
                <a:latin typeface="Segoe UI"/>
              </a:rPr>
              <a:t>MesoNet (Meso-4 &amp; MesoInception-4 by Afchar et al.): Focused on microscopic image noise.</a:t>
            </a:r>
          </a:p>
          <a:p>
            <a:pPr>
              <a:spcBef>
                <a:spcPts val="200"/>
              </a:spcBef>
            </a:pPr>
            <a:r>
              <a:rPr sz="1100" b="1">
                <a:solidFill>
                  <a:srgbClr val="06B6D4"/>
                </a:solidFill>
                <a:latin typeface="Segoe UI"/>
              </a:rPr>
              <a:t>•  </a:t>
            </a:r>
            <a:r>
              <a:rPr sz="1100">
                <a:solidFill>
                  <a:srgbClr val="94A3B8"/>
                </a:solidFill>
                <a:latin typeface="Segoe UI"/>
              </a:rPr>
              <a:t>Standard VGG-16 &amp; ResNet-50 transfer learning on FaceForensics++ benchmarks.</a:t>
            </a:r>
          </a:p>
          <a:p>
            <a:pPr>
              <a:spcBef>
                <a:spcPts val="200"/>
              </a:spcBef>
            </a:pPr>
            <a:r>
              <a:rPr sz="1100" b="1">
                <a:solidFill>
                  <a:srgbClr val="06B6D4"/>
                </a:solidFill>
                <a:latin typeface="Segoe UI"/>
              </a:rPr>
              <a:t>•  </a:t>
            </a:r>
            <a:r>
              <a:rPr sz="1100">
                <a:solidFill>
                  <a:srgbClr val="94A3B8"/>
                </a:solidFill>
                <a:latin typeface="Segoe UI"/>
              </a:rPr>
              <a:t>Frequency domain DCT / FFT spectral analysis (Durall et al., 2020).</a:t>
            </a:r>
          </a:p>
        </p:txBody>
      </p:sp>
      <p:sp>
        <p:nvSpPr>
          <p:cNvPr id="22" name="Rounded Rectangle 21"/>
          <p:cNvSpPr/>
          <p:nvPr/>
        </p:nvSpPr>
        <p:spPr>
          <a:xfrm>
            <a:off x="777240" y="4261104"/>
            <a:ext cx="10652760" cy="292608"/>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297680"/>
            <a:ext cx="10424160" cy="228600"/>
          </a:xfrm>
          <a:prstGeom prst="rect">
            <a:avLst/>
          </a:prstGeom>
          <a:noFill/>
        </p:spPr>
        <p:txBody>
          <a:bodyPr wrap="square" lIns="45720" rIns="45720">
            <a:spAutoFit/>
          </a:bodyPr>
          <a:lstStyle/>
          <a:p>
            <a:pPr algn="l"/>
            <a:r>
              <a:rPr sz="1000" b="0" i="1">
                <a:solidFill>
                  <a:srgbClr val="3B82F6"/>
                </a:solidFill>
                <a:latin typeface="Segoe UI"/>
              </a:rPr>
              <a:t>Forensic Assessment: Critical Limitations: Severe overfitting to specific dataset artifacts; poor cross-manipulation generalization; zero explainability.</a:t>
            </a:r>
          </a:p>
        </p:txBody>
      </p:sp>
      <p:sp>
        <p:nvSpPr>
          <p:cNvPr id="24" name="Rounded Rectangle 23"/>
          <p:cNvSpPr/>
          <p:nvPr/>
        </p:nvSpPr>
        <p:spPr>
          <a:xfrm>
            <a:off x="548640" y="4800600"/>
            <a:ext cx="11064240" cy="1536192"/>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800600"/>
            <a:ext cx="73152" cy="153619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892040"/>
            <a:ext cx="5943600" cy="274320"/>
          </a:xfrm>
          <a:prstGeom prst="rect">
            <a:avLst/>
          </a:prstGeom>
          <a:noFill/>
        </p:spPr>
        <p:txBody>
          <a:bodyPr wrap="square" lIns="45720" rIns="45720">
            <a:spAutoFit/>
          </a:bodyPr>
          <a:lstStyle/>
          <a:p>
            <a:pPr algn="l"/>
            <a:r>
              <a:rPr sz="1200" b="1" i="0">
                <a:solidFill>
                  <a:srgbClr val="10B981"/>
                </a:solidFill>
                <a:latin typeface="Segoe UI"/>
              </a:rPr>
              <a:t>GENERATION 3: COMPOUND SCALING &amp; XAI (PRESENT WORK)</a:t>
            </a:r>
          </a:p>
        </p:txBody>
      </p:sp>
      <p:sp>
        <p:nvSpPr>
          <p:cNvPr id="27" name="TextBox 26"/>
          <p:cNvSpPr txBox="1"/>
          <p:nvPr/>
        </p:nvSpPr>
        <p:spPr>
          <a:xfrm>
            <a:off x="6858000" y="4892040"/>
            <a:ext cx="4572000" cy="274320"/>
          </a:xfrm>
          <a:prstGeom prst="rect">
            <a:avLst/>
          </a:prstGeom>
          <a:noFill/>
        </p:spPr>
        <p:txBody>
          <a:bodyPr wrap="square" lIns="45720" rIns="45720">
            <a:spAutoFit/>
          </a:bodyPr>
          <a:lstStyle/>
          <a:p>
            <a:pPr algn="r"/>
            <a:r>
              <a:rPr sz="1100" b="0" i="1">
                <a:solidFill>
                  <a:srgbClr val="94A3B8"/>
                </a:solidFill>
                <a:latin typeface="Segoe UI"/>
              </a:rPr>
              <a:t>State-of-the-Art Dual-Stream Forensics + Explainable AI</a:t>
            </a:r>
          </a:p>
        </p:txBody>
      </p:sp>
      <p:sp>
        <p:nvSpPr>
          <p:cNvPr id="28" name="TextBox 27"/>
          <p:cNvSpPr txBox="1"/>
          <p:nvPr/>
        </p:nvSpPr>
        <p:spPr>
          <a:xfrm>
            <a:off x="777240" y="5148072"/>
            <a:ext cx="10607040" cy="777240"/>
          </a:xfrm>
          <a:prstGeom prst="rect">
            <a:avLst/>
          </a:prstGeom>
          <a:noFill/>
        </p:spPr>
        <p:txBody>
          <a:bodyPr wrap="square" lIns="45720" rIns="45720">
            <a:spAutoFit/>
          </a:bodyPr>
          <a:lstStyle/>
          <a:p>
            <a:pPr>
              <a:spcBef>
                <a:spcPts val="200"/>
              </a:spcBef>
            </a:pPr>
            <a:r>
              <a:rPr sz="1100" b="1">
                <a:solidFill>
                  <a:srgbClr val="06B6D4"/>
                </a:solidFill>
                <a:latin typeface="Segoe UI"/>
              </a:rPr>
              <a:t>•  </a:t>
            </a:r>
            <a:r>
              <a:rPr sz="1100">
                <a:solidFill>
                  <a:srgbClr val="94A3B8"/>
                </a:solidFill>
                <a:latin typeface="Segoe UI"/>
              </a:rPr>
              <a:t>EfficientNet-B3 (Tan &amp; Le): Uniform compound scaling of depth, width, and resolution.</a:t>
            </a:r>
          </a:p>
          <a:p>
            <a:pPr>
              <a:spcBef>
                <a:spcPts val="200"/>
              </a:spcBef>
            </a:pPr>
            <a:r>
              <a:rPr sz="1100" b="1">
                <a:solidFill>
                  <a:srgbClr val="06B6D4"/>
                </a:solidFill>
                <a:latin typeface="Segoe UI"/>
              </a:rPr>
              <a:t>•  </a:t>
            </a:r>
            <a:r>
              <a:rPr sz="1100">
                <a:solidFill>
                  <a:srgbClr val="94A3B8"/>
                </a:solidFill>
                <a:latin typeface="Segoe UI"/>
              </a:rPr>
              <a:t>Dual-Stream Architecture: High-pass frequency residual stream + Spatial RGB stream.</a:t>
            </a:r>
          </a:p>
          <a:p>
            <a:pPr>
              <a:spcBef>
                <a:spcPts val="200"/>
              </a:spcBef>
            </a:pPr>
            <a:r>
              <a:rPr sz="1100" b="1">
                <a:solidFill>
                  <a:srgbClr val="06B6D4"/>
                </a:solidFill>
                <a:latin typeface="Segoe UI"/>
              </a:rPr>
              <a:t>•  </a:t>
            </a:r>
            <a:r>
              <a:rPr sz="1100">
                <a:solidFill>
                  <a:srgbClr val="94A3B8"/>
                </a:solidFill>
                <a:latin typeface="Segoe UI"/>
              </a:rPr>
              <a:t>Explainable AI: Grad-CAM gradient backpropagation for courtroom-ready visual heatmaps.</a:t>
            </a:r>
          </a:p>
        </p:txBody>
      </p:sp>
      <p:sp>
        <p:nvSpPr>
          <p:cNvPr id="29" name="Rounded Rectangle 28"/>
          <p:cNvSpPr/>
          <p:nvPr/>
        </p:nvSpPr>
        <p:spPr>
          <a:xfrm>
            <a:off x="777240" y="5952744"/>
            <a:ext cx="10652760" cy="292608"/>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5989320"/>
            <a:ext cx="10424160" cy="228600"/>
          </a:xfrm>
          <a:prstGeom prst="rect">
            <a:avLst/>
          </a:prstGeom>
          <a:noFill/>
        </p:spPr>
        <p:txBody>
          <a:bodyPr wrap="square" lIns="45720" rIns="45720">
            <a:spAutoFit/>
          </a:bodyPr>
          <a:lstStyle/>
          <a:p>
            <a:pPr algn="l"/>
            <a:r>
              <a:rPr sz="1000" b="0" i="1">
                <a:solidFill>
                  <a:srgbClr val="10B981"/>
                </a:solidFill>
                <a:latin typeface="Segoe UI"/>
              </a:rPr>
              <a:t>Forensic Assessment: Proposed Solution: Lightweight parameter footprint (~12M), high generalization, and transparent evidence output.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20040"/>
            <a:ext cx="2560320" cy="292608"/>
          </a:xfrm>
          <a:prstGeom prst="roundRect">
            <a:avLst/>
          </a:prstGeom>
          <a:solidFill>
            <a:srgbClr val="111827"/>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47472"/>
            <a:ext cx="2560320" cy="274320"/>
          </a:xfrm>
          <a:prstGeom prst="rect">
            <a:avLst/>
          </a:prstGeom>
          <a:noFill/>
        </p:spPr>
        <p:txBody>
          <a:bodyPr wrap="square" lIns="45720" rIns="45720">
            <a:spAutoFit/>
          </a:bodyPr>
          <a:lstStyle/>
          <a:p>
            <a:pPr algn="ctr"/>
            <a:r>
              <a:rPr sz="1000" b="1" i="0">
                <a:solidFill>
                  <a:srgbClr val="06B6D4"/>
                </a:solidFill>
                <a:latin typeface="Segoe UI"/>
              </a:rPr>
              <a:t>2. LITERATURE REVIEW</a:t>
            </a:r>
          </a:p>
        </p:txBody>
      </p:sp>
      <p:sp>
        <p:nvSpPr>
          <p:cNvPr id="6" name="Rounded Rectangle 5"/>
          <p:cNvSpPr/>
          <p:nvPr/>
        </p:nvSpPr>
        <p:spPr>
          <a:xfrm>
            <a:off x="11064240" y="320040"/>
            <a:ext cx="640080" cy="292608"/>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47472"/>
            <a:ext cx="640080" cy="274320"/>
          </a:xfrm>
          <a:prstGeom prst="rect">
            <a:avLst/>
          </a:prstGeom>
          <a:noFill/>
        </p:spPr>
        <p:txBody>
          <a:bodyPr wrap="square" lIns="45720" rIns="45720">
            <a:spAutoFit/>
          </a:bodyPr>
          <a:lstStyle/>
          <a:p>
            <a:pPr algn="ctr"/>
            <a:r>
              <a:rPr sz="1100" b="1" i="0">
                <a:solidFill>
                  <a:srgbClr val="94A3B8"/>
                </a:solidFill>
                <a:latin typeface="Segoe UI"/>
              </a:rPr>
              <a:t>06</a:t>
            </a:r>
          </a:p>
        </p:txBody>
      </p:sp>
      <p:sp>
        <p:nvSpPr>
          <p:cNvPr id="8" name="TextBox 7"/>
          <p:cNvSpPr txBox="1"/>
          <p:nvPr/>
        </p:nvSpPr>
        <p:spPr>
          <a:xfrm>
            <a:off x="548640" y="685800"/>
            <a:ext cx="10515600" cy="502920"/>
          </a:xfrm>
          <a:prstGeom prst="rect">
            <a:avLst/>
          </a:prstGeom>
          <a:noFill/>
        </p:spPr>
        <p:txBody>
          <a:bodyPr wrap="square" lIns="45720" rIns="45720">
            <a:spAutoFit/>
          </a:bodyPr>
          <a:lstStyle/>
          <a:p>
            <a:pPr algn="l"/>
            <a:r>
              <a:rPr sz="2400" b="1" i="0">
                <a:solidFill>
                  <a:srgbClr val="F8FAFC"/>
                </a:solidFill>
                <a:latin typeface="Segoe UI"/>
              </a:rPr>
              <a:t>Comparative Benchmark &amp; Research Gaps</a:t>
            </a:r>
          </a:p>
        </p:txBody>
      </p:sp>
      <p:sp>
        <p:nvSpPr>
          <p:cNvPr id="9" name="Rectangle 8"/>
          <p:cNvSpPr/>
          <p:nvPr/>
        </p:nvSpPr>
        <p:spPr>
          <a:xfrm>
            <a:off x="548640" y="1234440"/>
            <a:ext cx="1115568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548640" y="1417320"/>
          <a:ext cx="11064240" cy="2377440"/>
        </p:xfrm>
        <a:graphic>
          <a:graphicData uri="http://schemas.openxmlformats.org/drawingml/2006/table">
            <a:tbl>
              <a:tblPr firstRow="1" bandRow="1">
                <a:tableStyleId>{5C22544A-7EE6-4342-B048-85BDC9FD1C3A}</a:tableStyleId>
              </a:tblPr>
              <a:tblGrid>
                <a:gridCol w="2286000"/>
                <a:gridCol w="1463040"/>
                <a:gridCol w="1554480"/>
                <a:gridCol w="2011680"/>
                <a:gridCol w="1737360"/>
                <a:gridCol w="2011680"/>
              </a:tblGrid>
              <a:tr h="396240">
                <a:tc>
                  <a:txBody>
                    <a:bodyPr lIns="73152"/>
                    <a:lstStyle/>
                    <a:p>
                      <a:r>
                        <a:rPr b="1" sz="1100">
                          <a:solidFill>
                            <a:srgbClr val="06B6D4"/>
                          </a:solidFill>
                          <a:latin typeface="Segoe UI"/>
                        </a:rPr>
                        <a:t>Methodology / Model</a:t>
                      </a:r>
                    </a:p>
                  </a:txBody>
                  <a:tcPr>
                    <a:solidFill>
                      <a:srgbClr val="1E293B"/>
                    </a:solidFill>
                  </a:tcPr>
                </a:tc>
                <a:tc>
                  <a:txBody>
                    <a:bodyPr lIns="73152"/>
                    <a:lstStyle/>
                    <a:p>
                      <a:r>
                        <a:rPr b="1" sz="1100">
                          <a:solidFill>
                            <a:srgbClr val="06B6D4"/>
                          </a:solidFill>
                          <a:latin typeface="Segoe UI"/>
                        </a:rPr>
                        <a:t>Avg Accuracy</a:t>
                      </a:r>
                    </a:p>
                  </a:txBody>
                  <a:tcPr>
                    <a:solidFill>
                      <a:srgbClr val="1E293B"/>
                    </a:solidFill>
                  </a:tcPr>
                </a:tc>
                <a:tc>
                  <a:txBody>
                    <a:bodyPr lIns="73152"/>
                    <a:lstStyle/>
                    <a:p>
                      <a:r>
                        <a:rPr b="1" sz="1100">
                          <a:solidFill>
                            <a:srgbClr val="06B6D4"/>
                          </a:solidFill>
                          <a:latin typeface="Segoe UI"/>
                        </a:rPr>
                        <a:t>Compute Cost</a:t>
                      </a:r>
                    </a:p>
                  </a:txBody>
                  <a:tcPr>
                    <a:solidFill>
                      <a:srgbClr val="1E293B"/>
                    </a:solidFill>
                  </a:tcPr>
                </a:tc>
                <a:tc>
                  <a:txBody>
                    <a:bodyPr lIns="73152"/>
                    <a:lstStyle/>
                    <a:p>
                      <a:r>
                        <a:rPr b="1" sz="1100">
                          <a:solidFill>
                            <a:srgbClr val="06B6D4"/>
                          </a:solidFill>
                          <a:latin typeface="Segoe UI"/>
                        </a:rPr>
                        <a:t>Explainability</a:t>
                      </a:r>
                    </a:p>
                  </a:txBody>
                  <a:tcPr>
                    <a:solidFill>
                      <a:srgbClr val="1E293B"/>
                    </a:solidFill>
                  </a:tcPr>
                </a:tc>
                <a:tc>
                  <a:txBody>
                    <a:bodyPr lIns="73152"/>
                    <a:lstStyle/>
                    <a:p>
                      <a:r>
                        <a:rPr b="1" sz="1100">
                          <a:solidFill>
                            <a:srgbClr val="06B6D4"/>
                          </a:solidFill>
                          <a:latin typeface="Segoe UI"/>
                        </a:rPr>
                        <a:t>Video Support</a:t>
                      </a:r>
                    </a:p>
                  </a:txBody>
                  <a:tcPr>
                    <a:solidFill>
                      <a:srgbClr val="1E293B"/>
                    </a:solidFill>
                  </a:tcPr>
                </a:tc>
                <a:tc>
                  <a:txBody>
                    <a:bodyPr lIns="73152"/>
                    <a:lstStyle/>
                    <a:p>
                      <a:r>
                        <a:rPr b="1" sz="1100">
                          <a:solidFill>
                            <a:srgbClr val="06B6D4"/>
                          </a:solidFill>
                          <a:latin typeface="Segoe UI"/>
                        </a:rPr>
                        <a:t>Forensic Readiness</a:t>
                      </a:r>
                    </a:p>
                  </a:txBody>
                  <a:tcPr>
                    <a:solidFill>
                      <a:srgbClr val="1E293B"/>
                    </a:solidFill>
                  </a:tcPr>
                </a:tc>
              </a:tr>
              <a:tr h="396240">
                <a:tc>
                  <a:txBody>
                    <a:bodyPr lIns="73152"/>
                    <a:lstStyle/>
                    <a:p>
                      <a:r>
                        <a:rPr sz="1000" b="0">
                          <a:solidFill>
                            <a:srgbClr val="94A3B8"/>
                          </a:solidFill>
                          <a:latin typeface="Segoe UI"/>
                        </a:rPr>
                        <a:t>Biological / Heuristics (EAR/PPG)</a:t>
                      </a:r>
                    </a:p>
                  </a:txBody>
                  <a:tcPr>
                    <a:solidFill>
                      <a:srgbClr val="111827"/>
                    </a:solidFill>
                  </a:tcPr>
                </a:tc>
                <a:tc>
                  <a:txBody>
                    <a:bodyPr lIns="73152"/>
                    <a:lstStyle/>
                    <a:p>
                      <a:r>
                        <a:rPr sz="1000" b="0">
                          <a:solidFill>
                            <a:srgbClr val="94A3B8"/>
                          </a:solidFill>
                          <a:latin typeface="Segoe UI"/>
                        </a:rPr>
                        <a:t>64.2% - 71.5%</a:t>
                      </a:r>
                    </a:p>
                  </a:txBody>
                  <a:tcPr>
                    <a:solidFill>
                      <a:srgbClr val="111827"/>
                    </a:solidFill>
                  </a:tcPr>
                </a:tc>
                <a:tc>
                  <a:txBody>
                    <a:bodyPr lIns="73152"/>
                    <a:lstStyle/>
                    <a:p>
                      <a:r>
                        <a:rPr sz="1000" b="0">
                          <a:solidFill>
                            <a:srgbClr val="94A3B8"/>
                          </a:solidFill>
                          <a:latin typeface="Segoe UI"/>
                        </a:rPr>
                        <a:t>Low (CPU)</a:t>
                      </a:r>
                    </a:p>
                  </a:txBody>
                  <a:tcPr>
                    <a:solidFill>
                      <a:srgbClr val="111827"/>
                    </a:solidFill>
                  </a:tcPr>
                </a:tc>
                <a:tc>
                  <a:txBody>
                    <a:bodyPr lIns="73152"/>
                    <a:lstStyle/>
                    <a:p>
                      <a:r>
                        <a:rPr sz="1000" b="0">
                          <a:solidFill>
                            <a:srgbClr val="94A3B8"/>
                          </a:solidFill>
                          <a:latin typeface="Segoe UI"/>
                        </a:rPr>
                        <a:t>Moderate (Signals)</a:t>
                      </a:r>
                    </a:p>
                  </a:txBody>
                  <a:tcPr>
                    <a:solidFill>
                      <a:srgbClr val="111827"/>
                    </a:solidFill>
                  </a:tcPr>
                </a:tc>
                <a:tc>
                  <a:txBody>
                    <a:bodyPr lIns="73152"/>
                    <a:lstStyle/>
                    <a:p>
                      <a:r>
                        <a:rPr sz="1000" b="0">
                          <a:solidFill>
                            <a:srgbClr val="94A3B8"/>
                          </a:solidFill>
                          <a:latin typeface="Segoe UI"/>
                        </a:rPr>
                        <a:t>Poor (Decay)</a:t>
                      </a:r>
                    </a:p>
                  </a:txBody>
                  <a:tcPr>
                    <a:solidFill>
                      <a:srgbClr val="111827"/>
                    </a:solidFill>
                  </a:tcPr>
                </a:tc>
                <a:tc>
                  <a:txBody>
                    <a:bodyPr lIns="73152"/>
                    <a:lstStyle/>
                    <a:p>
                      <a:r>
                        <a:rPr sz="1000" b="0">
                          <a:solidFill>
                            <a:srgbClr val="94A3B8"/>
                          </a:solidFill>
                          <a:latin typeface="Segoe UI"/>
                        </a:rPr>
                        <a:t>Low (Manual)</a:t>
                      </a:r>
                    </a:p>
                  </a:txBody>
                  <a:tcPr>
                    <a:solidFill>
                      <a:srgbClr val="111827"/>
                    </a:solidFill>
                  </a:tcPr>
                </a:tc>
              </a:tr>
              <a:tr h="396240">
                <a:tc>
                  <a:txBody>
                    <a:bodyPr lIns="73152"/>
                    <a:lstStyle/>
                    <a:p>
                      <a:r>
                        <a:rPr sz="1000" b="0">
                          <a:solidFill>
                            <a:srgbClr val="94A3B8"/>
                          </a:solidFill>
                          <a:latin typeface="Segoe UI"/>
                        </a:rPr>
                        <a:t>MesoNet (MesoInception-4)</a:t>
                      </a:r>
                    </a:p>
                  </a:txBody>
                  <a:tcPr>
                    <a:solidFill>
                      <a:srgbClr val="111827"/>
                    </a:solidFill>
                  </a:tcPr>
                </a:tc>
                <a:tc>
                  <a:txBody>
                    <a:bodyPr lIns="73152"/>
                    <a:lstStyle/>
                    <a:p>
                      <a:r>
                        <a:rPr sz="1000" b="0">
                          <a:solidFill>
                            <a:srgbClr val="94A3B8"/>
                          </a:solidFill>
                          <a:latin typeface="Segoe UI"/>
                        </a:rPr>
                        <a:t>78.4% - 82.1%</a:t>
                      </a:r>
                    </a:p>
                  </a:txBody>
                  <a:tcPr>
                    <a:solidFill>
                      <a:srgbClr val="111827"/>
                    </a:solidFill>
                  </a:tcPr>
                </a:tc>
                <a:tc>
                  <a:txBody>
                    <a:bodyPr lIns="73152"/>
                    <a:lstStyle/>
                    <a:p>
                      <a:r>
                        <a:rPr sz="1000" b="0">
                          <a:solidFill>
                            <a:srgbClr val="94A3B8"/>
                          </a:solidFill>
                          <a:latin typeface="Segoe UI"/>
                        </a:rPr>
                        <a:t>Very Low</a:t>
                      </a:r>
                    </a:p>
                  </a:txBody>
                  <a:tcPr>
                    <a:solidFill>
                      <a:srgbClr val="111827"/>
                    </a:solidFill>
                  </a:tcPr>
                </a:tc>
                <a:tc>
                  <a:txBody>
                    <a:bodyPr lIns="73152"/>
                    <a:lstStyle/>
                    <a:p>
                      <a:r>
                        <a:rPr sz="1000" b="0">
                          <a:solidFill>
                            <a:srgbClr val="94A3B8"/>
                          </a:solidFill>
                          <a:latin typeface="Segoe UI"/>
                        </a:rPr>
                        <a:t>None (Black Box)</a:t>
                      </a:r>
                    </a:p>
                  </a:txBody>
                  <a:tcPr>
                    <a:solidFill>
                      <a:srgbClr val="111827"/>
                    </a:solidFill>
                  </a:tcPr>
                </a:tc>
                <a:tc>
                  <a:txBody>
                    <a:bodyPr lIns="73152"/>
                    <a:lstStyle/>
                    <a:p>
                      <a:r>
                        <a:rPr sz="1000" b="0">
                          <a:solidFill>
                            <a:srgbClr val="94A3B8"/>
                          </a:solidFill>
                          <a:latin typeface="Segoe UI"/>
                        </a:rPr>
                        <a:t>Moderate</a:t>
                      </a:r>
                    </a:p>
                  </a:txBody>
                  <a:tcPr>
                    <a:solidFill>
                      <a:srgbClr val="111827"/>
                    </a:solidFill>
                  </a:tcPr>
                </a:tc>
                <a:tc>
                  <a:txBody>
                    <a:bodyPr lIns="73152"/>
                    <a:lstStyle/>
                    <a:p>
                      <a:r>
                        <a:rPr sz="1000" b="0">
                          <a:solidFill>
                            <a:srgbClr val="94A3B8"/>
                          </a:solidFill>
                          <a:latin typeface="Segoe UI"/>
                        </a:rPr>
                        <a:t>Low (Score only)</a:t>
                      </a:r>
                    </a:p>
                  </a:txBody>
                  <a:tcPr>
                    <a:solidFill>
                      <a:srgbClr val="111827"/>
                    </a:solidFill>
                  </a:tcPr>
                </a:tc>
              </a:tr>
              <a:tr h="396240">
                <a:tc>
                  <a:txBody>
                    <a:bodyPr lIns="73152"/>
                    <a:lstStyle/>
                    <a:p>
                      <a:r>
                        <a:rPr sz="1000" b="0">
                          <a:solidFill>
                            <a:srgbClr val="94A3B8"/>
                          </a:solidFill>
                          <a:latin typeface="Segoe UI"/>
                        </a:rPr>
                        <a:t>ResNet-50 / DenseNet-121</a:t>
                      </a:r>
                    </a:p>
                  </a:txBody>
                  <a:tcPr>
                    <a:solidFill>
                      <a:srgbClr val="111827"/>
                    </a:solidFill>
                  </a:tcPr>
                </a:tc>
                <a:tc>
                  <a:txBody>
                    <a:bodyPr lIns="73152"/>
                    <a:lstStyle/>
                    <a:p>
                      <a:r>
                        <a:rPr sz="1000" b="0">
                          <a:solidFill>
                            <a:srgbClr val="94A3B8"/>
                          </a:solidFill>
                          <a:latin typeface="Segoe UI"/>
                        </a:rPr>
                        <a:t>84.5% - 88.0%</a:t>
                      </a:r>
                    </a:p>
                  </a:txBody>
                  <a:tcPr>
                    <a:solidFill>
                      <a:srgbClr val="111827"/>
                    </a:solidFill>
                  </a:tcPr>
                </a:tc>
                <a:tc>
                  <a:txBody>
                    <a:bodyPr lIns="73152"/>
                    <a:lstStyle/>
                    <a:p>
                      <a:r>
                        <a:rPr sz="1000" b="0">
                          <a:solidFill>
                            <a:srgbClr val="94A3B8"/>
                          </a:solidFill>
                          <a:latin typeface="Segoe UI"/>
                        </a:rPr>
                        <a:t>High (Heavy)</a:t>
                      </a:r>
                    </a:p>
                  </a:txBody>
                  <a:tcPr>
                    <a:solidFill>
                      <a:srgbClr val="111827"/>
                    </a:solidFill>
                  </a:tcPr>
                </a:tc>
                <a:tc>
                  <a:txBody>
                    <a:bodyPr lIns="73152"/>
                    <a:lstStyle/>
                    <a:p>
                      <a:r>
                        <a:rPr sz="1000" b="0">
                          <a:solidFill>
                            <a:srgbClr val="94A3B8"/>
                          </a:solidFill>
                          <a:latin typeface="Segoe UI"/>
                        </a:rPr>
                        <a:t>Low (Raw Saliency)</a:t>
                      </a:r>
                    </a:p>
                  </a:txBody>
                  <a:tcPr>
                    <a:solidFill>
                      <a:srgbClr val="111827"/>
                    </a:solidFill>
                  </a:tcPr>
                </a:tc>
                <a:tc>
                  <a:txBody>
                    <a:bodyPr lIns="73152"/>
                    <a:lstStyle/>
                    <a:p>
                      <a:r>
                        <a:rPr sz="1000" b="0">
                          <a:solidFill>
                            <a:srgbClr val="94A3B8"/>
                          </a:solidFill>
                          <a:latin typeface="Segoe UI"/>
                        </a:rPr>
                        <a:t>Slow (Heavy)</a:t>
                      </a:r>
                    </a:p>
                  </a:txBody>
                  <a:tcPr>
                    <a:solidFill>
                      <a:srgbClr val="111827"/>
                    </a:solidFill>
                  </a:tcPr>
                </a:tc>
                <a:tc>
                  <a:txBody>
                    <a:bodyPr lIns="73152"/>
                    <a:lstStyle/>
                    <a:p>
                      <a:r>
                        <a:rPr sz="1000" b="0">
                          <a:solidFill>
                            <a:srgbClr val="94A3B8"/>
                          </a:solidFill>
                          <a:latin typeface="Segoe UI"/>
                        </a:rPr>
                        <a:t>Partial</a:t>
                      </a:r>
                    </a:p>
                  </a:txBody>
                  <a:tcPr>
                    <a:solidFill>
                      <a:srgbClr val="111827"/>
                    </a:solidFill>
                  </a:tcPr>
                </a:tc>
              </a:tr>
              <a:tr h="396240">
                <a:tc>
                  <a:txBody>
                    <a:bodyPr lIns="73152"/>
                    <a:lstStyle/>
                    <a:p>
                      <a:r>
                        <a:rPr sz="1000" b="0">
                          <a:solidFill>
                            <a:srgbClr val="94A3B8"/>
                          </a:solidFill>
                          <a:latin typeface="Segoe UI"/>
                        </a:rPr>
                        <a:t>Vision Transformer (ViT-Base)</a:t>
                      </a:r>
                    </a:p>
                  </a:txBody>
                  <a:tcPr>
                    <a:solidFill>
                      <a:srgbClr val="111827"/>
                    </a:solidFill>
                  </a:tcPr>
                </a:tc>
                <a:tc>
                  <a:txBody>
                    <a:bodyPr lIns="73152"/>
                    <a:lstStyle/>
                    <a:p>
                      <a:r>
                        <a:rPr sz="1000" b="0">
                          <a:solidFill>
                            <a:srgbClr val="94A3B8"/>
                          </a:solidFill>
                          <a:latin typeface="Segoe UI"/>
                        </a:rPr>
                        <a:t>90.2% - 92.8%</a:t>
                      </a:r>
                    </a:p>
                  </a:txBody>
                  <a:tcPr>
                    <a:solidFill>
                      <a:srgbClr val="111827"/>
                    </a:solidFill>
                  </a:tcPr>
                </a:tc>
                <a:tc>
                  <a:txBody>
                    <a:bodyPr lIns="73152"/>
                    <a:lstStyle/>
                    <a:p>
                      <a:r>
                        <a:rPr sz="1000" b="0">
                          <a:solidFill>
                            <a:srgbClr val="94A3B8"/>
                          </a:solidFill>
                          <a:latin typeface="Segoe UI"/>
                        </a:rPr>
                        <a:t>Extremely High</a:t>
                      </a:r>
                    </a:p>
                  </a:txBody>
                  <a:tcPr>
                    <a:solidFill>
                      <a:srgbClr val="111827"/>
                    </a:solidFill>
                  </a:tcPr>
                </a:tc>
                <a:tc>
                  <a:txBody>
                    <a:bodyPr lIns="73152"/>
                    <a:lstStyle/>
                    <a:p>
                      <a:r>
                        <a:rPr sz="1000" b="0">
                          <a:solidFill>
                            <a:srgbClr val="94A3B8"/>
                          </a:solidFill>
                          <a:latin typeface="Segoe UI"/>
                        </a:rPr>
                        <a:t>Partial (Attention)</a:t>
                      </a:r>
                    </a:p>
                  </a:txBody>
                  <a:tcPr>
                    <a:solidFill>
                      <a:srgbClr val="111827"/>
                    </a:solidFill>
                  </a:tcPr>
                </a:tc>
                <a:tc>
                  <a:txBody>
                    <a:bodyPr lIns="73152"/>
                    <a:lstStyle/>
                    <a:p>
                      <a:r>
                        <a:rPr sz="1000" b="0">
                          <a:solidFill>
                            <a:srgbClr val="94A3B8"/>
                          </a:solidFill>
                          <a:latin typeface="Segoe UI"/>
                        </a:rPr>
                        <a:t>Very Slow (OOM)</a:t>
                      </a:r>
                    </a:p>
                  </a:txBody>
                  <a:tcPr>
                    <a:solidFill>
                      <a:srgbClr val="111827"/>
                    </a:solidFill>
                  </a:tcPr>
                </a:tc>
                <a:tc>
                  <a:txBody>
                    <a:bodyPr lIns="73152"/>
                    <a:lstStyle/>
                    <a:p>
                      <a:r>
                        <a:rPr sz="1000" b="0">
                          <a:solidFill>
                            <a:srgbClr val="94A3B8"/>
                          </a:solidFill>
                          <a:latin typeface="Segoe UI"/>
                        </a:rPr>
                        <a:t>Low (Research)</a:t>
                      </a:r>
                    </a:p>
                  </a:txBody>
                  <a:tcPr>
                    <a:solidFill>
                      <a:srgbClr val="111827"/>
                    </a:solidFill>
                  </a:tcPr>
                </a:tc>
              </a:tr>
              <a:tr h="396240">
                <a:tc>
                  <a:txBody>
                    <a:bodyPr lIns="73152"/>
                    <a:lstStyle/>
                    <a:p>
                      <a:r>
                        <a:rPr sz="1000" b="1">
                          <a:solidFill>
                            <a:srgbClr val="FFFFFF"/>
                          </a:solidFill>
                          <a:latin typeface="Segoe UI"/>
                        </a:rPr>
                        <a:t>Our System (EfficientNet Ensemble + XAI)</a:t>
                      </a:r>
                    </a:p>
                  </a:txBody>
                  <a:tcPr>
                    <a:solidFill>
                      <a:srgbClr val="1A233A"/>
                    </a:solidFill>
                  </a:tcPr>
                </a:tc>
                <a:tc>
                  <a:txBody>
                    <a:bodyPr lIns="73152"/>
                    <a:lstStyle/>
                    <a:p>
                      <a:r>
                        <a:rPr sz="1000" b="1">
                          <a:solidFill>
                            <a:srgbClr val="10B981"/>
                          </a:solidFill>
                          <a:latin typeface="Segoe UI"/>
                        </a:rPr>
                        <a:t>92.00% (Overall)</a:t>
                      </a:r>
                    </a:p>
                  </a:txBody>
                  <a:tcPr>
                    <a:solidFill>
                      <a:srgbClr val="1A233A"/>
                    </a:solidFill>
                  </a:tcPr>
                </a:tc>
                <a:tc>
                  <a:txBody>
                    <a:bodyPr lIns="73152"/>
                    <a:lstStyle/>
                    <a:p>
                      <a:r>
                        <a:rPr sz="1000" b="1">
                          <a:solidFill>
                            <a:srgbClr val="FFFFFF"/>
                          </a:solidFill>
                          <a:latin typeface="Segoe UI"/>
                        </a:rPr>
                        <a:t>Optimized (12M params)</a:t>
                      </a:r>
                    </a:p>
                  </a:txBody>
                  <a:tcPr>
                    <a:solidFill>
                      <a:srgbClr val="1A233A"/>
                    </a:solidFill>
                  </a:tcPr>
                </a:tc>
                <a:tc>
                  <a:txBody>
                    <a:bodyPr lIns="73152"/>
                    <a:lstStyle/>
                    <a:p>
                      <a:r>
                        <a:rPr sz="1000" b="1">
                          <a:solidFill>
                            <a:srgbClr val="FFFFFF"/>
                          </a:solidFill>
                          <a:latin typeface="Segoe UI"/>
                        </a:rPr>
                        <a:t>Full (Grad-CAM Heatmaps)</a:t>
                      </a:r>
                    </a:p>
                  </a:txBody>
                  <a:tcPr>
                    <a:solidFill>
                      <a:srgbClr val="1A233A"/>
                    </a:solidFill>
                  </a:tcPr>
                </a:tc>
                <a:tc>
                  <a:txBody>
                    <a:bodyPr lIns="73152"/>
                    <a:lstStyle/>
                    <a:p>
                      <a:r>
                        <a:rPr sz="1000" b="1">
                          <a:solidFill>
                            <a:srgbClr val="FFFFFF"/>
                          </a:solidFill>
                          <a:latin typeface="Segoe UI"/>
                        </a:rPr>
                        <a:t>High (Sampled FPS)</a:t>
                      </a:r>
                    </a:p>
                  </a:txBody>
                  <a:tcPr>
                    <a:solidFill>
                      <a:srgbClr val="1A233A"/>
                    </a:solidFill>
                  </a:tcPr>
                </a:tc>
                <a:tc>
                  <a:txBody>
                    <a:bodyPr lIns="73152"/>
                    <a:lstStyle/>
                    <a:p>
                      <a:r>
                        <a:rPr sz="1000" b="1">
                          <a:solidFill>
                            <a:srgbClr val="FFFFFF"/>
                          </a:solidFill>
                          <a:latin typeface="Segoe UI"/>
                        </a:rPr>
                        <a:t>Full (Auto PDF Dossier)</a:t>
                      </a:r>
                    </a:p>
                  </a:txBody>
                  <a:tcPr>
                    <a:solidFill>
                      <a:srgbClr val="1A233A"/>
                    </a:solidFill>
                  </a:tcPr>
                </a:tc>
              </a:tr>
            </a:tbl>
          </a:graphicData>
        </a:graphic>
      </p:graphicFrame>
      <p:sp>
        <p:nvSpPr>
          <p:cNvPr id="11" name="Rounded Rectangle 10"/>
          <p:cNvSpPr/>
          <p:nvPr/>
        </p:nvSpPr>
        <p:spPr>
          <a:xfrm>
            <a:off x="548640" y="4069080"/>
            <a:ext cx="11064240" cy="23774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069080"/>
            <a:ext cx="11064240" cy="254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206240"/>
            <a:ext cx="10515600" cy="274320"/>
          </a:xfrm>
          <a:prstGeom prst="rect">
            <a:avLst/>
          </a:prstGeom>
          <a:noFill/>
        </p:spPr>
        <p:txBody>
          <a:bodyPr wrap="square" lIns="45720" rIns="45720">
            <a:spAutoFit/>
          </a:bodyPr>
          <a:lstStyle/>
          <a:p>
            <a:pPr algn="l"/>
            <a:r>
              <a:rPr sz="1300" b="1" i="0">
                <a:solidFill>
                  <a:srgbClr val="F59E0B"/>
                </a:solidFill>
                <a:latin typeface="Segoe UI"/>
              </a:rPr>
              <a:t>CRITICAL RESEARCH Gaps Addressed by This Project</a:t>
            </a:r>
          </a:p>
        </p:txBody>
      </p:sp>
      <p:sp>
        <p:nvSpPr>
          <p:cNvPr id="14" name="TextBox 13"/>
          <p:cNvSpPr txBox="1"/>
          <p:nvPr/>
        </p:nvSpPr>
        <p:spPr>
          <a:xfrm>
            <a:off x="777240" y="4526280"/>
            <a:ext cx="10607040" cy="1783080"/>
          </a:xfrm>
          <a:prstGeom prst="rect">
            <a:avLst/>
          </a:prstGeom>
          <a:noFill/>
        </p:spPr>
        <p:txBody>
          <a:bodyPr wrap="square" lIns="45720" rIns="45720">
            <a:spAutoFit/>
          </a:bodyPr>
          <a:lstStyle/>
          <a:p>
            <a:pPr>
              <a:spcBef>
                <a:spcPts val="500"/>
              </a:spcBef>
            </a:pPr>
            <a:r>
              <a:rPr sz="1100" b="1">
                <a:solidFill>
                  <a:srgbClr val="06B6D4"/>
                </a:solidFill>
                <a:latin typeface="Segoe UI"/>
              </a:rPr>
              <a:t>•  </a:t>
            </a:r>
            <a:r>
              <a:rPr sz="1100">
                <a:solidFill>
                  <a:srgbClr val="94A3B8"/>
                </a:solidFill>
                <a:latin typeface="Segoe UI"/>
              </a:rPr>
              <a:t>Gap 1: The 'Black-Box' Legal Dilemma — Conventional models provide no spatial visual reasoning. Our system integrates Grad-CAM class activation maps that identify exactly which facial regions (mouth boundary, eye blend, hairline) triggered the deepfake classification.</a:t>
            </a:r>
          </a:p>
          <a:p>
            <a:pPr>
              <a:spcBef>
                <a:spcPts val="500"/>
              </a:spcBef>
            </a:pPr>
            <a:r>
              <a:rPr sz="1100" b="1">
                <a:solidFill>
                  <a:srgbClr val="06B6D4"/>
                </a:solidFill>
                <a:latin typeface="Segoe UI"/>
              </a:rPr>
              <a:t>•  </a:t>
            </a:r>
            <a:r>
              <a:rPr sz="1100">
                <a:solidFill>
                  <a:srgbClr val="94A3B8"/>
                </a:solidFill>
                <a:latin typeface="Segoe UI"/>
              </a:rPr>
              <a:t>Gap 2: Disconnect Between AI Research and Forensic Practice — Most literature outputs a terminal scalar probability. Our platform automatically synthesizes an ISO-standardized PDF investigation dossier with cryptographic metadata, timestamps, and confidence telemetry.</a:t>
            </a:r>
          </a:p>
          <a:p>
            <a:pPr>
              <a:spcBef>
                <a:spcPts val="500"/>
              </a:spcBef>
            </a:pPr>
            <a:r>
              <a:rPr sz="1100" b="1">
                <a:solidFill>
                  <a:srgbClr val="06B6D4"/>
                </a:solidFill>
                <a:latin typeface="Segoe UI"/>
              </a:rPr>
              <a:t>•  </a:t>
            </a:r>
            <a:r>
              <a:rPr sz="1100">
                <a:solidFill>
                  <a:srgbClr val="94A3B8"/>
                </a:solidFill>
                <a:latin typeface="Segoe UI"/>
              </a:rPr>
              <a:t>Gap 3: Compute Inefficiency in Video Forensics — Existing transformer approaches cause GPU out-of-memory errors on lengthy videos. Our decimation frame sampling engine achieves comprehensive temporal anomaly detection at real-time speeds.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20040"/>
            <a:ext cx="2560320" cy="292608"/>
          </a:xfrm>
          <a:prstGeom prst="roundRect">
            <a:avLst/>
          </a:prstGeom>
          <a:solidFill>
            <a:srgbClr val="11182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47472"/>
            <a:ext cx="2560320" cy="274320"/>
          </a:xfrm>
          <a:prstGeom prst="rect">
            <a:avLst/>
          </a:prstGeom>
          <a:noFill/>
        </p:spPr>
        <p:txBody>
          <a:bodyPr wrap="square" lIns="45720" rIns="45720">
            <a:spAutoFit/>
          </a:bodyPr>
          <a:lstStyle/>
          <a:p>
            <a:pPr algn="ctr"/>
            <a:r>
              <a:rPr sz="1000" b="1" i="0">
                <a:solidFill>
                  <a:srgbClr val="10B981"/>
                </a:solidFill>
                <a:latin typeface="Segoe UI"/>
              </a:rPr>
              <a:t>3. ADVANTAGES</a:t>
            </a:r>
          </a:p>
        </p:txBody>
      </p:sp>
      <p:sp>
        <p:nvSpPr>
          <p:cNvPr id="6" name="Rounded Rectangle 5"/>
          <p:cNvSpPr/>
          <p:nvPr/>
        </p:nvSpPr>
        <p:spPr>
          <a:xfrm>
            <a:off x="11064240" y="320040"/>
            <a:ext cx="640080" cy="292608"/>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47472"/>
            <a:ext cx="640080" cy="274320"/>
          </a:xfrm>
          <a:prstGeom prst="rect">
            <a:avLst/>
          </a:prstGeom>
          <a:noFill/>
        </p:spPr>
        <p:txBody>
          <a:bodyPr wrap="square" lIns="45720" rIns="45720">
            <a:spAutoFit/>
          </a:bodyPr>
          <a:lstStyle/>
          <a:p>
            <a:pPr algn="ctr"/>
            <a:r>
              <a:rPr sz="1100" b="1" i="0">
                <a:solidFill>
                  <a:srgbClr val="94A3B8"/>
                </a:solidFill>
                <a:latin typeface="Segoe UI"/>
              </a:rPr>
              <a:t>07</a:t>
            </a:r>
          </a:p>
        </p:txBody>
      </p:sp>
      <p:sp>
        <p:nvSpPr>
          <p:cNvPr id="8" name="TextBox 7"/>
          <p:cNvSpPr txBox="1"/>
          <p:nvPr/>
        </p:nvSpPr>
        <p:spPr>
          <a:xfrm>
            <a:off x="548640" y="685800"/>
            <a:ext cx="10515600" cy="502920"/>
          </a:xfrm>
          <a:prstGeom prst="rect">
            <a:avLst/>
          </a:prstGeom>
          <a:noFill/>
        </p:spPr>
        <p:txBody>
          <a:bodyPr wrap="square" lIns="45720" rIns="45720">
            <a:spAutoFit/>
          </a:bodyPr>
          <a:lstStyle/>
          <a:p>
            <a:pPr algn="l"/>
            <a:r>
              <a:rPr sz="2400" b="1" i="0">
                <a:solidFill>
                  <a:srgbClr val="F8FAFC"/>
                </a:solidFill>
                <a:latin typeface="Segoe UI"/>
              </a:rPr>
              <a:t>Key Advantages &amp; Technological Innovations</a:t>
            </a:r>
          </a:p>
        </p:txBody>
      </p:sp>
      <p:sp>
        <p:nvSpPr>
          <p:cNvPr id="9" name="Rectangle 8"/>
          <p:cNvSpPr/>
          <p:nvPr/>
        </p:nvSpPr>
        <p:spPr>
          <a:xfrm>
            <a:off x="548640" y="1234440"/>
            <a:ext cx="1115568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417320"/>
            <a:ext cx="3520440" cy="23774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3520440" cy="381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85800" y="1581912"/>
            <a:ext cx="2011680" cy="256032"/>
          </a:xfrm>
          <a:prstGeom prst="roundRect">
            <a:avLst/>
          </a:prstGeom>
          <a:solidFill>
            <a:srgbClr val="1A233A"/>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1600200"/>
            <a:ext cx="2011680" cy="219456"/>
          </a:xfrm>
          <a:prstGeom prst="rect">
            <a:avLst/>
          </a:prstGeom>
          <a:noFill/>
        </p:spPr>
        <p:txBody>
          <a:bodyPr wrap="square" lIns="45720" rIns="45720">
            <a:spAutoFit/>
          </a:bodyPr>
          <a:lstStyle/>
          <a:p>
            <a:pPr algn="ctr"/>
            <a:r>
              <a:rPr sz="900" b="1" i="0">
                <a:solidFill>
                  <a:srgbClr val="3B82F6"/>
                </a:solidFill>
                <a:latin typeface="Segoe UI"/>
              </a:rPr>
              <a:t>EFFICIENTNET-B3</a:t>
            </a:r>
          </a:p>
        </p:txBody>
      </p:sp>
      <p:sp>
        <p:nvSpPr>
          <p:cNvPr id="14" name="TextBox 13"/>
          <p:cNvSpPr txBox="1"/>
          <p:nvPr/>
        </p:nvSpPr>
        <p:spPr>
          <a:xfrm>
            <a:off x="685800" y="1920240"/>
            <a:ext cx="3246120" cy="365760"/>
          </a:xfrm>
          <a:prstGeom prst="rect">
            <a:avLst/>
          </a:prstGeom>
          <a:noFill/>
        </p:spPr>
        <p:txBody>
          <a:bodyPr wrap="square" lIns="45720" rIns="45720">
            <a:spAutoFit/>
          </a:bodyPr>
          <a:lstStyle/>
          <a:p>
            <a:pPr algn="l"/>
            <a:r>
              <a:rPr sz="1400" b="1" i="0">
                <a:solidFill>
                  <a:srgbClr val="F8FAFC"/>
                </a:solidFill>
                <a:latin typeface="Segoe UI"/>
              </a:rPr>
              <a:t>Compound Scaling Efficiency</a:t>
            </a:r>
          </a:p>
        </p:txBody>
      </p:sp>
      <p:sp>
        <p:nvSpPr>
          <p:cNvPr id="15" name="Rectangle 14"/>
          <p:cNvSpPr/>
          <p:nvPr/>
        </p:nvSpPr>
        <p:spPr>
          <a:xfrm>
            <a:off x="685800" y="2331720"/>
            <a:ext cx="3246120" cy="635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423160"/>
            <a:ext cx="3246120" cy="1234440"/>
          </a:xfrm>
          <a:prstGeom prst="rect">
            <a:avLst/>
          </a:prstGeom>
          <a:noFill/>
        </p:spPr>
        <p:txBody>
          <a:bodyPr wrap="square" lIns="45720" rIns="45720">
            <a:spAutoFit/>
          </a:bodyPr>
          <a:lstStyle/>
          <a:p>
            <a:pPr algn="l"/>
            <a:r>
              <a:rPr sz="1100" b="0" i="0">
                <a:solidFill>
                  <a:srgbClr val="94A3B8"/>
                </a:solidFill>
                <a:latin typeface="Segoe UI"/>
              </a:rPr>
              <a:t>Balances depth, width, and resolution scaling uniformly, delivering state-of-the-art accuracy with only ~12M parameters (vs 25M+ in ResNet-50 and 86M+ in ViT), reducing memory overhead.</a:t>
            </a:r>
          </a:p>
        </p:txBody>
      </p:sp>
      <p:sp>
        <p:nvSpPr>
          <p:cNvPr id="17" name="Rounded Rectangle 16"/>
          <p:cNvSpPr/>
          <p:nvPr/>
        </p:nvSpPr>
        <p:spPr>
          <a:xfrm>
            <a:off x="4297680" y="1417320"/>
            <a:ext cx="3520440" cy="23774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97680" y="1417320"/>
            <a:ext cx="352044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434840" y="1581912"/>
            <a:ext cx="2011680" cy="256032"/>
          </a:xfrm>
          <a:prstGeom prst="roundRect">
            <a:avLst/>
          </a:prstGeom>
          <a:solidFill>
            <a:srgbClr val="1A233A"/>
          </a:solidFill>
          <a:ln w="63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4840" y="1600200"/>
            <a:ext cx="2011680" cy="219456"/>
          </a:xfrm>
          <a:prstGeom prst="rect">
            <a:avLst/>
          </a:prstGeom>
          <a:noFill/>
        </p:spPr>
        <p:txBody>
          <a:bodyPr wrap="square" lIns="45720" rIns="45720">
            <a:spAutoFit/>
          </a:bodyPr>
          <a:lstStyle/>
          <a:p>
            <a:pPr algn="ctr"/>
            <a:r>
              <a:rPr sz="900" b="1" i="0">
                <a:solidFill>
                  <a:srgbClr val="06B6D4"/>
                </a:solidFill>
                <a:latin typeface="Segoe UI"/>
              </a:rPr>
              <a:t>COURTROOM VERIFIABILITY</a:t>
            </a:r>
          </a:p>
        </p:txBody>
      </p:sp>
      <p:sp>
        <p:nvSpPr>
          <p:cNvPr id="21" name="TextBox 20"/>
          <p:cNvSpPr txBox="1"/>
          <p:nvPr/>
        </p:nvSpPr>
        <p:spPr>
          <a:xfrm>
            <a:off x="4434840" y="1920240"/>
            <a:ext cx="3246120" cy="365760"/>
          </a:xfrm>
          <a:prstGeom prst="rect">
            <a:avLst/>
          </a:prstGeom>
          <a:noFill/>
        </p:spPr>
        <p:txBody>
          <a:bodyPr wrap="square" lIns="45720" rIns="45720">
            <a:spAutoFit/>
          </a:bodyPr>
          <a:lstStyle/>
          <a:p>
            <a:pPr algn="l"/>
            <a:r>
              <a:rPr sz="1400" b="1" i="0">
                <a:solidFill>
                  <a:srgbClr val="F8FAFC"/>
                </a:solidFill>
                <a:latin typeface="Segoe UI"/>
              </a:rPr>
              <a:t>Explainable AI (Grad-CAM)</a:t>
            </a:r>
          </a:p>
        </p:txBody>
      </p:sp>
      <p:sp>
        <p:nvSpPr>
          <p:cNvPr id="22" name="Rectangle 21"/>
          <p:cNvSpPr/>
          <p:nvPr/>
        </p:nvSpPr>
        <p:spPr>
          <a:xfrm>
            <a:off x="4434840" y="2331720"/>
            <a:ext cx="3246120" cy="635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4840" y="2423160"/>
            <a:ext cx="3246120" cy="1234440"/>
          </a:xfrm>
          <a:prstGeom prst="rect">
            <a:avLst/>
          </a:prstGeom>
          <a:noFill/>
        </p:spPr>
        <p:txBody>
          <a:bodyPr wrap="square" lIns="45720" rIns="45720">
            <a:spAutoFit/>
          </a:bodyPr>
          <a:lstStyle/>
          <a:p>
            <a:pPr algn="l"/>
            <a:r>
              <a:rPr sz="1100" b="0" i="0">
                <a:solidFill>
                  <a:srgbClr val="94A3B8"/>
                </a:solidFill>
                <a:latin typeface="Segoe UI"/>
              </a:rPr>
              <a:t>Extracts gradients from the final convolutional layer to generate transparent visual heatmaps, pinpointing blending artifacts, unnatural skin boundaries, and synthetic textures.</a:t>
            </a:r>
          </a:p>
        </p:txBody>
      </p:sp>
      <p:sp>
        <p:nvSpPr>
          <p:cNvPr id="24" name="Rounded Rectangle 23"/>
          <p:cNvSpPr/>
          <p:nvPr/>
        </p:nvSpPr>
        <p:spPr>
          <a:xfrm>
            <a:off x="8046720" y="1417320"/>
            <a:ext cx="3520440" cy="23774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46720" y="1417320"/>
            <a:ext cx="3520440" cy="381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183880" y="1581912"/>
            <a:ext cx="2011680" cy="256032"/>
          </a:xfrm>
          <a:prstGeom prst="roundRect">
            <a:avLst/>
          </a:prstGeom>
          <a:solidFill>
            <a:srgbClr val="1A233A"/>
          </a:solidFill>
          <a:ln w="63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83880" y="1600200"/>
            <a:ext cx="2011680" cy="219456"/>
          </a:xfrm>
          <a:prstGeom prst="rect">
            <a:avLst/>
          </a:prstGeom>
          <a:noFill/>
        </p:spPr>
        <p:txBody>
          <a:bodyPr wrap="square" lIns="45720" rIns="45720">
            <a:spAutoFit/>
          </a:bodyPr>
          <a:lstStyle/>
          <a:p>
            <a:pPr algn="ctr"/>
            <a:r>
              <a:rPr sz="900" b="1" i="0">
                <a:solidFill>
                  <a:srgbClr val="8B5CF6"/>
                </a:solidFill>
                <a:latin typeface="Segoe UI"/>
              </a:rPr>
              <a:t>SPATIAL + FREQUENCY ANALYSIS</a:t>
            </a:r>
          </a:p>
        </p:txBody>
      </p:sp>
      <p:sp>
        <p:nvSpPr>
          <p:cNvPr id="28" name="TextBox 27"/>
          <p:cNvSpPr txBox="1"/>
          <p:nvPr/>
        </p:nvSpPr>
        <p:spPr>
          <a:xfrm>
            <a:off x="8183880" y="1920240"/>
            <a:ext cx="3246120" cy="365760"/>
          </a:xfrm>
          <a:prstGeom prst="rect">
            <a:avLst/>
          </a:prstGeom>
          <a:noFill/>
        </p:spPr>
        <p:txBody>
          <a:bodyPr wrap="square" lIns="45720" rIns="45720">
            <a:spAutoFit/>
          </a:bodyPr>
          <a:lstStyle/>
          <a:p>
            <a:pPr algn="l"/>
            <a:r>
              <a:rPr sz="1400" b="1" i="0">
                <a:solidFill>
                  <a:srgbClr val="F8FAFC"/>
                </a:solidFill>
                <a:latin typeface="Segoe UI"/>
              </a:rPr>
              <a:t>Dual-Stream Frequency Engine</a:t>
            </a:r>
          </a:p>
        </p:txBody>
      </p:sp>
      <p:sp>
        <p:nvSpPr>
          <p:cNvPr id="29" name="Rectangle 28"/>
          <p:cNvSpPr/>
          <p:nvPr/>
        </p:nvSpPr>
        <p:spPr>
          <a:xfrm>
            <a:off x="8183880" y="2331720"/>
            <a:ext cx="3246120" cy="635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83880" y="2423160"/>
            <a:ext cx="3246120" cy="1234440"/>
          </a:xfrm>
          <a:prstGeom prst="rect">
            <a:avLst/>
          </a:prstGeom>
          <a:noFill/>
        </p:spPr>
        <p:txBody>
          <a:bodyPr wrap="square" lIns="45720" rIns="45720">
            <a:spAutoFit/>
          </a:bodyPr>
          <a:lstStyle/>
          <a:p>
            <a:pPr algn="l"/>
            <a:r>
              <a:rPr sz="1100" b="0" i="0">
                <a:solidFill>
                  <a:srgbClr val="94A3B8"/>
                </a:solidFill>
                <a:latin typeface="Segoe UI"/>
              </a:rPr>
              <a:t>Augments spatial RGB analysis with high-pass 5x5 convolution residuals, detecting compression disparities and re-sampling frequency signatures that escape standard vision models.</a:t>
            </a:r>
          </a:p>
        </p:txBody>
      </p:sp>
      <p:sp>
        <p:nvSpPr>
          <p:cNvPr id="31" name="Rounded Rectangle 30"/>
          <p:cNvSpPr/>
          <p:nvPr/>
        </p:nvSpPr>
        <p:spPr>
          <a:xfrm>
            <a:off x="548640" y="4023360"/>
            <a:ext cx="3520440" cy="23774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4023360"/>
            <a:ext cx="352044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85800" y="4187952"/>
            <a:ext cx="2011680" cy="256032"/>
          </a:xfrm>
          <a:prstGeom prst="roundRect">
            <a:avLst/>
          </a:prstGeom>
          <a:solidFill>
            <a:srgbClr val="1A233A"/>
          </a:solidFill>
          <a:ln w="63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206240"/>
            <a:ext cx="2011680" cy="219456"/>
          </a:xfrm>
          <a:prstGeom prst="rect">
            <a:avLst/>
          </a:prstGeom>
          <a:noFill/>
        </p:spPr>
        <p:txBody>
          <a:bodyPr wrap="square" lIns="45720" rIns="45720">
            <a:spAutoFit/>
          </a:bodyPr>
          <a:lstStyle/>
          <a:p>
            <a:pPr algn="ctr"/>
            <a:r>
              <a:rPr sz="900" b="1" i="0">
                <a:solidFill>
                  <a:srgbClr val="10B981"/>
                </a:solidFill>
                <a:latin typeface="Segoe UI"/>
              </a:rPr>
              <a:t>IMAGE &amp; VIDEO FORENSICS</a:t>
            </a:r>
          </a:p>
        </p:txBody>
      </p:sp>
      <p:sp>
        <p:nvSpPr>
          <p:cNvPr id="35" name="TextBox 34"/>
          <p:cNvSpPr txBox="1"/>
          <p:nvPr/>
        </p:nvSpPr>
        <p:spPr>
          <a:xfrm>
            <a:off x="685800" y="4526280"/>
            <a:ext cx="3246120" cy="365760"/>
          </a:xfrm>
          <a:prstGeom prst="rect">
            <a:avLst/>
          </a:prstGeom>
          <a:noFill/>
        </p:spPr>
        <p:txBody>
          <a:bodyPr wrap="square" lIns="45720" rIns="45720">
            <a:spAutoFit/>
          </a:bodyPr>
          <a:lstStyle/>
          <a:p>
            <a:pPr algn="l"/>
            <a:r>
              <a:rPr sz="1400" b="1" i="0">
                <a:solidFill>
                  <a:srgbClr val="F8FAFC"/>
                </a:solidFill>
                <a:latin typeface="Segoe UI"/>
              </a:rPr>
              <a:t>Unified Multi-Modal Pipeline</a:t>
            </a:r>
          </a:p>
        </p:txBody>
      </p:sp>
      <p:sp>
        <p:nvSpPr>
          <p:cNvPr id="36" name="Rectangle 35"/>
          <p:cNvSpPr/>
          <p:nvPr/>
        </p:nvSpPr>
        <p:spPr>
          <a:xfrm>
            <a:off x="685800" y="4937760"/>
            <a:ext cx="3246120" cy="635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5029200"/>
            <a:ext cx="3246120" cy="1234440"/>
          </a:xfrm>
          <a:prstGeom prst="rect">
            <a:avLst/>
          </a:prstGeom>
          <a:noFill/>
        </p:spPr>
        <p:txBody>
          <a:bodyPr wrap="square" lIns="45720" rIns="45720">
            <a:spAutoFit/>
          </a:bodyPr>
          <a:lstStyle/>
          <a:p>
            <a:pPr algn="l"/>
            <a:r>
              <a:rPr sz="1100" b="0" i="0">
                <a:solidFill>
                  <a:srgbClr val="94A3B8"/>
                </a:solidFill>
                <a:latin typeface="Segoe UI"/>
              </a:rPr>
              <a:t>Uniformly digests high-res static images and sequential video clips. Employs adaptive frame decimation and statistical confidence averaging across temporal sequences.</a:t>
            </a:r>
          </a:p>
        </p:txBody>
      </p:sp>
      <p:sp>
        <p:nvSpPr>
          <p:cNvPr id="38" name="Rounded Rectangle 37"/>
          <p:cNvSpPr/>
          <p:nvPr/>
        </p:nvSpPr>
        <p:spPr>
          <a:xfrm>
            <a:off x="4297680" y="4023360"/>
            <a:ext cx="3520440" cy="23774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297680" y="4023360"/>
            <a:ext cx="3520440" cy="3810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4434840" y="4187952"/>
            <a:ext cx="2011680" cy="256032"/>
          </a:xfrm>
          <a:prstGeom prst="roundRect">
            <a:avLst/>
          </a:prstGeom>
          <a:solidFill>
            <a:srgbClr val="1A233A"/>
          </a:solidFill>
          <a:ln w="63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34840" y="4206240"/>
            <a:ext cx="2011680" cy="219456"/>
          </a:xfrm>
          <a:prstGeom prst="rect">
            <a:avLst/>
          </a:prstGeom>
          <a:noFill/>
        </p:spPr>
        <p:txBody>
          <a:bodyPr wrap="square" lIns="45720" rIns="45720">
            <a:spAutoFit/>
          </a:bodyPr>
          <a:lstStyle/>
          <a:p>
            <a:pPr algn="ctr"/>
            <a:r>
              <a:rPr sz="900" b="1" i="0">
                <a:solidFill>
                  <a:srgbClr val="F43F5E"/>
                </a:solidFill>
                <a:latin typeface="Segoe UI"/>
              </a:rPr>
              <a:t>TAMPER-EVIDENT PDF REPORTS</a:t>
            </a:r>
          </a:p>
        </p:txBody>
      </p:sp>
      <p:sp>
        <p:nvSpPr>
          <p:cNvPr id="42" name="TextBox 41"/>
          <p:cNvSpPr txBox="1"/>
          <p:nvPr/>
        </p:nvSpPr>
        <p:spPr>
          <a:xfrm>
            <a:off x="4434840" y="4526280"/>
            <a:ext cx="3246120" cy="365760"/>
          </a:xfrm>
          <a:prstGeom prst="rect">
            <a:avLst/>
          </a:prstGeom>
          <a:noFill/>
        </p:spPr>
        <p:txBody>
          <a:bodyPr wrap="square" lIns="45720" rIns="45720">
            <a:spAutoFit/>
          </a:bodyPr>
          <a:lstStyle/>
          <a:p>
            <a:pPr algn="l"/>
            <a:r>
              <a:rPr sz="1400" b="1" i="0">
                <a:solidFill>
                  <a:srgbClr val="F8FAFC"/>
                </a:solidFill>
                <a:latin typeface="Segoe UI"/>
              </a:rPr>
              <a:t>Automated Evidence Dossiers</a:t>
            </a:r>
          </a:p>
        </p:txBody>
      </p:sp>
      <p:sp>
        <p:nvSpPr>
          <p:cNvPr id="43" name="Rectangle 42"/>
          <p:cNvSpPr/>
          <p:nvPr/>
        </p:nvSpPr>
        <p:spPr>
          <a:xfrm>
            <a:off x="4434840" y="4937760"/>
            <a:ext cx="3246120" cy="635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34840" y="5029200"/>
            <a:ext cx="3246120" cy="1234440"/>
          </a:xfrm>
          <a:prstGeom prst="rect">
            <a:avLst/>
          </a:prstGeom>
          <a:noFill/>
        </p:spPr>
        <p:txBody>
          <a:bodyPr wrap="square" lIns="45720" rIns="45720">
            <a:spAutoFit/>
          </a:bodyPr>
          <a:lstStyle/>
          <a:p>
            <a:pPr algn="l"/>
            <a:r>
              <a:rPr sz="1100" b="0" i="0">
                <a:solidFill>
                  <a:srgbClr val="94A3B8"/>
                </a:solidFill>
                <a:latin typeface="Segoe UI"/>
              </a:rPr>
              <a:t>Built-in ReportLab engine compiles case metadata, examiner identity, input snapshots, Grad-CAM heatmaps, and confidence breakdowns into ready-to-file legal PDF documents.</a:t>
            </a:r>
          </a:p>
        </p:txBody>
      </p:sp>
      <p:sp>
        <p:nvSpPr>
          <p:cNvPr id="45" name="Rounded Rectangle 44"/>
          <p:cNvSpPr/>
          <p:nvPr/>
        </p:nvSpPr>
        <p:spPr>
          <a:xfrm>
            <a:off x="8046720" y="4023360"/>
            <a:ext cx="3520440" cy="23774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046720" y="4023360"/>
            <a:ext cx="3520440" cy="381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8183880" y="4187952"/>
            <a:ext cx="2011680" cy="256032"/>
          </a:xfrm>
          <a:prstGeom prst="roundRect">
            <a:avLst/>
          </a:prstGeom>
          <a:solidFill>
            <a:srgbClr val="1A233A"/>
          </a:solidFill>
          <a:ln w="63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183880" y="4206240"/>
            <a:ext cx="2011680" cy="219456"/>
          </a:xfrm>
          <a:prstGeom prst="rect">
            <a:avLst/>
          </a:prstGeom>
          <a:noFill/>
        </p:spPr>
        <p:txBody>
          <a:bodyPr wrap="square" lIns="45720" rIns="45720">
            <a:spAutoFit/>
          </a:bodyPr>
          <a:lstStyle/>
          <a:p>
            <a:pPr algn="ctr"/>
            <a:r>
              <a:rPr sz="900" b="1" i="0">
                <a:solidFill>
                  <a:srgbClr val="F59E0B"/>
                </a:solidFill>
                <a:latin typeface="Segoe UI"/>
              </a:rPr>
              <a:t>HIGH-THROUGHPUT INTEGRATION</a:t>
            </a:r>
          </a:p>
        </p:txBody>
      </p:sp>
      <p:sp>
        <p:nvSpPr>
          <p:cNvPr id="49" name="TextBox 48"/>
          <p:cNvSpPr txBox="1"/>
          <p:nvPr/>
        </p:nvSpPr>
        <p:spPr>
          <a:xfrm>
            <a:off x="8183880" y="4526280"/>
            <a:ext cx="3246120" cy="365760"/>
          </a:xfrm>
          <a:prstGeom prst="rect">
            <a:avLst/>
          </a:prstGeom>
          <a:noFill/>
        </p:spPr>
        <p:txBody>
          <a:bodyPr wrap="square" lIns="45720" rIns="45720">
            <a:spAutoFit/>
          </a:bodyPr>
          <a:lstStyle/>
          <a:p>
            <a:pPr algn="l"/>
            <a:r>
              <a:rPr sz="1400" b="1" i="0">
                <a:solidFill>
                  <a:srgbClr val="F8FAFC"/>
                </a:solidFill>
                <a:latin typeface="Segoe UI"/>
              </a:rPr>
              <a:t>Enterprise-Ready REST API</a:t>
            </a:r>
          </a:p>
        </p:txBody>
      </p:sp>
      <p:sp>
        <p:nvSpPr>
          <p:cNvPr id="50" name="Rectangle 49"/>
          <p:cNvSpPr/>
          <p:nvPr/>
        </p:nvSpPr>
        <p:spPr>
          <a:xfrm>
            <a:off x="8183880" y="4937760"/>
            <a:ext cx="3246120" cy="635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183880" y="5029200"/>
            <a:ext cx="3246120" cy="1234440"/>
          </a:xfrm>
          <a:prstGeom prst="rect">
            <a:avLst/>
          </a:prstGeom>
          <a:noFill/>
        </p:spPr>
        <p:txBody>
          <a:bodyPr wrap="square" lIns="45720" rIns="45720">
            <a:spAutoFit/>
          </a:bodyPr>
          <a:lstStyle/>
          <a:p>
            <a:pPr algn="l"/>
            <a:r>
              <a:rPr sz="1100" b="0" i="0">
                <a:solidFill>
                  <a:srgbClr val="94A3B8"/>
                </a:solidFill>
                <a:latin typeface="Segoe UI"/>
              </a:rPr>
              <a:t>Features production Flask REST endpoints (`/api/predict`) with JSON payloads, enabling seamless integration into corporate SOCs, law enforcement backends, and newsroom pipelines.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20040"/>
            <a:ext cx="2560320" cy="292608"/>
          </a:xfrm>
          <a:prstGeom prst="roundRect">
            <a:avLst/>
          </a:prstGeom>
          <a:solidFill>
            <a:srgbClr val="11182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47472"/>
            <a:ext cx="2560320" cy="274320"/>
          </a:xfrm>
          <a:prstGeom prst="rect">
            <a:avLst/>
          </a:prstGeom>
          <a:noFill/>
        </p:spPr>
        <p:txBody>
          <a:bodyPr wrap="square" lIns="45720" rIns="45720">
            <a:spAutoFit/>
          </a:bodyPr>
          <a:lstStyle/>
          <a:p>
            <a:pPr algn="ctr"/>
            <a:r>
              <a:rPr sz="1000" b="1" i="0">
                <a:solidFill>
                  <a:srgbClr val="F59E0B"/>
                </a:solidFill>
                <a:latin typeface="Segoe UI"/>
              </a:rPr>
              <a:t>4. REQUIREMENTS</a:t>
            </a:r>
          </a:p>
        </p:txBody>
      </p:sp>
      <p:sp>
        <p:nvSpPr>
          <p:cNvPr id="6" name="Rounded Rectangle 5"/>
          <p:cNvSpPr/>
          <p:nvPr/>
        </p:nvSpPr>
        <p:spPr>
          <a:xfrm>
            <a:off x="11064240" y="320040"/>
            <a:ext cx="640080" cy="292608"/>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47472"/>
            <a:ext cx="640080" cy="274320"/>
          </a:xfrm>
          <a:prstGeom prst="rect">
            <a:avLst/>
          </a:prstGeom>
          <a:noFill/>
        </p:spPr>
        <p:txBody>
          <a:bodyPr wrap="square" lIns="45720" rIns="45720">
            <a:spAutoFit/>
          </a:bodyPr>
          <a:lstStyle/>
          <a:p>
            <a:pPr algn="ctr"/>
            <a:r>
              <a:rPr sz="1100" b="1" i="0">
                <a:solidFill>
                  <a:srgbClr val="94A3B8"/>
                </a:solidFill>
                <a:latin typeface="Segoe UI"/>
              </a:rPr>
              <a:t>08</a:t>
            </a:r>
          </a:p>
        </p:txBody>
      </p:sp>
      <p:sp>
        <p:nvSpPr>
          <p:cNvPr id="8" name="TextBox 7"/>
          <p:cNvSpPr txBox="1"/>
          <p:nvPr/>
        </p:nvSpPr>
        <p:spPr>
          <a:xfrm>
            <a:off x="548640" y="685800"/>
            <a:ext cx="10515600" cy="502920"/>
          </a:xfrm>
          <a:prstGeom prst="rect">
            <a:avLst/>
          </a:prstGeom>
          <a:noFill/>
        </p:spPr>
        <p:txBody>
          <a:bodyPr wrap="square" lIns="45720" rIns="45720">
            <a:spAutoFit/>
          </a:bodyPr>
          <a:lstStyle/>
          <a:p>
            <a:pPr algn="l"/>
            <a:r>
              <a:rPr sz="2400" b="1" i="0">
                <a:solidFill>
                  <a:srgbClr val="F8FAFC"/>
                </a:solidFill>
                <a:latin typeface="Segoe UI"/>
              </a:rPr>
              <a:t>Software Environment &amp; Hardware Specification Matrix</a:t>
            </a:r>
          </a:p>
        </p:txBody>
      </p:sp>
      <p:sp>
        <p:nvSpPr>
          <p:cNvPr id="9" name="Rectangle 8"/>
          <p:cNvSpPr/>
          <p:nvPr/>
        </p:nvSpPr>
        <p:spPr>
          <a:xfrm>
            <a:off x="548640" y="1234440"/>
            <a:ext cx="1115568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417320"/>
            <a:ext cx="5440680" cy="502920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544068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600200"/>
            <a:ext cx="4937760" cy="320040"/>
          </a:xfrm>
          <a:prstGeom prst="rect">
            <a:avLst/>
          </a:prstGeom>
          <a:noFill/>
        </p:spPr>
        <p:txBody>
          <a:bodyPr wrap="square" lIns="45720" rIns="45720">
            <a:spAutoFit/>
          </a:bodyPr>
          <a:lstStyle/>
          <a:p>
            <a:pPr algn="l"/>
            <a:r>
              <a:rPr sz="1400" b="1" i="0">
                <a:solidFill>
                  <a:srgbClr val="06B6D4"/>
                </a:solidFill>
                <a:latin typeface="Segoe UI"/>
              </a:rPr>
              <a:t>SOFTWARE REQUIREMENTS &amp; TOOLCHAIN</a:t>
            </a:r>
          </a:p>
        </p:txBody>
      </p:sp>
      <p:sp>
        <p:nvSpPr>
          <p:cNvPr id="13" name="TextBox 12"/>
          <p:cNvSpPr txBox="1"/>
          <p:nvPr/>
        </p:nvSpPr>
        <p:spPr>
          <a:xfrm>
            <a:off x="777240" y="2011680"/>
            <a:ext cx="2011680" cy="274320"/>
          </a:xfrm>
          <a:prstGeom prst="rect">
            <a:avLst/>
          </a:prstGeom>
          <a:noFill/>
        </p:spPr>
        <p:txBody>
          <a:bodyPr wrap="square" lIns="45720" rIns="45720">
            <a:spAutoFit/>
          </a:bodyPr>
          <a:lstStyle/>
          <a:p>
            <a:pPr algn="l"/>
            <a:r>
              <a:rPr sz="1100" b="1" i="0">
                <a:solidFill>
                  <a:srgbClr val="FFFFFF"/>
                </a:solidFill>
                <a:latin typeface="Segoe UI"/>
              </a:rPr>
              <a:t>Operating System:</a:t>
            </a:r>
          </a:p>
        </p:txBody>
      </p:sp>
      <p:sp>
        <p:nvSpPr>
          <p:cNvPr id="14" name="TextBox 13"/>
          <p:cNvSpPr txBox="1"/>
          <p:nvPr/>
        </p:nvSpPr>
        <p:spPr>
          <a:xfrm>
            <a:off x="2788920" y="2011680"/>
            <a:ext cx="3017520" cy="320040"/>
          </a:xfrm>
          <a:prstGeom prst="rect">
            <a:avLst/>
          </a:prstGeom>
          <a:noFill/>
        </p:spPr>
        <p:txBody>
          <a:bodyPr wrap="square" lIns="45720" rIns="45720">
            <a:spAutoFit/>
          </a:bodyPr>
          <a:lstStyle/>
          <a:p>
            <a:pPr algn="l"/>
            <a:r>
              <a:rPr sz="1000" b="0" i="0">
                <a:solidFill>
                  <a:srgbClr val="94A3B8"/>
                </a:solidFill>
                <a:latin typeface="Segoe UI"/>
              </a:rPr>
              <a:t>Windows 10 / 11 (64-bit), Ubuntu 20.04+ LTS, macOS Monterey+</a:t>
            </a:r>
          </a:p>
        </p:txBody>
      </p:sp>
      <p:sp>
        <p:nvSpPr>
          <p:cNvPr id="15" name="TextBox 14"/>
          <p:cNvSpPr txBox="1"/>
          <p:nvPr/>
        </p:nvSpPr>
        <p:spPr>
          <a:xfrm>
            <a:off x="777240" y="2478024"/>
            <a:ext cx="2011680" cy="274320"/>
          </a:xfrm>
          <a:prstGeom prst="rect">
            <a:avLst/>
          </a:prstGeom>
          <a:noFill/>
        </p:spPr>
        <p:txBody>
          <a:bodyPr wrap="square" lIns="45720" rIns="45720">
            <a:spAutoFit/>
          </a:bodyPr>
          <a:lstStyle/>
          <a:p>
            <a:pPr algn="l"/>
            <a:r>
              <a:rPr sz="1100" b="1" i="0">
                <a:solidFill>
                  <a:srgbClr val="FFFFFF"/>
                </a:solidFill>
                <a:latin typeface="Segoe UI"/>
              </a:rPr>
              <a:t>Runtime Environment:</a:t>
            </a:r>
          </a:p>
        </p:txBody>
      </p:sp>
      <p:sp>
        <p:nvSpPr>
          <p:cNvPr id="16" name="TextBox 15"/>
          <p:cNvSpPr txBox="1"/>
          <p:nvPr/>
        </p:nvSpPr>
        <p:spPr>
          <a:xfrm>
            <a:off x="2788920" y="2478024"/>
            <a:ext cx="3017520" cy="320040"/>
          </a:xfrm>
          <a:prstGeom prst="rect">
            <a:avLst/>
          </a:prstGeom>
          <a:noFill/>
        </p:spPr>
        <p:txBody>
          <a:bodyPr wrap="square" lIns="45720" rIns="45720">
            <a:spAutoFit/>
          </a:bodyPr>
          <a:lstStyle/>
          <a:p>
            <a:pPr algn="l"/>
            <a:r>
              <a:rPr sz="1000" b="0" i="0">
                <a:solidFill>
                  <a:srgbClr val="94A3B8"/>
                </a:solidFill>
                <a:latin typeface="Segoe UI"/>
              </a:rPr>
              <a:t>Python 3.9, 3.10, or 3.11 (CPython 64-bit)</a:t>
            </a:r>
          </a:p>
        </p:txBody>
      </p:sp>
      <p:sp>
        <p:nvSpPr>
          <p:cNvPr id="17" name="TextBox 16"/>
          <p:cNvSpPr txBox="1"/>
          <p:nvPr/>
        </p:nvSpPr>
        <p:spPr>
          <a:xfrm>
            <a:off x="777240" y="2944368"/>
            <a:ext cx="2011680" cy="274320"/>
          </a:xfrm>
          <a:prstGeom prst="rect">
            <a:avLst/>
          </a:prstGeom>
          <a:noFill/>
        </p:spPr>
        <p:txBody>
          <a:bodyPr wrap="square" lIns="45720" rIns="45720">
            <a:spAutoFit/>
          </a:bodyPr>
          <a:lstStyle/>
          <a:p>
            <a:pPr algn="l"/>
            <a:r>
              <a:rPr sz="1100" b="1" i="0">
                <a:solidFill>
                  <a:srgbClr val="FFFFFF"/>
                </a:solidFill>
                <a:latin typeface="Segoe UI"/>
              </a:rPr>
              <a:t>Deep Learning Frameworks:</a:t>
            </a:r>
          </a:p>
        </p:txBody>
      </p:sp>
      <p:sp>
        <p:nvSpPr>
          <p:cNvPr id="18" name="TextBox 17"/>
          <p:cNvSpPr txBox="1"/>
          <p:nvPr/>
        </p:nvSpPr>
        <p:spPr>
          <a:xfrm>
            <a:off x="2788920" y="2944368"/>
            <a:ext cx="3017520" cy="320040"/>
          </a:xfrm>
          <a:prstGeom prst="rect">
            <a:avLst/>
          </a:prstGeom>
          <a:noFill/>
        </p:spPr>
        <p:txBody>
          <a:bodyPr wrap="square" lIns="45720" rIns="45720">
            <a:spAutoFit/>
          </a:bodyPr>
          <a:lstStyle/>
          <a:p>
            <a:pPr algn="l"/>
            <a:r>
              <a:rPr sz="1000" b="0" i="0">
                <a:solidFill>
                  <a:srgbClr val="94A3B8"/>
                </a:solidFill>
                <a:latin typeface="Segoe UI"/>
              </a:rPr>
              <a:t>TensorFlow 2.15+ (Keras 3.x), PyTorch 2.1+, Torchvision</a:t>
            </a:r>
          </a:p>
        </p:txBody>
      </p:sp>
      <p:sp>
        <p:nvSpPr>
          <p:cNvPr id="19" name="TextBox 18"/>
          <p:cNvSpPr txBox="1"/>
          <p:nvPr/>
        </p:nvSpPr>
        <p:spPr>
          <a:xfrm>
            <a:off x="777240" y="3410712"/>
            <a:ext cx="2011680" cy="274320"/>
          </a:xfrm>
          <a:prstGeom prst="rect">
            <a:avLst/>
          </a:prstGeom>
          <a:noFill/>
        </p:spPr>
        <p:txBody>
          <a:bodyPr wrap="square" lIns="45720" rIns="45720">
            <a:spAutoFit/>
          </a:bodyPr>
          <a:lstStyle/>
          <a:p>
            <a:pPr algn="l"/>
            <a:r>
              <a:rPr sz="1100" b="1" i="0">
                <a:solidFill>
                  <a:srgbClr val="FFFFFF"/>
                </a:solidFill>
                <a:latin typeface="Segoe UI"/>
              </a:rPr>
              <a:t>Computer Vision &amp; Math:</a:t>
            </a:r>
          </a:p>
        </p:txBody>
      </p:sp>
      <p:sp>
        <p:nvSpPr>
          <p:cNvPr id="20" name="TextBox 19"/>
          <p:cNvSpPr txBox="1"/>
          <p:nvPr/>
        </p:nvSpPr>
        <p:spPr>
          <a:xfrm>
            <a:off x="2788920" y="3410712"/>
            <a:ext cx="3017520" cy="320040"/>
          </a:xfrm>
          <a:prstGeom prst="rect">
            <a:avLst/>
          </a:prstGeom>
          <a:noFill/>
        </p:spPr>
        <p:txBody>
          <a:bodyPr wrap="square" lIns="45720" rIns="45720">
            <a:spAutoFit/>
          </a:bodyPr>
          <a:lstStyle/>
          <a:p>
            <a:pPr algn="l"/>
            <a:r>
              <a:rPr sz="1000" b="0" i="0">
                <a:solidFill>
                  <a:srgbClr val="94A3B8"/>
                </a:solidFill>
                <a:latin typeface="Segoe UI"/>
              </a:rPr>
              <a:t>OpenCV (cv2) 4.8+, Pillow (PIL), NumPy 1.24+, Scikit-learn</a:t>
            </a:r>
          </a:p>
        </p:txBody>
      </p:sp>
      <p:sp>
        <p:nvSpPr>
          <p:cNvPr id="21" name="TextBox 20"/>
          <p:cNvSpPr txBox="1"/>
          <p:nvPr/>
        </p:nvSpPr>
        <p:spPr>
          <a:xfrm>
            <a:off x="777240" y="3877056"/>
            <a:ext cx="2011680" cy="274320"/>
          </a:xfrm>
          <a:prstGeom prst="rect">
            <a:avLst/>
          </a:prstGeom>
          <a:noFill/>
        </p:spPr>
        <p:txBody>
          <a:bodyPr wrap="square" lIns="45720" rIns="45720">
            <a:spAutoFit/>
          </a:bodyPr>
          <a:lstStyle/>
          <a:p>
            <a:pPr algn="l"/>
            <a:r>
              <a:rPr sz="1100" b="1" i="0">
                <a:solidFill>
                  <a:srgbClr val="FFFFFF"/>
                </a:solidFill>
                <a:latin typeface="Segoe UI"/>
              </a:rPr>
              <a:t>Web Framework &amp; Backend:</a:t>
            </a:r>
          </a:p>
        </p:txBody>
      </p:sp>
      <p:sp>
        <p:nvSpPr>
          <p:cNvPr id="22" name="TextBox 21"/>
          <p:cNvSpPr txBox="1"/>
          <p:nvPr/>
        </p:nvSpPr>
        <p:spPr>
          <a:xfrm>
            <a:off x="2788920" y="3877056"/>
            <a:ext cx="3017520" cy="320040"/>
          </a:xfrm>
          <a:prstGeom prst="rect">
            <a:avLst/>
          </a:prstGeom>
          <a:noFill/>
        </p:spPr>
        <p:txBody>
          <a:bodyPr wrap="square" lIns="45720" rIns="45720">
            <a:spAutoFit/>
          </a:bodyPr>
          <a:lstStyle/>
          <a:p>
            <a:pPr algn="l"/>
            <a:r>
              <a:rPr sz="1000" b="0" i="0">
                <a:solidFill>
                  <a:srgbClr val="94A3B8"/>
                </a:solidFill>
                <a:latin typeface="Segoe UI"/>
              </a:rPr>
              <a:t>Flask 3.0+, Werkzeug, Gunicorn (WSGI HTTP server)</a:t>
            </a:r>
          </a:p>
        </p:txBody>
      </p:sp>
      <p:sp>
        <p:nvSpPr>
          <p:cNvPr id="23" name="TextBox 22"/>
          <p:cNvSpPr txBox="1"/>
          <p:nvPr/>
        </p:nvSpPr>
        <p:spPr>
          <a:xfrm>
            <a:off x="777240" y="4343400"/>
            <a:ext cx="2011680" cy="274320"/>
          </a:xfrm>
          <a:prstGeom prst="rect">
            <a:avLst/>
          </a:prstGeom>
          <a:noFill/>
        </p:spPr>
        <p:txBody>
          <a:bodyPr wrap="square" lIns="45720" rIns="45720">
            <a:spAutoFit/>
          </a:bodyPr>
          <a:lstStyle/>
          <a:p>
            <a:pPr algn="l"/>
            <a:r>
              <a:rPr sz="1100" b="1" i="0">
                <a:solidFill>
                  <a:srgbClr val="FFFFFF"/>
                </a:solidFill>
                <a:latin typeface="Segoe UI"/>
              </a:rPr>
              <a:t>Reporting Engine:</a:t>
            </a:r>
          </a:p>
        </p:txBody>
      </p:sp>
      <p:sp>
        <p:nvSpPr>
          <p:cNvPr id="24" name="TextBox 23"/>
          <p:cNvSpPr txBox="1"/>
          <p:nvPr/>
        </p:nvSpPr>
        <p:spPr>
          <a:xfrm>
            <a:off x="2788920" y="4343400"/>
            <a:ext cx="3017520" cy="320040"/>
          </a:xfrm>
          <a:prstGeom prst="rect">
            <a:avLst/>
          </a:prstGeom>
          <a:noFill/>
        </p:spPr>
        <p:txBody>
          <a:bodyPr wrap="square" lIns="45720" rIns="45720">
            <a:spAutoFit/>
          </a:bodyPr>
          <a:lstStyle/>
          <a:p>
            <a:pPr algn="l"/>
            <a:r>
              <a:rPr sz="1000" b="0" i="0">
                <a:solidFill>
                  <a:srgbClr val="94A3B8"/>
                </a:solidFill>
                <a:latin typeface="Segoe UI"/>
              </a:rPr>
              <a:t>ReportLab 4.0+ (Dynamic vector PDF compiler)</a:t>
            </a:r>
          </a:p>
        </p:txBody>
      </p:sp>
      <p:sp>
        <p:nvSpPr>
          <p:cNvPr id="25" name="TextBox 24"/>
          <p:cNvSpPr txBox="1"/>
          <p:nvPr/>
        </p:nvSpPr>
        <p:spPr>
          <a:xfrm>
            <a:off x="777240" y="4809744"/>
            <a:ext cx="2011680" cy="274320"/>
          </a:xfrm>
          <a:prstGeom prst="rect">
            <a:avLst/>
          </a:prstGeom>
          <a:noFill/>
        </p:spPr>
        <p:txBody>
          <a:bodyPr wrap="square" lIns="45720" rIns="45720">
            <a:spAutoFit/>
          </a:bodyPr>
          <a:lstStyle/>
          <a:p>
            <a:pPr algn="l"/>
            <a:r>
              <a:rPr sz="1100" b="1" i="0">
                <a:solidFill>
                  <a:srgbClr val="FFFFFF"/>
                </a:solidFill>
                <a:latin typeface="Segoe UI"/>
              </a:rPr>
              <a:t>Data Persistence:</a:t>
            </a:r>
          </a:p>
        </p:txBody>
      </p:sp>
      <p:sp>
        <p:nvSpPr>
          <p:cNvPr id="26" name="TextBox 25"/>
          <p:cNvSpPr txBox="1"/>
          <p:nvPr/>
        </p:nvSpPr>
        <p:spPr>
          <a:xfrm>
            <a:off x="2788920" y="4809744"/>
            <a:ext cx="3017520" cy="320040"/>
          </a:xfrm>
          <a:prstGeom prst="rect">
            <a:avLst/>
          </a:prstGeom>
          <a:noFill/>
        </p:spPr>
        <p:txBody>
          <a:bodyPr wrap="square" lIns="45720" rIns="45720">
            <a:spAutoFit/>
          </a:bodyPr>
          <a:lstStyle/>
          <a:p>
            <a:pPr algn="l"/>
            <a:r>
              <a:rPr sz="1000" b="0" i="0">
                <a:solidFill>
                  <a:srgbClr val="94A3B8"/>
                </a:solidFill>
                <a:latin typeface="Segoe UI"/>
              </a:rPr>
              <a:t>SQLite3 (Relational case log) + RFC 4180 CSV Export</a:t>
            </a:r>
          </a:p>
        </p:txBody>
      </p:sp>
      <p:sp>
        <p:nvSpPr>
          <p:cNvPr id="27" name="TextBox 26"/>
          <p:cNvSpPr txBox="1"/>
          <p:nvPr/>
        </p:nvSpPr>
        <p:spPr>
          <a:xfrm>
            <a:off x="777240" y="5276088"/>
            <a:ext cx="2011680" cy="274320"/>
          </a:xfrm>
          <a:prstGeom prst="rect">
            <a:avLst/>
          </a:prstGeom>
          <a:noFill/>
        </p:spPr>
        <p:txBody>
          <a:bodyPr wrap="square" lIns="45720" rIns="45720">
            <a:spAutoFit/>
          </a:bodyPr>
          <a:lstStyle/>
          <a:p>
            <a:pPr algn="l"/>
            <a:r>
              <a:rPr sz="1100" b="1" i="0">
                <a:solidFill>
                  <a:srgbClr val="FFFFFF"/>
                </a:solidFill>
                <a:latin typeface="Segoe UI"/>
              </a:rPr>
              <a:t>Frontend &amp; Visuals:</a:t>
            </a:r>
          </a:p>
        </p:txBody>
      </p:sp>
      <p:sp>
        <p:nvSpPr>
          <p:cNvPr id="28" name="TextBox 27"/>
          <p:cNvSpPr txBox="1"/>
          <p:nvPr/>
        </p:nvSpPr>
        <p:spPr>
          <a:xfrm>
            <a:off x="2788920" y="5276088"/>
            <a:ext cx="3017520" cy="320040"/>
          </a:xfrm>
          <a:prstGeom prst="rect">
            <a:avLst/>
          </a:prstGeom>
          <a:noFill/>
        </p:spPr>
        <p:txBody>
          <a:bodyPr wrap="square" lIns="45720" rIns="45720">
            <a:spAutoFit/>
          </a:bodyPr>
          <a:lstStyle/>
          <a:p>
            <a:pPr algn="l"/>
            <a:r>
              <a:rPr sz="1000" b="0" i="0">
                <a:solidFill>
                  <a:srgbClr val="94A3B8"/>
                </a:solidFill>
                <a:latin typeface="Segoe UI"/>
              </a:rPr>
              <a:t>HTML5, Vanilla CSS3 (Custom Dark Theme), Chart.js 4.4</a:t>
            </a:r>
          </a:p>
        </p:txBody>
      </p:sp>
      <p:sp>
        <p:nvSpPr>
          <p:cNvPr id="29" name="TextBox 28"/>
          <p:cNvSpPr txBox="1"/>
          <p:nvPr/>
        </p:nvSpPr>
        <p:spPr>
          <a:xfrm>
            <a:off x="777240" y="5742432"/>
            <a:ext cx="2011680" cy="274320"/>
          </a:xfrm>
          <a:prstGeom prst="rect">
            <a:avLst/>
          </a:prstGeom>
          <a:noFill/>
        </p:spPr>
        <p:txBody>
          <a:bodyPr wrap="square" lIns="45720" rIns="45720">
            <a:spAutoFit/>
          </a:bodyPr>
          <a:lstStyle/>
          <a:p>
            <a:pPr algn="l"/>
            <a:r>
              <a:rPr sz="1100" b="1" i="0">
                <a:solidFill>
                  <a:srgbClr val="FFFFFF"/>
                </a:solidFill>
                <a:latin typeface="Segoe UI"/>
              </a:rPr>
              <a:t>Containerization &amp; Cloud:</a:t>
            </a:r>
          </a:p>
        </p:txBody>
      </p:sp>
      <p:sp>
        <p:nvSpPr>
          <p:cNvPr id="30" name="TextBox 29"/>
          <p:cNvSpPr txBox="1"/>
          <p:nvPr/>
        </p:nvSpPr>
        <p:spPr>
          <a:xfrm>
            <a:off x="2788920" y="5742432"/>
            <a:ext cx="3017520" cy="320040"/>
          </a:xfrm>
          <a:prstGeom prst="rect">
            <a:avLst/>
          </a:prstGeom>
          <a:noFill/>
        </p:spPr>
        <p:txBody>
          <a:bodyPr wrap="square" lIns="45720" rIns="45720">
            <a:spAutoFit/>
          </a:bodyPr>
          <a:lstStyle/>
          <a:p>
            <a:pPr algn="l"/>
            <a:r>
              <a:rPr sz="1000" b="0" i="0">
                <a:solidFill>
                  <a:srgbClr val="94A3B8"/>
                </a:solidFill>
                <a:latin typeface="Segoe UI"/>
              </a:rPr>
              <a:t>Docker, Docker Compose, Render.yaml cloud manifest</a:t>
            </a:r>
          </a:p>
        </p:txBody>
      </p:sp>
      <p:sp>
        <p:nvSpPr>
          <p:cNvPr id="31" name="Rounded Rectangle 30"/>
          <p:cNvSpPr/>
          <p:nvPr/>
        </p:nvSpPr>
        <p:spPr>
          <a:xfrm>
            <a:off x="6172200" y="1417320"/>
            <a:ext cx="5440680" cy="502920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72200" y="1417320"/>
            <a:ext cx="5440680" cy="381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1600200"/>
            <a:ext cx="4937760" cy="320040"/>
          </a:xfrm>
          <a:prstGeom prst="rect">
            <a:avLst/>
          </a:prstGeom>
          <a:noFill/>
        </p:spPr>
        <p:txBody>
          <a:bodyPr wrap="square" lIns="45720" rIns="45720">
            <a:spAutoFit/>
          </a:bodyPr>
          <a:lstStyle/>
          <a:p>
            <a:pPr algn="l"/>
            <a:r>
              <a:rPr sz="1400" b="1" i="0">
                <a:solidFill>
                  <a:srgbClr val="F59E0B"/>
                </a:solidFill>
                <a:latin typeface="Segoe UI"/>
              </a:rPr>
              <a:t>HARDWARE SPECIFICATION MATRIX</a:t>
            </a:r>
          </a:p>
        </p:txBody>
      </p:sp>
      <p:sp>
        <p:nvSpPr>
          <p:cNvPr id="34" name="Rounded Rectangle 33"/>
          <p:cNvSpPr/>
          <p:nvPr/>
        </p:nvSpPr>
        <p:spPr>
          <a:xfrm>
            <a:off x="6400800" y="2011680"/>
            <a:ext cx="4983480" cy="2011680"/>
          </a:xfrm>
          <a:prstGeom prst="roundRect">
            <a:avLst/>
          </a:prstGeom>
          <a:solidFill>
            <a:srgbClr val="1A233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37960" y="2103120"/>
            <a:ext cx="4663440" cy="274320"/>
          </a:xfrm>
          <a:prstGeom prst="rect">
            <a:avLst/>
          </a:prstGeom>
          <a:noFill/>
        </p:spPr>
        <p:txBody>
          <a:bodyPr wrap="square" lIns="45720" rIns="45720">
            <a:spAutoFit/>
          </a:bodyPr>
          <a:lstStyle/>
          <a:p>
            <a:pPr algn="l"/>
            <a:r>
              <a:rPr sz="1100" b="1" i="0">
                <a:solidFill>
                  <a:srgbClr val="F59E0B"/>
                </a:solidFill>
                <a:latin typeface="Segoe UI"/>
              </a:rPr>
              <a:t>MINIMUM HARDWARE (Dev / CPU Inference)</a:t>
            </a:r>
          </a:p>
        </p:txBody>
      </p:sp>
      <p:sp>
        <p:nvSpPr>
          <p:cNvPr id="36" name="TextBox 35"/>
          <p:cNvSpPr txBox="1"/>
          <p:nvPr/>
        </p:nvSpPr>
        <p:spPr>
          <a:xfrm>
            <a:off x="6537960" y="2423160"/>
            <a:ext cx="4663440" cy="1463040"/>
          </a:xfrm>
          <a:prstGeom prst="rect">
            <a:avLst/>
          </a:prstGeom>
          <a:noFill/>
        </p:spPr>
        <p:txBody>
          <a:bodyPr wrap="square" lIns="45720" rIns="45720">
            <a:spAutoFit/>
          </a:bodyPr>
          <a:lstStyle/>
          <a:p>
            <a:pPr>
              <a:spcBef>
                <a:spcPts val="300"/>
              </a:spcBef>
            </a:pPr>
            <a:r>
              <a:rPr sz="1000" b="1">
                <a:solidFill>
                  <a:srgbClr val="06B6D4"/>
                </a:solidFill>
                <a:latin typeface="Segoe UI"/>
              </a:rPr>
              <a:t>•  </a:t>
            </a:r>
            <a:r>
              <a:rPr sz="1000">
                <a:solidFill>
                  <a:srgbClr val="94A3B8"/>
                </a:solidFill>
                <a:latin typeface="Segoe UI"/>
              </a:rPr>
              <a:t>CPU: Quad-Core Intel Core i5 (8th Gen+) or AMD Ryzen 5 (2.5 GHz+)</a:t>
            </a:r>
          </a:p>
          <a:p>
            <a:pPr>
              <a:spcBef>
                <a:spcPts val="300"/>
              </a:spcBef>
            </a:pPr>
            <a:r>
              <a:rPr sz="1000" b="1">
                <a:solidFill>
                  <a:srgbClr val="06B6D4"/>
                </a:solidFill>
                <a:latin typeface="Segoe UI"/>
              </a:rPr>
              <a:t>•  </a:t>
            </a:r>
            <a:r>
              <a:rPr sz="1000">
                <a:solidFill>
                  <a:srgbClr val="94A3B8"/>
                </a:solidFill>
                <a:latin typeface="Segoe UI"/>
              </a:rPr>
              <a:t>RAM: 8 GB DDR4 (512MB RAM constraint optimization built-in)</a:t>
            </a:r>
          </a:p>
          <a:p>
            <a:pPr>
              <a:spcBef>
                <a:spcPts val="300"/>
              </a:spcBef>
            </a:pPr>
            <a:r>
              <a:rPr sz="1000" b="1">
                <a:solidFill>
                  <a:srgbClr val="06B6D4"/>
                </a:solidFill>
                <a:latin typeface="Segoe UI"/>
              </a:rPr>
              <a:t>•  </a:t>
            </a:r>
            <a:r>
              <a:rPr sz="1000">
                <a:solidFill>
                  <a:srgbClr val="94A3B8"/>
                </a:solidFill>
                <a:latin typeface="Segoe UI"/>
              </a:rPr>
              <a:t>Storage: 10 GB available SSD space for models &amp; cache</a:t>
            </a:r>
          </a:p>
          <a:p>
            <a:pPr>
              <a:spcBef>
                <a:spcPts val="300"/>
              </a:spcBef>
            </a:pPr>
            <a:r>
              <a:rPr sz="1000" b="1">
                <a:solidFill>
                  <a:srgbClr val="06B6D4"/>
                </a:solidFill>
                <a:latin typeface="Segoe UI"/>
              </a:rPr>
              <a:t>•  </a:t>
            </a:r>
            <a:r>
              <a:rPr sz="1000">
                <a:solidFill>
                  <a:srgbClr val="94A3B8"/>
                </a:solidFill>
                <a:latin typeface="Segoe UI"/>
              </a:rPr>
              <a:t>GPU: Integrated Intel UHD / Iris Xe (Supports CPU inference mode)</a:t>
            </a:r>
          </a:p>
        </p:txBody>
      </p:sp>
      <p:sp>
        <p:nvSpPr>
          <p:cNvPr id="37" name="Rounded Rectangle 36"/>
          <p:cNvSpPr/>
          <p:nvPr/>
        </p:nvSpPr>
        <p:spPr>
          <a:xfrm>
            <a:off x="6400800" y="4206240"/>
            <a:ext cx="4983480" cy="2057400"/>
          </a:xfrm>
          <a:prstGeom prst="roundRect">
            <a:avLst/>
          </a:prstGeom>
          <a:solidFill>
            <a:srgbClr val="1A233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37960" y="4297680"/>
            <a:ext cx="4663440" cy="274320"/>
          </a:xfrm>
          <a:prstGeom prst="rect">
            <a:avLst/>
          </a:prstGeom>
          <a:noFill/>
        </p:spPr>
        <p:txBody>
          <a:bodyPr wrap="square" lIns="45720" rIns="45720">
            <a:spAutoFit/>
          </a:bodyPr>
          <a:lstStyle/>
          <a:p>
            <a:pPr algn="l"/>
            <a:r>
              <a:rPr sz="1100" b="1" i="0">
                <a:solidFill>
                  <a:srgbClr val="10B981"/>
                </a:solidFill>
                <a:latin typeface="Segoe UI"/>
              </a:rPr>
              <a:t>RECOMMENDED (Forensic Lab / Batch Video)</a:t>
            </a:r>
          </a:p>
        </p:txBody>
      </p:sp>
      <p:sp>
        <p:nvSpPr>
          <p:cNvPr id="39" name="TextBox 38"/>
          <p:cNvSpPr txBox="1"/>
          <p:nvPr/>
        </p:nvSpPr>
        <p:spPr>
          <a:xfrm>
            <a:off x="6537960" y="4617720"/>
            <a:ext cx="4663440" cy="1508760"/>
          </a:xfrm>
          <a:prstGeom prst="rect">
            <a:avLst/>
          </a:prstGeom>
          <a:noFill/>
        </p:spPr>
        <p:txBody>
          <a:bodyPr wrap="square" lIns="45720" rIns="45720">
            <a:spAutoFit/>
          </a:bodyPr>
          <a:lstStyle/>
          <a:p>
            <a:pPr>
              <a:spcBef>
                <a:spcPts val="300"/>
              </a:spcBef>
            </a:pPr>
            <a:r>
              <a:rPr sz="1000" b="1">
                <a:solidFill>
                  <a:srgbClr val="06B6D4"/>
                </a:solidFill>
                <a:latin typeface="Segoe UI"/>
              </a:rPr>
              <a:t>•  </a:t>
            </a:r>
            <a:r>
              <a:rPr sz="1000">
                <a:solidFill>
                  <a:srgbClr val="94A3B8"/>
                </a:solidFill>
                <a:latin typeface="Segoe UI"/>
              </a:rPr>
              <a:t>CPU: 8-Core Intel Core i7 / i9 or AMD Ryzen 7 (3.5 GHz+)</a:t>
            </a:r>
          </a:p>
          <a:p>
            <a:pPr>
              <a:spcBef>
                <a:spcPts val="300"/>
              </a:spcBef>
            </a:pPr>
            <a:r>
              <a:rPr sz="1000" b="1">
                <a:solidFill>
                  <a:srgbClr val="06B6D4"/>
                </a:solidFill>
                <a:latin typeface="Segoe UI"/>
              </a:rPr>
              <a:t>•  </a:t>
            </a:r>
            <a:r>
              <a:rPr sz="1000">
                <a:solidFill>
                  <a:srgbClr val="94A3B8"/>
                </a:solidFill>
                <a:latin typeface="Segoe UI"/>
              </a:rPr>
              <a:t>RAM: 16 GB to 32 GB DDR4 / DDR5 High-Speed Memory</a:t>
            </a:r>
          </a:p>
          <a:p>
            <a:pPr>
              <a:spcBef>
                <a:spcPts val="300"/>
              </a:spcBef>
            </a:pPr>
            <a:r>
              <a:rPr sz="1000" b="1">
                <a:solidFill>
                  <a:srgbClr val="06B6D4"/>
                </a:solidFill>
                <a:latin typeface="Segoe UI"/>
              </a:rPr>
              <a:t>•  </a:t>
            </a:r>
            <a:r>
              <a:rPr sz="1000">
                <a:solidFill>
                  <a:srgbClr val="94A3B8"/>
                </a:solidFill>
                <a:latin typeface="Segoe UI"/>
              </a:rPr>
              <a:t>Storage: 50 GB NVMe M.2 SSD (High I/O for 4K video decimation)</a:t>
            </a:r>
          </a:p>
          <a:p>
            <a:pPr>
              <a:spcBef>
                <a:spcPts val="300"/>
              </a:spcBef>
            </a:pPr>
            <a:r>
              <a:rPr sz="1000" b="1">
                <a:solidFill>
                  <a:srgbClr val="06B6D4"/>
                </a:solidFill>
                <a:latin typeface="Segoe UI"/>
              </a:rPr>
              <a:t>•  </a:t>
            </a:r>
            <a:r>
              <a:rPr sz="1000">
                <a:solidFill>
                  <a:srgbClr val="94A3B8"/>
                </a:solidFill>
                <a:latin typeface="Segoe UI"/>
              </a:rPr>
              <a:t>GPU: NVIDIA GeForce RTX 3060 / 4070 (6GB+ VRAM, CUDA 11.8/12.x &amp; cuDNN)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 cy="68580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20040"/>
            <a:ext cx="2560320" cy="292608"/>
          </a:xfrm>
          <a:prstGeom prst="roundRect">
            <a:avLst/>
          </a:prstGeom>
          <a:solidFill>
            <a:srgbClr val="111827"/>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47472"/>
            <a:ext cx="2560320" cy="274320"/>
          </a:xfrm>
          <a:prstGeom prst="rect">
            <a:avLst/>
          </a:prstGeom>
          <a:noFill/>
        </p:spPr>
        <p:txBody>
          <a:bodyPr wrap="square" lIns="45720" rIns="45720">
            <a:spAutoFit/>
          </a:bodyPr>
          <a:lstStyle/>
          <a:p>
            <a:pPr algn="ctr"/>
            <a:r>
              <a:rPr sz="1000" b="1" i="0">
                <a:solidFill>
                  <a:srgbClr val="8B5CF6"/>
                </a:solidFill>
                <a:latin typeface="Segoe UI"/>
              </a:rPr>
              <a:t>5. ARCHITECTURE</a:t>
            </a:r>
          </a:p>
        </p:txBody>
      </p:sp>
      <p:sp>
        <p:nvSpPr>
          <p:cNvPr id="6" name="Rounded Rectangle 5"/>
          <p:cNvSpPr/>
          <p:nvPr/>
        </p:nvSpPr>
        <p:spPr>
          <a:xfrm>
            <a:off x="11064240" y="320040"/>
            <a:ext cx="640080" cy="292608"/>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47472"/>
            <a:ext cx="640080" cy="274320"/>
          </a:xfrm>
          <a:prstGeom prst="rect">
            <a:avLst/>
          </a:prstGeom>
          <a:noFill/>
        </p:spPr>
        <p:txBody>
          <a:bodyPr wrap="square" lIns="45720" rIns="45720">
            <a:spAutoFit/>
          </a:bodyPr>
          <a:lstStyle/>
          <a:p>
            <a:pPr algn="ctr"/>
            <a:r>
              <a:rPr sz="1100" b="1" i="0">
                <a:solidFill>
                  <a:srgbClr val="94A3B8"/>
                </a:solidFill>
                <a:latin typeface="Segoe UI"/>
              </a:rPr>
              <a:t>09</a:t>
            </a:r>
          </a:p>
        </p:txBody>
      </p:sp>
      <p:sp>
        <p:nvSpPr>
          <p:cNvPr id="8" name="TextBox 7"/>
          <p:cNvSpPr txBox="1"/>
          <p:nvPr/>
        </p:nvSpPr>
        <p:spPr>
          <a:xfrm>
            <a:off x="548640" y="685800"/>
            <a:ext cx="10515600" cy="502920"/>
          </a:xfrm>
          <a:prstGeom prst="rect">
            <a:avLst/>
          </a:prstGeom>
          <a:noFill/>
        </p:spPr>
        <p:txBody>
          <a:bodyPr wrap="square" lIns="45720" rIns="45720">
            <a:spAutoFit/>
          </a:bodyPr>
          <a:lstStyle/>
          <a:p>
            <a:pPr algn="l"/>
            <a:r>
              <a:rPr sz="2400" b="1" i="0">
                <a:solidFill>
                  <a:srgbClr val="F8FAFC"/>
                </a:solidFill>
                <a:latin typeface="Segoe UI"/>
              </a:rPr>
              <a:t>Multi-Tier Forensic Engineering Architecture</a:t>
            </a:r>
          </a:p>
        </p:txBody>
      </p:sp>
      <p:sp>
        <p:nvSpPr>
          <p:cNvPr id="9" name="Rectangle 8"/>
          <p:cNvSpPr/>
          <p:nvPr/>
        </p:nvSpPr>
        <p:spPr>
          <a:xfrm>
            <a:off x="548640" y="1234440"/>
            <a:ext cx="1115568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417320"/>
            <a:ext cx="11064240" cy="1115568"/>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73152" cy="111556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1527048"/>
            <a:ext cx="2926080" cy="256032"/>
          </a:xfrm>
          <a:prstGeom prst="roundRect">
            <a:avLst/>
          </a:prstGeom>
          <a:solidFill>
            <a:srgbClr val="1A233A"/>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545336"/>
            <a:ext cx="2926080" cy="228600"/>
          </a:xfrm>
          <a:prstGeom prst="rect">
            <a:avLst/>
          </a:prstGeom>
          <a:noFill/>
        </p:spPr>
        <p:txBody>
          <a:bodyPr wrap="square" lIns="45720" rIns="45720">
            <a:spAutoFit/>
          </a:bodyPr>
          <a:lstStyle/>
          <a:p>
            <a:pPr algn="ctr"/>
            <a:r>
              <a:rPr sz="900" b="1" i="0">
                <a:solidFill>
                  <a:srgbClr val="3B82F6"/>
                </a:solidFill>
                <a:latin typeface="Segoe UI"/>
              </a:rPr>
              <a:t>TIER 1: PRESENTATION &amp; CLIENT LAYER</a:t>
            </a:r>
          </a:p>
        </p:txBody>
      </p:sp>
      <p:sp>
        <p:nvSpPr>
          <p:cNvPr id="14" name="Rounded Rectangle 13"/>
          <p:cNvSpPr/>
          <p:nvPr/>
        </p:nvSpPr>
        <p:spPr>
          <a:xfrm>
            <a:off x="3840480" y="1527048"/>
            <a:ext cx="2255520" cy="896112"/>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13632" y="1600200"/>
            <a:ext cx="2109216" cy="274320"/>
          </a:xfrm>
          <a:prstGeom prst="rect">
            <a:avLst/>
          </a:prstGeom>
          <a:noFill/>
        </p:spPr>
        <p:txBody>
          <a:bodyPr wrap="square" lIns="45720" rIns="45720">
            <a:spAutoFit/>
          </a:bodyPr>
          <a:lstStyle/>
          <a:p>
            <a:pPr algn="l"/>
            <a:r>
              <a:rPr sz="1100" b="1" i="0">
                <a:solidFill>
                  <a:srgbClr val="FFFFFF"/>
                </a:solidFill>
                <a:latin typeface="Segoe UI"/>
              </a:rPr>
              <a:t>Web Dashboard</a:t>
            </a:r>
          </a:p>
        </p:txBody>
      </p:sp>
      <p:sp>
        <p:nvSpPr>
          <p:cNvPr id="16" name="TextBox 15"/>
          <p:cNvSpPr txBox="1"/>
          <p:nvPr/>
        </p:nvSpPr>
        <p:spPr>
          <a:xfrm>
            <a:off x="3913632" y="1892808"/>
            <a:ext cx="2109216" cy="457200"/>
          </a:xfrm>
          <a:prstGeom prst="rect">
            <a:avLst/>
          </a:prstGeom>
          <a:noFill/>
        </p:spPr>
        <p:txBody>
          <a:bodyPr wrap="square" lIns="45720" rIns="45720">
            <a:spAutoFit/>
          </a:bodyPr>
          <a:lstStyle/>
          <a:p>
            <a:pPr algn="l"/>
            <a:r>
              <a:rPr sz="900" b="0" i="0">
                <a:solidFill>
                  <a:srgbClr val="94A3B8"/>
                </a:solidFill>
                <a:latin typeface="Segoe UI"/>
              </a:rPr>
              <a:t>Interactive HTML5/CSS3 interface with Chart.js analytics</a:t>
            </a:r>
          </a:p>
        </p:txBody>
      </p:sp>
      <p:sp>
        <p:nvSpPr>
          <p:cNvPr id="17" name="Rounded Rectangle 16"/>
          <p:cNvSpPr/>
          <p:nvPr/>
        </p:nvSpPr>
        <p:spPr>
          <a:xfrm>
            <a:off x="6187440" y="1527048"/>
            <a:ext cx="2255520" cy="896112"/>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0592" y="1600200"/>
            <a:ext cx="2109216" cy="274320"/>
          </a:xfrm>
          <a:prstGeom prst="rect">
            <a:avLst/>
          </a:prstGeom>
          <a:noFill/>
        </p:spPr>
        <p:txBody>
          <a:bodyPr wrap="square" lIns="45720" rIns="45720">
            <a:spAutoFit/>
          </a:bodyPr>
          <a:lstStyle/>
          <a:p>
            <a:pPr algn="l"/>
            <a:r>
              <a:rPr sz="1100" b="1" i="0">
                <a:solidFill>
                  <a:srgbClr val="FFFFFF"/>
                </a:solidFill>
                <a:latin typeface="Segoe UI"/>
              </a:rPr>
              <a:t>REST API Clients</a:t>
            </a:r>
          </a:p>
        </p:txBody>
      </p:sp>
      <p:sp>
        <p:nvSpPr>
          <p:cNvPr id="19" name="TextBox 18"/>
          <p:cNvSpPr txBox="1"/>
          <p:nvPr/>
        </p:nvSpPr>
        <p:spPr>
          <a:xfrm>
            <a:off x="6260592" y="1892808"/>
            <a:ext cx="2109216" cy="457200"/>
          </a:xfrm>
          <a:prstGeom prst="rect">
            <a:avLst/>
          </a:prstGeom>
          <a:noFill/>
        </p:spPr>
        <p:txBody>
          <a:bodyPr wrap="square" lIns="45720" rIns="45720">
            <a:spAutoFit/>
          </a:bodyPr>
          <a:lstStyle/>
          <a:p>
            <a:pPr algn="l"/>
            <a:r>
              <a:rPr sz="900" b="0" i="0">
                <a:solidFill>
                  <a:srgbClr val="94A3B8"/>
                </a:solidFill>
                <a:latin typeface="Segoe UI"/>
              </a:rPr>
              <a:t>Programmatic headless JSON consumers (cURL, Python, SOC)</a:t>
            </a:r>
          </a:p>
        </p:txBody>
      </p:sp>
      <p:sp>
        <p:nvSpPr>
          <p:cNvPr id="20" name="Rounded Rectangle 19"/>
          <p:cNvSpPr/>
          <p:nvPr/>
        </p:nvSpPr>
        <p:spPr>
          <a:xfrm>
            <a:off x="8534400" y="1527048"/>
            <a:ext cx="2255520" cy="896112"/>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07552" y="1600200"/>
            <a:ext cx="2109216" cy="274320"/>
          </a:xfrm>
          <a:prstGeom prst="rect">
            <a:avLst/>
          </a:prstGeom>
          <a:noFill/>
        </p:spPr>
        <p:txBody>
          <a:bodyPr wrap="square" lIns="45720" rIns="45720">
            <a:spAutoFit/>
          </a:bodyPr>
          <a:lstStyle/>
          <a:p>
            <a:pPr algn="l"/>
            <a:r>
              <a:rPr sz="1100" b="1" i="0">
                <a:solidFill>
                  <a:srgbClr val="FFFFFF"/>
                </a:solidFill>
                <a:latin typeface="Segoe UI"/>
              </a:rPr>
              <a:t>PDF Viewer</a:t>
            </a:r>
          </a:p>
        </p:txBody>
      </p:sp>
      <p:sp>
        <p:nvSpPr>
          <p:cNvPr id="22" name="TextBox 21"/>
          <p:cNvSpPr txBox="1"/>
          <p:nvPr/>
        </p:nvSpPr>
        <p:spPr>
          <a:xfrm>
            <a:off x="8607552" y="1892808"/>
            <a:ext cx="2109216" cy="457200"/>
          </a:xfrm>
          <a:prstGeom prst="rect">
            <a:avLst/>
          </a:prstGeom>
          <a:noFill/>
        </p:spPr>
        <p:txBody>
          <a:bodyPr wrap="square" lIns="45720" rIns="45720">
            <a:spAutoFit/>
          </a:bodyPr>
          <a:lstStyle/>
          <a:p>
            <a:pPr algn="l"/>
            <a:r>
              <a:rPr sz="900" b="0" i="0">
                <a:solidFill>
                  <a:srgbClr val="94A3B8"/>
                </a:solidFill>
                <a:latin typeface="Segoe UI"/>
              </a:rPr>
              <a:t>Forensic Dossier rendering &amp; cryptographic stamp viewer</a:t>
            </a:r>
          </a:p>
        </p:txBody>
      </p:sp>
      <p:sp>
        <p:nvSpPr>
          <p:cNvPr id="23" name="Rounded Rectangle 22"/>
          <p:cNvSpPr/>
          <p:nvPr/>
        </p:nvSpPr>
        <p:spPr>
          <a:xfrm>
            <a:off x="548640" y="2660904"/>
            <a:ext cx="11064240" cy="1115568"/>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2660904"/>
            <a:ext cx="73152" cy="111556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77240" y="2770632"/>
            <a:ext cx="2926080" cy="256032"/>
          </a:xfrm>
          <a:prstGeom prst="roundRect">
            <a:avLst/>
          </a:prstGeom>
          <a:solidFill>
            <a:srgbClr val="1A233A"/>
          </a:solidFill>
          <a:ln w="63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2788920"/>
            <a:ext cx="2926080" cy="228600"/>
          </a:xfrm>
          <a:prstGeom prst="rect">
            <a:avLst/>
          </a:prstGeom>
          <a:noFill/>
        </p:spPr>
        <p:txBody>
          <a:bodyPr wrap="square" lIns="45720" rIns="45720">
            <a:spAutoFit/>
          </a:bodyPr>
          <a:lstStyle/>
          <a:p>
            <a:pPr algn="ctr"/>
            <a:r>
              <a:rPr sz="900" b="1" i="0">
                <a:solidFill>
                  <a:srgbClr val="06B6D4"/>
                </a:solidFill>
                <a:latin typeface="Segoe UI"/>
              </a:rPr>
              <a:t>TIER 2: APPLICATION CONTROLLER &amp; SECURITY LAYER</a:t>
            </a:r>
          </a:p>
        </p:txBody>
      </p:sp>
      <p:sp>
        <p:nvSpPr>
          <p:cNvPr id="27" name="Rounded Rectangle 26"/>
          <p:cNvSpPr/>
          <p:nvPr/>
        </p:nvSpPr>
        <p:spPr>
          <a:xfrm>
            <a:off x="3840480" y="2770632"/>
            <a:ext cx="2255520" cy="896112"/>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13632" y="2843784"/>
            <a:ext cx="2109216" cy="274320"/>
          </a:xfrm>
          <a:prstGeom prst="rect">
            <a:avLst/>
          </a:prstGeom>
          <a:noFill/>
        </p:spPr>
        <p:txBody>
          <a:bodyPr wrap="square" lIns="45720" rIns="45720">
            <a:spAutoFit/>
          </a:bodyPr>
          <a:lstStyle/>
          <a:p>
            <a:pPr algn="l"/>
            <a:r>
              <a:rPr sz="1100" b="1" i="0">
                <a:solidFill>
                  <a:srgbClr val="FFFFFF"/>
                </a:solidFill>
                <a:latin typeface="Segoe UI"/>
              </a:rPr>
              <a:t>Flask Core Router</a:t>
            </a:r>
          </a:p>
        </p:txBody>
      </p:sp>
      <p:sp>
        <p:nvSpPr>
          <p:cNvPr id="29" name="TextBox 28"/>
          <p:cNvSpPr txBox="1"/>
          <p:nvPr/>
        </p:nvSpPr>
        <p:spPr>
          <a:xfrm>
            <a:off x="3913632" y="3136392"/>
            <a:ext cx="2109216" cy="457200"/>
          </a:xfrm>
          <a:prstGeom prst="rect">
            <a:avLst/>
          </a:prstGeom>
          <a:noFill/>
        </p:spPr>
        <p:txBody>
          <a:bodyPr wrap="square" lIns="45720" rIns="45720">
            <a:spAutoFit/>
          </a:bodyPr>
          <a:lstStyle/>
          <a:p>
            <a:pPr algn="l"/>
            <a:r>
              <a:rPr sz="900" b="0" i="0">
                <a:solidFill>
                  <a:srgbClr val="94A3B8"/>
                </a:solidFill>
                <a:latin typeface="Segoe UI"/>
              </a:rPr>
              <a:t>Handles request routing, session lifecycle, error handling</a:t>
            </a:r>
          </a:p>
        </p:txBody>
      </p:sp>
      <p:sp>
        <p:nvSpPr>
          <p:cNvPr id="30" name="Rounded Rectangle 29"/>
          <p:cNvSpPr/>
          <p:nvPr/>
        </p:nvSpPr>
        <p:spPr>
          <a:xfrm>
            <a:off x="6187440" y="2770632"/>
            <a:ext cx="2255520" cy="896112"/>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0592" y="2843784"/>
            <a:ext cx="2109216" cy="274320"/>
          </a:xfrm>
          <a:prstGeom prst="rect">
            <a:avLst/>
          </a:prstGeom>
          <a:noFill/>
        </p:spPr>
        <p:txBody>
          <a:bodyPr wrap="square" lIns="45720" rIns="45720">
            <a:spAutoFit/>
          </a:bodyPr>
          <a:lstStyle/>
          <a:p>
            <a:pPr algn="l"/>
            <a:r>
              <a:rPr sz="1100" b="1" i="0">
                <a:solidFill>
                  <a:srgbClr val="FFFFFF"/>
                </a:solidFill>
                <a:latin typeface="Segoe UI"/>
              </a:rPr>
              <a:t>MIME &amp; File Guard</a:t>
            </a:r>
          </a:p>
        </p:txBody>
      </p:sp>
      <p:sp>
        <p:nvSpPr>
          <p:cNvPr id="32" name="TextBox 31"/>
          <p:cNvSpPr txBox="1"/>
          <p:nvPr/>
        </p:nvSpPr>
        <p:spPr>
          <a:xfrm>
            <a:off x="6260592" y="3136392"/>
            <a:ext cx="2109216" cy="457200"/>
          </a:xfrm>
          <a:prstGeom prst="rect">
            <a:avLst/>
          </a:prstGeom>
          <a:noFill/>
        </p:spPr>
        <p:txBody>
          <a:bodyPr wrap="square" lIns="45720" rIns="45720">
            <a:spAutoFit/>
          </a:bodyPr>
          <a:lstStyle/>
          <a:p>
            <a:pPr algn="l"/>
            <a:r>
              <a:rPr sz="900" b="0" i="0">
                <a:solidFill>
                  <a:srgbClr val="94A3B8"/>
                </a:solidFill>
                <a:latin typeface="Segoe UI"/>
              </a:rPr>
              <a:t>Validates file magic bytes, MIME types, image integrity</a:t>
            </a:r>
          </a:p>
        </p:txBody>
      </p:sp>
      <p:sp>
        <p:nvSpPr>
          <p:cNvPr id="33" name="Rounded Rectangle 32"/>
          <p:cNvSpPr/>
          <p:nvPr/>
        </p:nvSpPr>
        <p:spPr>
          <a:xfrm>
            <a:off x="8534400" y="2770632"/>
            <a:ext cx="2255520" cy="896112"/>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07552" y="2843784"/>
            <a:ext cx="2109216" cy="274320"/>
          </a:xfrm>
          <a:prstGeom prst="rect">
            <a:avLst/>
          </a:prstGeom>
          <a:noFill/>
        </p:spPr>
        <p:txBody>
          <a:bodyPr wrap="square" lIns="45720" rIns="45720">
            <a:spAutoFit/>
          </a:bodyPr>
          <a:lstStyle/>
          <a:p>
            <a:pPr algn="l"/>
            <a:r>
              <a:rPr sz="1100" b="1" i="0">
                <a:solidFill>
                  <a:srgbClr val="FFFFFF"/>
                </a:solidFill>
                <a:latin typeface="Segoe UI"/>
              </a:rPr>
              <a:t>Audit Logger</a:t>
            </a:r>
          </a:p>
        </p:txBody>
      </p:sp>
      <p:sp>
        <p:nvSpPr>
          <p:cNvPr id="35" name="TextBox 34"/>
          <p:cNvSpPr txBox="1"/>
          <p:nvPr/>
        </p:nvSpPr>
        <p:spPr>
          <a:xfrm>
            <a:off x="8607552" y="3136392"/>
            <a:ext cx="2109216" cy="457200"/>
          </a:xfrm>
          <a:prstGeom prst="rect">
            <a:avLst/>
          </a:prstGeom>
          <a:noFill/>
        </p:spPr>
        <p:txBody>
          <a:bodyPr wrap="square" lIns="45720" rIns="45720">
            <a:spAutoFit/>
          </a:bodyPr>
          <a:lstStyle/>
          <a:p>
            <a:pPr algn="l"/>
            <a:r>
              <a:rPr sz="900" b="0" i="0">
                <a:solidFill>
                  <a:srgbClr val="94A3B8"/>
                </a:solidFill>
                <a:latin typeface="Segoe UI"/>
              </a:rPr>
              <a:t>Automated case ID assignment, timestamping, user tracking</a:t>
            </a:r>
          </a:p>
        </p:txBody>
      </p:sp>
      <p:sp>
        <p:nvSpPr>
          <p:cNvPr id="36" name="Rounded Rectangle 35"/>
          <p:cNvSpPr/>
          <p:nvPr/>
        </p:nvSpPr>
        <p:spPr>
          <a:xfrm>
            <a:off x="548640" y="3904488"/>
            <a:ext cx="11064240" cy="1115568"/>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3904488"/>
            <a:ext cx="73152" cy="111556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77240" y="4014216"/>
            <a:ext cx="2926080" cy="256032"/>
          </a:xfrm>
          <a:prstGeom prst="roundRect">
            <a:avLst/>
          </a:prstGeom>
          <a:solidFill>
            <a:srgbClr val="1A233A"/>
          </a:solidFill>
          <a:ln w="63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4032504"/>
            <a:ext cx="2926080" cy="228600"/>
          </a:xfrm>
          <a:prstGeom prst="rect">
            <a:avLst/>
          </a:prstGeom>
          <a:noFill/>
        </p:spPr>
        <p:txBody>
          <a:bodyPr wrap="square" lIns="45720" rIns="45720">
            <a:spAutoFit/>
          </a:bodyPr>
          <a:lstStyle/>
          <a:p>
            <a:pPr algn="ctr"/>
            <a:r>
              <a:rPr sz="900" b="1" i="0">
                <a:solidFill>
                  <a:srgbClr val="8B5CF6"/>
                </a:solidFill>
                <a:latin typeface="Segoe UI"/>
              </a:rPr>
              <a:t>TIER 3: FORENSIC AI &amp; COMPUTER VISION ENGINE</a:t>
            </a:r>
          </a:p>
        </p:txBody>
      </p:sp>
      <p:sp>
        <p:nvSpPr>
          <p:cNvPr id="40" name="Rounded Rectangle 39"/>
          <p:cNvSpPr/>
          <p:nvPr/>
        </p:nvSpPr>
        <p:spPr>
          <a:xfrm>
            <a:off x="3840480" y="4014216"/>
            <a:ext cx="1668780" cy="896112"/>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13632" y="4087368"/>
            <a:ext cx="1522476" cy="274320"/>
          </a:xfrm>
          <a:prstGeom prst="rect">
            <a:avLst/>
          </a:prstGeom>
          <a:noFill/>
        </p:spPr>
        <p:txBody>
          <a:bodyPr wrap="square" lIns="45720" rIns="45720">
            <a:spAutoFit/>
          </a:bodyPr>
          <a:lstStyle/>
          <a:p>
            <a:pPr algn="l"/>
            <a:r>
              <a:rPr sz="1100" b="1" i="0">
                <a:solidFill>
                  <a:srgbClr val="FFFFFF"/>
                </a:solidFill>
                <a:latin typeface="Segoe UI"/>
              </a:rPr>
              <a:t>OpenCV Preprocessor</a:t>
            </a:r>
          </a:p>
        </p:txBody>
      </p:sp>
      <p:sp>
        <p:nvSpPr>
          <p:cNvPr id="42" name="TextBox 41"/>
          <p:cNvSpPr txBox="1"/>
          <p:nvPr/>
        </p:nvSpPr>
        <p:spPr>
          <a:xfrm>
            <a:off x="3913632" y="4379976"/>
            <a:ext cx="1522476" cy="457200"/>
          </a:xfrm>
          <a:prstGeom prst="rect">
            <a:avLst/>
          </a:prstGeom>
          <a:noFill/>
        </p:spPr>
        <p:txBody>
          <a:bodyPr wrap="square" lIns="45720" rIns="45720">
            <a:spAutoFit/>
          </a:bodyPr>
          <a:lstStyle/>
          <a:p>
            <a:pPr algn="l"/>
            <a:r>
              <a:rPr sz="900" b="0" i="0">
                <a:solidFill>
                  <a:srgbClr val="94A3B8"/>
                </a:solidFill>
                <a:latin typeface="Segoe UI"/>
              </a:rPr>
              <a:t>Haar / DNN facial landmark detection, auto-crop with 20% margin</a:t>
            </a:r>
          </a:p>
        </p:txBody>
      </p:sp>
      <p:sp>
        <p:nvSpPr>
          <p:cNvPr id="43" name="Rounded Rectangle 42"/>
          <p:cNvSpPr/>
          <p:nvPr/>
        </p:nvSpPr>
        <p:spPr>
          <a:xfrm>
            <a:off x="5600700" y="4014216"/>
            <a:ext cx="1668780" cy="896112"/>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73852" y="4087368"/>
            <a:ext cx="1522476" cy="274320"/>
          </a:xfrm>
          <a:prstGeom prst="rect">
            <a:avLst/>
          </a:prstGeom>
          <a:noFill/>
        </p:spPr>
        <p:txBody>
          <a:bodyPr wrap="square" lIns="45720" rIns="45720">
            <a:spAutoFit/>
          </a:bodyPr>
          <a:lstStyle/>
          <a:p>
            <a:pPr algn="l"/>
            <a:r>
              <a:rPr sz="1100" b="1" i="0">
                <a:solidFill>
                  <a:srgbClr val="FFFFFF"/>
                </a:solidFill>
                <a:latin typeface="Segoe UI"/>
              </a:rPr>
              <a:t>EfficientNet-B3 Core</a:t>
            </a:r>
          </a:p>
        </p:txBody>
      </p:sp>
      <p:sp>
        <p:nvSpPr>
          <p:cNvPr id="45" name="TextBox 44"/>
          <p:cNvSpPr txBox="1"/>
          <p:nvPr/>
        </p:nvSpPr>
        <p:spPr>
          <a:xfrm>
            <a:off x="5673852" y="4379976"/>
            <a:ext cx="1522476" cy="457200"/>
          </a:xfrm>
          <a:prstGeom prst="rect">
            <a:avLst/>
          </a:prstGeom>
          <a:noFill/>
        </p:spPr>
        <p:txBody>
          <a:bodyPr wrap="square" lIns="45720" rIns="45720">
            <a:spAutoFit/>
          </a:bodyPr>
          <a:lstStyle/>
          <a:p>
            <a:pPr algn="l"/>
            <a:r>
              <a:rPr sz="900" b="0" i="0">
                <a:solidFill>
                  <a:srgbClr val="94A3B8"/>
                </a:solidFill>
                <a:latin typeface="Segoe UI"/>
              </a:rPr>
              <a:t>224x224 / 300x300 compound deep feature inference (12M params)</a:t>
            </a:r>
          </a:p>
        </p:txBody>
      </p:sp>
      <p:sp>
        <p:nvSpPr>
          <p:cNvPr id="46" name="Rounded Rectangle 45"/>
          <p:cNvSpPr/>
          <p:nvPr/>
        </p:nvSpPr>
        <p:spPr>
          <a:xfrm>
            <a:off x="7360920" y="4014216"/>
            <a:ext cx="1668780" cy="896112"/>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434072" y="4087368"/>
            <a:ext cx="1522476" cy="274320"/>
          </a:xfrm>
          <a:prstGeom prst="rect">
            <a:avLst/>
          </a:prstGeom>
          <a:noFill/>
        </p:spPr>
        <p:txBody>
          <a:bodyPr wrap="square" lIns="45720" rIns="45720">
            <a:spAutoFit/>
          </a:bodyPr>
          <a:lstStyle/>
          <a:p>
            <a:pPr algn="l"/>
            <a:r>
              <a:rPr sz="1100" b="1" i="0">
                <a:solidFill>
                  <a:srgbClr val="FFFFFF"/>
                </a:solidFill>
                <a:latin typeface="Segoe UI"/>
              </a:rPr>
              <a:t>Grad-CAM XAI Module</a:t>
            </a:r>
          </a:p>
        </p:txBody>
      </p:sp>
      <p:sp>
        <p:nvSpPr>
          <p:cNvPr id="48" name="TextBox 47"/>
          <p:cNvSpPr txBox="1"/>
          <p:nvPr/>
        </p:nvSpPr>
        <p:spPr>
          <a:xfrm>
            <a:off x="7434072" y="4379976"/>
            <a:ext cx="1522476" cy="457200"/>
          </a:xfrm>
          <a:prstGeom prst="rect">
            <a:avLst/>
          </a:prstGeom>
          <a:noFill/>
        </p:spPr>
        <p:txBody>
          <a:bodyPr wrap="square" lIns="45720" rIns="45720">
            <a:spAutoFit/>
          </a:bodyPr>
          <a:lstStyle/>
          <a:p>
            <a:pPr algn="l"/>
            <a:r>
              <a:rPr sz="900" b="0" i="0">
                <a:solidFill>
                  <a:srgbClr val="94A3B8"/>
                </a:solidFill>
                <a:latin typeface="Segoe UI"/>
              </a:rPr>
              <a:t>Backprop on final conv layer -&gt; JET colormap overlay</a:t>
            </a:r>
          </a:p>
        </p:txBody>
      </p:sp>
      <p:sp>
        <p:nvSpPr>
          <p:cNvPr id="49" name="Rounded Rectangle 48"/>
          <p:cNvSpPr/>
          <p:nvPr/>
        </p:nvSpPr>
        <p:spPr>
          <a:xfrm>
            <a:off x="9121140" y="4014216"/>
            <a:ext cx="1668780" cy="896112"/>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94292" y="4087368"/>
            <a:ext cx="1522476" cy="274320"/>
          </a:xfrm>
          <a:prstGeom prst="rect">
            <a:avLst/>
          </a:prstGeom>
          <a:noFill/>
        </p:spPr>
        <p:txBody>
          <a:bodyPr wrap="square" lIns="45720" rIns="45720">
            <a:spAutoFit/>
          </a:bodyPr>
          <a:lstStyle/>
          <a:p>
            <a:pPr algn="l"/>
            <a:r>
              <a:rPr sz="1100" b="1" i="0">
                <a:solidFill>
                  <a:srgbClr val="FFFFFF"/>
                </a:solidFill>
                <a:latin typeface="Segoe UI"/>
              </a:rPr>
              <a:t>Video Decimation Unit</a:t>
            </a:r>
          </a:p>
        </p:txBody>
      </p:sp>
      <p:sp>
        <p:nvSpPr>
          <p:cNvPr id="51" name="TextBox 50"/>
          <p:cNvSpPr txBox="1"/>
          <p:nvPr/>
        </p:nvSpPr>
        <p:spPr>
          <a:xfrm>
            <a:off x="9194292" y="4379976"/>
            <a:ext cx="1522476" cy="457200"/>
          </a:xfrm>
          <a:prstGeom prst="rect">
            <a:avLst/>
          </a:prstGeom>
          <a:noFill/>
        </p:spPr>
        <p:txBody>
          <a:bodyPr wrap="square" lIns="45720" rIns="45720">
            <a:spAutoFit/>
          </a:bodyPr>
          <a:lstStyle/>
          <a:p>
            <a:pPr algn="l"/>
            <a:r>
              <a:rPr sz="900" b="0" i="0">
                <a:solidFill>
                  <a:srgbClr val="94A3B8"/>
                </a:solidFill>
                <a:latin typeface="Segoe UI"/>
              </a:rPr>
              <a:t>Frame sampler (10 FPS step), temporal anomaly aggregator</a:t>
            </a:r>
          </a:p>
        </p:txBody>
      </p:sp>
      <p:sp>
        <p:nvSpPr>
          <p:cNvPr id="52" name="Rounded Rectangle 51"/>
          <p:cNvSpPr/>
          <p:nvPr/>
        </p:nvSpPr>
        <p:spPr>
          <a:xfrm>
            <a:off x="548640" y="5148072"/>
            <a:ext cx="11064240" cy="1115568"/>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48640" y="5148072"/>
            <a:ext cx="73152" cy="11155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777240" y="5257800"/>
            <a:ext cx="2926080" cy="256032"/>
          </a:xfrm>
          <a:prstGeom prst="roundRect">
            <a:avLst/>
          </a:prstGeom>
          <a:solidFill>
            <a:srgbClr val="1A233A"/>
          </a:solidFill>
          <a:ln w="63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77240" y="5276088"/>
            <a:ext cx="2926080" cy="228600"/>
          </a:xfrm>
          <a:prstGeom prst="rect">
            <a:avLst/>
          </a:prstGeom>
          <a:noFill/>
        </p:spPr>
        <p:txBody>
          <a:bodyPr wrap="square" lIns="45720" rIns="45720">
            <a:spAutoFit/>
          </a:bodyPr>
          <a:lstStyle/>
          <a:p>
            <a:pPr algn="ctr"/>
            <a:r>
              <a:rPr sz="900" b="1" i="0">
                <a:solidFill>
                  <a:srgbClr val="10B981"/>
                </a:solidFill>
                <a:latin typeface="Segoe UI"/>
              </a:rPr>
              <a:t>TIER 4: PERSISTENCE &amp; EVIDENCE GENERATION LAYER</a:t>
            </a:r>
          </a:p>
        </p:txBody>
      </p:sp>
      <p:sp>
        <p:nvSpPr>
          <p:cNvPr id="56" name="Rounded Rectangle 55"/>
          <p:cNvSpPr/>
          <p:nvPr/>
        </p:nvSpPr>
        <p:spPr>
          <a:xfrm>
            <a:off x="3840480" y="5257800"/>
            <a:ext cx="2255520" cy="896112"/>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913632" y="5330952"/>
            <a:ext cx="2109216" cy="274320"/>
          </a:xfrm>
          <a:prstGeom prst="rect">
            <a:avLst/>
          </a:prstGeom>
          <a:noFill/>
        </p:spPr>
        <p:txBody>
          <a:bodyPr wrap="square" lIns="45720" rIns="45720">
            <a:spAutoFit/>
          </a:bodyPr>
          <a:lstStyle/>
          <a:p>
            <a:pPr algn="l"/>
            <a:r>
              <a:rPr sz="1100" b="1" i="0">
                <a:solidFill>
                  <a:srgbClr val="FFFFFF"/>
                </a:solidFill>
                <a:latin typeface="Segoe UI"/>
              </a:rPr>
              <a:t>SQLite Registry</a:t>
            </a:r>
          </a:p>
        </p:txBody>
      </p:sp>
      <p:sp>
        <p:nvSpPr>
          <p:cNvPr id="58" name="TextBox 57"/>
          <p:cNvSpPr txBox="1"/>
          <p:nvPr/>
        </p:nvSpPr>
        <p:spPr>
          <a:xfrm>
            <a:off x="3913632" y="5623560"/>
            <a:ext cx="2109216" cy="457200"/>
          </a:xfrm>
          <a:prstGeom prst="rect">
            <a:avLst/>
          </a:prstGeom>
          <a:noFill/>
        </p:spPr>
        <p:txBody>
          <a:bodyPr wrap="square" lIns="45720" rIns="45720">
            <a:spAutoFit/>
          </a:bodyPr>
          <a:lstStyle/>
          <a:p>
            <a:pPr algn="l"/>
            <a:r>
              <a:rPr sz="900" b="0" i="0">
                <a:solidFill>
                  <a:srgbClr val="94A3B8"/>
                </a:solidFill>
                <a:latin typeface="Segoe UI"/>
              </a:rPr>
              <a:t>Local relation store (`deepfake_history.db`) for all case audits</a:t>
            </a:r>
          </a:p>
        </p:txBody>
      </p:sp>
      <p:sp>
        <p:nvSpPr>
          <p:cNvPr id="59" name="Rounded Rectangle 58"/>
          <p:cNvSpPr/>
          <p:nvPr/>
        </p:nvSpPr>
        <p:spPr>
          <a:xfrm>
            <a:off x="6187440" y="5257800"/>
            <a:ext cx="2255520" cy="896112"/>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60592" y="5330952"/>
            <a:ext cx="2109216" cy="274320"/>
          </a:xfrm>
          <a:prstGeom prst="rect">
            <a:avLst/>
          </a:prstGeom>
          <a:noFill/>
        </p:spPr>
        <p:txBody>
          <a:bodyPr wrap="square" lIns="45720" rIns="45720">
            <a:spAutoFit/>
          </a:bodyPr>
          <a:lstStyle/>
          <a:p>
            <a:pPr algn="l"/>
            <a:r>
              <a:rPr sz="1100" b="1" i="0">
                <a:solidFill>
                  <a:srgbClr val="FFFFFF"/>
                </a:solidFill>
                <a:latin typeface="Segoe UI"/>
              </a:rPr>
              <a:t>ReportLab PDF Engine</a:t>
            </a:r>
          </a:p>
        </p:txBody>
      </p:sp>
      <p:sp>
        <p:nvSpPr>
          <p:cNvPr id="61" name="TextBox 60"/>
          <p:cNvSpPr txBox="1"/>
          <p:nvPr/>
        </p:nvSpPr>
        <p:spPr>
          <a:xfrm>
            <a:off x="6260592" y="5623560"/>
            <a:ext cx="2109216" cy="457200"/>
          </a:xfrm>
          <a:prstGeom prst="rect">
            <a:avLst/>
          </a:prstGeom>
          <a:noFill/>
        </p:spPr>
        <p:txBody>
          <a:bodyPr wrap="square" lIns="45720" rIns="45720">
            <a:spAutoFit/>
          </a:bodyPr>
          <a:lstStyle/>
          <a:p>
            <a:pPr algn="l"/>
            <a:r>
              <a:rPr sz="900" b="0" i="0">
                <a:solidFill>
                  <a:srgbClr val="94A3B8"/>
                </a:solidFill>
                <a:latin typeface="Segoe UI"/>
              </a:rPr>
              <a:t>Compiles dynamic forensic evidence dossiers with charts</a:t>
            </a:r>
          </a:p>
        </p:txBody>
      </p:sp>
      <p:sp>
        <p:nvSpPr>
          <p:cNvPr id="62" name="Rounded Rectangle 61"/>
          <p:cNvSpPr/>
          <p:nvPr/>
        </p:nvSpPr>
        <p:spPr>
          <a:xfrm>
            <a:off x="8534400" y="5257800"/>
            <a:ext cx="2255520" cy="896112"/>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607552" y="5330952"/>
            <a:ext cx="2109216" cy="274320"/>
          </a:xfrm>
          <a:prstGeom prst="rect">
            <a:avLst/>
          </a:prstGeom>
          <a:noFill/>
        </p:spPr>
        <p:txBody>
          <a:bodyPr wrap="square" lIns="45720" rIns="45720">
            <a:spAutoFit/>
          </a:bodyPr>
          <a:lstStyle/>
          <a:p>
            <a:pPr algn="l"/>
            <a:r>
              <a:rPr sz="1100" b="1" i="0">
                <a:solidFill>
                  <a:srgbClr val="FFFFFF"/>
                </a:solidFill>
                <a:latin typeface="Segoe UI"/>
              </a:rPr>
              <a:t>CSV Export Service</a:t>
            </a:r>
          </a:p>
        </p:txBody>
      </p:sp>
      <p:sp>
        <p:nvSpPr>
          <p:cNvPr id="64" name="TextBox 63"/>
          <p:cNvSpPr txBox="1"/>
          <p:nvPr/>
        </p:nvSpPr>
        <p:spPr>
          <a:xfrm>
            <a:off x="8607552" y="5623560"/>
            <a:ext cx="2109216" cy="457200"/>
          </a:xfrm>
          <a:prstGeom prst="rect">
            <a:avLst/>
          </a:prstGeom>
          <a:noFill/>
        </p:spPr>
        <p:txBody>
          <a:bodyPr wrap="square" lIns="45720" rIns="45720">
            <a:spAutoFit/>
          </a:bodyPr>
          <a:lstStyle/>
          <a:p>
            <a:pPr algn="l"/>
            <a:r>
              <a:rPr sz="900" b="0" i="0">
                <a:solidFill>
                  <a:srgbClr val="94A3B8"/>
                </a:solidFill>
                <a:latin typeface="Segoe UI"/>
              </a:rPr>
              <a:t>One-click bulk export in standard RFC 4180 format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 cy="685800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20040"/>
            <a:ext cx="2560320" cy="292608"/>
          </a:xfrm>
          <a:prstGeom prst="roundRect">
            <a:avLst/>
          </a:prstGeom>
          <a:solidFill>
            <a:srgbClr val="111827"/>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47472"/>
            <a:ext cx="2560320" cy="274320"/>
          </a:xfrm>
          <a:prstGeom prst="rect">
            <a:avLst/>
          </a:prstGeom>
          <a:noFill/>
        </p:spPr>
        <p:txBody>
          <a:bodyPr wrap="square" lIns="45720" rIns="45720">
            <a:spAutoFit/>
          </a:bodyPr>
          <a:lstStyle/>
          <a:p>
            <a:pPr algn="ctr"/>
            <a:r>
              <a:rPr sz="1000" b="1" i="0">
                <a:solidFill>
                  <a:srgbClr val="F43F5E"/>
                </a:solidFill>
                <a:latin typeface="Segoe UI"/>
              </a:rPr>
              <a:t>6. DATA FLOW &amp; USE CASES</a:t>
            </a:r>
          </a:p>
        </p:txBody>
      </p:sp>
      <p:sp>
        <p:nvSpPr>
          <p:cNvPr id="6" name="Rounded Rectangle 5"/>
          <p:cNvSpPr/>
          <p:nvPr/>
        </p:nvSpPr>
        <p:spPr>
          <a:xfrm>
            <a:off x="11064240" y="320040"/>
            <a:ext cx="640080" cy="292608"/>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47472"/>
            <a:ext cx="640080" cy="274320"/>
          </a:xfrm>
          <a:prstGeom prst="rect">
            <a:avLst/>
          </a:prstGeom>
          <a:noFill/>
        </p:spPr>
        <p:txBody>
          <a:bodyPr wrap="square" lIns="45720" rIns="45720">
            <a:spAutoFit/>
          </a:bodyPr>
          <a:lstStyle/>
          <a:p>
            <a:pPr algn="ctr"/>
            <a:r>
              <a:rPr sz="1100" b="1" i="0">
                <a:solidFill>
                  <a:srgbClr val="94A3B8"/>
                </a:solidFill>
                <a:latin typeface="Segoe UI"/>
              </a:rPr>
              <a:t>10</a:t>
            </a:r>
          </a:p>
        </p:txBody>
      </p:sp>
      <p:sp>
        <p:nvSpPr>
          <p:cNvPr id="8" name="TextBox 7"/>
          <p:cNvSpPr txBox="1"/>
          <p:nvPr/>
        </p:nvSpPr>
        <p:spPr>
          <a:xfrm>
            <a:off x="548640" y="685800"/>
            <a:ext cx="10515600" cy="502920"/>
          </a:xfrm>
          <a:prstGeom prst="rect">
            <a:avLst/>
          </a:prstGeom>
          <a:noFill/>
        </p:spPr>
        <p:txBody>
          <a:bodyPr wrap="square" lIns="45720" rIns="45720">
            <a:spAutoFit/>
          </a:bodyPr>
          <a:lstStyle/>
          <a:p>
            <a:pPr algn="l"/>
            <a:r>
              <a:rPr sz="2400" b="1" i="0">
                <a:solidFill>
                  <a:srgbClr val="F8FAFC"/>
                </a:solidFill>
                <a:latin typeface="Segoe UI"/>
              </a:rPr>
              <a:t>Data Flow Diagram (DFD Level 0 &amp; Level 1)</a:t>
            </a:r>
          </a:p>
        </p:txBody>
      </p:sp>
      <p:sp>
        <p:nvSpPr>
          <p:cNvPr id="9" name="Rectangle 8"/>
          <p:cNvSpPr/>
          <p:nvPr/>
        </p:nvSpPr>
        <p:spPr>
          <a:xfrm>
            <a:off x="548640" y="1234440"/>
            <a:ext cx="1115568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371600"/>
            <a:ext cx="11064240" cy="274320"/>
          </a:xfrm>
          <a:prstGeom prst="rect">
            <a:avLst/>
          </a:prstGeom>
          <a:noFill/>
        </p:spPr>
        <p:txBody>
          <a:bodyPr wrap="square" lIns="45720" rIns="45720">
            <a:spAutoFit/>
          </a:bodyPr>
          <a:lstStyle/>
          <a:p>
            <a:pPr algn="l"/>
            <a:r>
              <a:rPr sz="1100" b="1" i="0">
                <a:solidFill>
                  <a:srgbClr val="06B6D4"/>
                </a:solidFill>
                <a:latin typeface="Segoe UI"/>
              </a:rPr>
              <a:t>LEVEL 0: CONTEXT DATA FLOW DIAGRAM</a:t>
            </a:r>
          </a:p>
        </p:txBody>
      </p:sp>
      <p:sp>
        <p:nvSpPr>
          <p:cNvPr id="11" name="Rounded Rectangle 10"/>
          <p:cNvSpPr/>
          <p:nvPr/>
        </p:nvSpPr>
        <p:spPr>
          <a:xfrm>
            <a:off x="548640" y="1691640"/>
            <a:ext cx="2011680" cy="914400"/>
          </a:xfrm>
          <a:prstGeom prst="roundRect">
            <a:avLst/>
          </a:prstGeom>
          <a:solidFill>
            <a:srgbClr val="111827"/>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874519"/>
            <a:ext cx="2011680" cy="548640"/>
          </a:xfrm>
          <a:prstGeom prst="rect">
            <a:avLst/>
          </a:prstGeom>
          <a:noFill/>
        </p:spPr>
        <p:txBody>
          <a:bodyPr wrap="square" lIns="45720" rIns="45720">
            <a:spAutoFit/>
          </a:bodyPr>
          <a:lstStyle/>
          <a:p>
            <a:pPr algn="ctr"/>
            <a:r>
              <a:rPr sz="1200" b="1" i="0">
                <a:solidFill>
                  <a:srgbClr val="FFFFFF"/>
                </a:solidFill>
                <a:latin typeface="Segoe UI"/>
              </a:rPr>
              <a:t>INVESTIGATOR /
EXAMINER</a:t>
            </a:r>
          </a:p>
        </p:txBody>
      </p:sp>
      <p:sp>
        <p:nvSpPr>
          <p:cNvPr id="13" name="Right Arrow 12"/>
          <p:cNvSpPr/>
          <p:nvPr/>
        </p:nvSpPr>
        <p:spPr>
          <a:xfrm>
            <a:off x="2743200" y="1993392"/>
            <a:ext cx="914400" cy="201168"/>
          </a:xfrm>
          <a:prstGeom prst="rightArrow">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51760" y="1737360"/>
            <a:ext cx="1097280" cy="228600"/>
          </a:xfrm>
          <a:prstGeom prst="rect">
            <a:avLst/>
          </a:prstGeom>
          <a:noFill/>
        </p:spPr>
        <p:txBody>
          <a:bodyPr wrap="square" lIns="45720" rIns="45720">
            <a:spAutoFit/>
          </a:bodyPr>
          <a:lstStyle/>
          <a:p>
            <a:pPr algn="ctr"/>
            <a:r>
              <a:rPr sz="900" b="0" i="0">
                <a:solidFill>
                  <a:srgbClr val="94A3B8"/>
                </a:solidFill>
                <a:latin typeface="Segoe UI"/>
              </a:rPr>
              <a:t>Image / Video</a:t>
            </a:r>
          </a:p>
        </p:txBody>
      </p:sp>
      <p:sp>
        <p:nvSpPr>
          <p:cNvPr id="15" name="Oval 14"/>
          <p:cNvSpPr/>
          <p:nvPr/>
        </p:nvSpPr>
        <p:spPr>
          <a:xfrm>
            <a:off x="3840480" y="1600200"/>
            <a:ext cx="4114800" cy="1097280"/>
          </a:xfrm>
          <a:prstGeom prst="ellipse">
            <a:avLst/>
          </a:prstGeom>
          <a:solidFill>
            <a:srgbClr val="1A233A"/>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80" y="1874519"/>
            <a:ext cx="4114800" cy="548640"/>
          </a:xfrm>
          <a:prstGeom prst="rect">
            <a:avLst/>
          </a:prstGeom>
          <a:noFill/>
        </p:spPr>
        <p:txBody>
          <a:bodyPr wrap="square" lIns="45720" rIns="45720">
            <a:spAutoFit/>
          </a:bodyPr>
          <a:lstStyle/>
          <a:p>
            <a:pPr algn="ctr"/>
            <a:r>
              <a:rPr sz="1200" b="1" i="0">
                <a:solidFill>
                  <a:srgbClr val="06B6D4"/>
                </a:solidFill>
                <a:latin typeface="Segoe UI"/>
              </a:rPr>
              <a:t>0.0 DEEPFAKE INVESTIGATION
SYSTEM (CORE FORENSIC ENGINE)</a:t>
            </a:r>
          </a:p>
        </p:txBody>
      </p:sp>
      <p:sp>
        <p:nvSpPr>
          <p:cNvPr id="17" name="Right Arrow 16"/>
          <p:cNvSpPr/>
          <p:nvPr/>
        </p:nvSpPr>
        <p:spPr>
          <a:xfrm>
            <a:off x="8138160" y="1993392"/>
            <a:ext cx="914400" cy="201168"/>
          </a:xfrm>
          <a:prstGeom prst="rightArrow">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0" y="1737360"/>
            <a:ext cx="1097280" cy="228600"/>
          </a:xfrm>
          <a:prstGeom prst="rect">
            <a:avLst/>
          </a:prstGeom>
          <a:noFill/>
        </p:spPr>
        <p:txBody>
          <a:bodyPr wrap="square" lIns="45720" rIns="45720">
            <a:spAutoFit/>
          </a:bodyPr>
          <a:lstStyle/>
          <a:p>
            <a:pPr algn="ctr"/>
            <a:r>
              <a:rPr sz="900" b="0" i="0">
                <a:solidFill>
                  <a:srgbClr val="94A3B8"/>
                </a:solidFill>
                <a:latin typeface="Segoe UI"/>
              </a:rPr>
              <a:t>Forensic Dossier</a:t>
            </a:r>
          </a:p>
        </p:txBody>
      </p:sp>
      <p:sp>
        <p:nvSpPr>
          <p:cNvPr id="19" name="Rounded Rectangle 18"/>
          <p:cNvSpPr/>
          <p:nvPr/>
        </p:nvSpPr>
        <p:spPr>
          <a:xfrm>
            <a:off x="9235440" y="1691640"/>
            <a:ext cx="2377440" cy="914400"/>
          </a:xfrm>
          <a:prstGeom prst="roundRect">
            <a:avLst/>
          </a:prstGeom>
          <a:solidFill>
            <a:srgbClr val="11182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5440" y="1874519"/>
            <a:ext cx="2377440" cy="548640"/>
          </a:xfrm>
          <a:prstGeom prst="rect">
            <a:avLst/>
          </a:prstGeom>
          <a:noFill/>
        </p:spPr>
        <p:txBody>
          <a:bodyPr wrap="square" lIns="45720" rIns="45720">
            <a:spAutoFit/>
          </a:bodyPr>
          <a:lstStyle/>
          <a:p>
            <a:pPr algn="ctr"/>
            <a:r>
              <a:rPr sz="1200" b="1" i="0">
                <a:solidFill>
                  <a:srgbClr val="FFFFFF"/>
                </a:solidFill>
                <a:latin typeface="Segoe UI"/>
              </a:rPr>
              <a:t>FORENSIC DOSSIER &amp;
COURTROOM ARCHIVE</a:t>
            </a:r>
          </a:p>
        </p:txBody>
      </p:sp>
      <p:sp>
        <p:nvSpPr>
          <p:cNvPr id="21" name="Rectangle 20"/>
          <p:cNvSpPr/>
          <p:nvPr/>
        </p:nvSpPr>
        <p:spPr>
          <a:xfrm>
            <a:off x="548640" y="2880360"/>
            <a:ext cx="1106424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017520"/>
            <a:ext cx="11064240" cy="274320"/>
          </a:xfrm>
          <a:prstGeom prst="rect">
            <a:avLst/>
          </a:prstGeom>
          <a:noFill/>
        </p:spPr>
        <p:txBody>
          <a:bodyPr wrap="square" lIns="45720" rIns="45720">
            <a:spAutoFit/>
          </a:bodyPr>
          <a:lstStyle/>
          <a:p>
            <a:pPr algn="l"/>
            <a:r>
              <a:rPr sz="1100" b="1" i="0">
                <a:solidFill>
                  <a:srgbClr val="F43F5E"/>
                </a:solidFill>
                <a:latin typeface="Segoe UI"/>
              </a:rPr>
              <a:t>LEVEL 1: STEP-BY-STEP FORENSIC PROCESSING PIPELINE</a:t>
            </a:r>
          </a:p>
        </p:txBody>
      </p:sp>
      <p:sp>
        <p:nvSpPr>
          <p:cNvPr id="23" name="Rounded Rectangle 22"/>
          <p:cNvSpPr/>
          <p:nvPr/>
        </p:nvSpPr>
        <p:spPr>
          <a:xfrm>
            <a:off x="548640" y="3383280"/>
            <a:ext cx="1691640" cy="28803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3383280"/>
            <a:ext cx="1691640" cy="381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15568" y="3566160"/>
            <a:ext cx="548640" cy="548640"/>
          </a:xfrm>
          <a:prstGeom prst="ellipse">
            <a:avLst/>
          </a:prstGeom>
          <a:solidFill>
            <a:srgbClr val="1A233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15568" y="3657600"/>
            <a:ext cx="548640" cy="365760"/>
          </a:xfrm>
          <a:prstGeom prst="rect">
            <a:avLst/>
          </a:prstGeom>
          <a:noFill/>
        </p:spPr>
        <p:txBody>
          <a:bodyPr wrap="square" lIns="45720" rIns="45720">
            <a:spAutoFit/>
          </a:bodyPr>
          <a:lstStyle/>
          <a:p>
            <a:pPr algn="ctr"/>
            <a:r>
              <a:rPr sz="1400" b="1" i="0">
                <a:solidFill>
                  <a:srgbClr val="3B82F6"/>
                </a:solidFill>
                <a:latin typeface="Segoe UI"/>
              </a:rPr>
              <a:t>1</a:t>
            </a:r>
          </a:p>
        </p:txBody>
      </p:sp>
      <p:sp>
        <p:nvSpPr>
          <p:cNvPr id="27" name="TextBox 26"/>
          <p:cNvSpPr txBox="1"/>
          <p:nvPr/>
        </p:nvSpPr>
        <p:spPr>
          <a:xfrm>
            <a:off x="621792" y="4251960"/>
            <a:ext cx="1545336" cy="365760"/>
          </a:xfrm>
          <a:prstGeom prst="rect">
            <a:avLst/>
          </a:prstGeom>
          <a:noFill/>
        </p:spPr>
        <p:txBody>
          <a:bodyPr wrap="square" lIns="45720" rIns="45720">
            <a:spAutoFit/>
          </a:bodyPr>
          <a:lstStyle/>
          <a:p>
            <a:pPr algn="ctr"/>
            <a:r>
              <a:rPr sz="1200" b="1" i="0">
                <a:solidFill>
                  <a:srgbClr val="F8FAFC"/>
                </a:solidFill>
                <a:latin typeface="Segoe UI"/>
              </a:rPr>
              <a:t>1.0 Ingestion</a:t>
            </a:r>
          </a:p>
        </p:txBody>
      </p:sp>
      <p:sp>
        <p:nvSpPr>
          <p:cNvPr id="28" name="Rectangle 27"/>
          <p:cNvSpPr/>
          <p:nvPr/>
        </p:nvSpPr>
        <p:spPr>
          <a:xfrm>
            <a:off x="685800" y="4663440"/>
            <a:ext cx="1417320" cy="635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4754880"/>
            <a:ext cx="1545336" cy="1280160"/>
          </a:xfrm>
          <a:prstGeom prst="rect">
            <a:avLst/>
          </a:prstGeom>
          <a:noFill/>
        </p:spPr>
        <p:txBody>
          <a:bodyPr wrap="square" lIns="45720" rIns="45720">
            <a:spAutoFit/>
          </a:bodyPr>
          <a:lstStyle/>
          <a:p>
            <a:pPr algn="ctr"/>
            <a:r>
              <a:rPr sz="1000" b="0" i="0">
                <a:solidFill>
                  <a:srgbClr val="94A3B8"/>
                </a:solidFill>
                <a:latin typeface="Segoe UI"/>
              </a:rPr>
              <a:t>Upload validation, MIME-type guard, format normalization</a:t>
            </a:r>
          </a:p>
        </p:txBody>
      </p:sp>
      <p:sp>
        <p:nvSpPr>
          <p:cNvPr id="30" name="Rounded Rectangle 29"/>
          <p:cNvSpPr/>
          <p:nvPr/>
        </p:nvSpPr>
        <p:spPr>
          <a:xfrm>
            <a:off x="2423159" y="3383280"/>
            <a:ext cx="1691640" cy="28803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423159" y="3383280"/>
            <a:ext cx="169164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990087" y="3566160"/>
            <a:ext cx="548640" cy="548640"/>
          </a:xfrm>
          <a:prstGeom prst="ellipse">
            <a:avLst/>
          </a:prstGeom>
          <a:solidFill>
            <a:srgbClr val="1A233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90087" y="3657600"/>
            <a:ext cx="548640" cy="365760"/>
          </a:xfrm>
          <a:prstGeom prst="rect">
            <a:avLst/>
          </a:prstGeom>
          <a:noFill/>
        </p:spPr>
        <p:txBody>
          <a:bodyPr wrap="square" lIns="45720" rIns="45720">
            <a:spAutoFit/>
          </a:bodyPr>
          <a:lstStyle/>
          <a:p>
            <a:pPr algn="ctr"/>
            <a:r>
              <a:rPr sz="1400" b="1" i="0">
                <a:solidFill>
                  <a:srgbClr val="06B6D4"/>
                </a:solidFill>
                <a:latin typeface="Segoe UI"/>
              </a:rPr>
              <a:t>2</a:t>
            </a:r>
          </a:p>
        </p:txBody>
      </p:sp>
      <p:sp>
        <p:nvSpPr>
          <p:cNvPr id="34" name="TextBox 33"/>
          <p:cNvSpPr txBox="1"/>
          <p:nvPr/>
        </p:nvSpPr>
        <p:spPr>
          <a:xfrm>
            <a:off x="2496311" y="4251960"/>
            <a:ext cx="1545336" cy="365760"/>
          </a:xfrm>
          <a:prstGeom prst="rect">
            <a:avLst/>
          </a:prstGeom>
          <a:noFill/>
        </p:spPr>
        <p:txBody>
          <a:bodyPr wrap="square" lIns="45720" rIns="45720">
            <a:spAutoFit/>
          </a:bodyPr>
          <a:lstStyle/>
          <a:p>
            <a:pPr algn="ctr"/>
            <a:r>
              <a:rPr sz="1200" b="1" i="0">
                <a:solidFill>
                  <a:srgbClr val="F8FAFC"/>
                </a:solidFill>
                <a:latin typeface="Segoe UI"/>
              </a:rPr>
              <a:t>2.0 Face Extraction</a:t>
            </a:r>
          </a:p>
        </p:txBody>
      </p:sp>
      <p:sp>
        <p:nvSpPr>
          <p:cNvPr id="35" name="Rectangle 34"/>
          <p:cNvSpPr/>
          <p:nvPr/>
        </p:nvSpPr>
        <p:spPr>
          <a:xfrm>
            <a:off x="2560319" y="4663440"/>
            <a:ext cx="1417320" cy="635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496311" y="4754880"/>
            <a:ext cx="1545336" cy="1280160"/>
          </a:xfrm>
          <a:prstGeom prst="rect">
            <a:avLst/>
          </a:prstGeom>
          <a:noFill/>
        </p:spPr>
        <p:txBody>
          <a:bodyPr wrap="square" lIns="45720" rIns="45720">
            <a:spAutoFit/>
          </a:bodyPr>
          <a:lstStyle/>
          <a:p>
            <a:pPr algn="ctr"/>
            <a:r>
              <a:rPr sz="1000" b="0" i="0">
                <a:solidFill>
                  <a:srgbClr val="94A3B8"/>
                </a:solidFill>
                <a:latin typeface="Segoe UI"/>
              </a:rPr>
              <a:t>OpenCV Haar/DNN detection, 20% margin crop &amp; resize</a:t>
            </a:r>
          </a:p>
        </p:txBody>
      </p:sp>
      <p:sp>
        <p:nvSpPr>
          <p:cNvPr id="37" name="Rounded Rectangle 36"/>
          <p:cNvSpPr/>
          <p:nvPr/>
        </p:nvSpPr>
        <p:spPr>
          <a:xfrm>
            <a:off x="4297678" y="3383280"/>
            <a:ext cx="1691640" cy="28803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297678" y="3383280"/>
            <a:ext cx="1691640" cy="381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864606" y="3566160"/>
            <a:ext cx="548640" cy="548640"/>
          </a:xfrm>
          <a:prstGeom prst="ellipse">
            <a:avLst/>
          </a:prstGeom>
          <a:solidFill>
            <a:srgbClr val="1A233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64606" y="3657600"/>
            <a:ext cx="548640" cy="365760"/>
          </a:xfrm>
          <a:prstGeom prst="rect">
            <a:avLst/>
          </a:prstGeom>
          <a:noFill/>
        </p:spPr>
        <p:txBody>
          <a:bodyPr wrap="square" lIns="45720" rIns="45720">
            <a:spAutoFit/>
          </a:bodyPr>
          <a:lstStyle/>
          <a:p>
            <a:pPr algn="ctr"/>
            <a:r>
              <a:rPr sz="1400" b="1" i="0">
                <a:solidFill>
                  <a:srgbClr val="8B5CF6"/>
                </a:solidFill>
                <a:latin typeface="Segoe UI"/>
              </a:rPr>
              <a:t>3</a:t>
            </a:r>
          </a:p>
        </p:txBody>
      </p:sp>
      <p:sp>
        <p:nvSpPr>
          <p:cNvPr id="41" name="TextBox 40"/>
          <p:cNvSpPr txBox="1"/>
          <p:nvPr/>
        </p:nvSpPr>
        <p:spPr>
          <a:xfrm>
            <a:off x="4370830" y="4251960"/>
            <a:ext cx="1545336" cy="365760"/>
          </a:xfrm>
          <a:prstGeom prst="rect">
            <a:avLst/>
          </a:prstGeom>
          <a:noFill/>
        </p:spPr>
        <p:txBody>
          <a:bodyPr wrap="square" lIns="45720" rIns="45720">
            <a:spAutoFit/>
          </a:bodyPr>
          <a:lstStyle/>
          <a:p>
            <a:pPr algn="ctr"/>
            <a:r>
              <a:rPr sz="1200" b="1" i="0">
                <a:solidFill>
                  <a:srgbClr val="F8FAFC"/>
                </a:solidFill>
                <a:latin typeface="Segoe UI"/>
              </a:rPr>
              <a:t>3.0 Neural Inference</a:t>
            </a:r>
          </a:p>
        </p:txBody>
      </p:sp>
      <p:sp>
        <p:nvSpPr>
          <p:cNvPr id="42" name="Rectangle 41"/>
          <p:cNvSpPr/>
          <p:nvPr/>
        </p:nvSpPr>
        <p:spPr>
          <a:xfrm>
            <a:off x="4434838" y="4663440"/>
            <a:ext cx="1417320" cy="635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70830" y="4754880"/>
            <a:ext cx="1545336" cy="1280160"/>
          </a:xfrm>
          <a:prstGeom prst="rect">
            <a:avLst/>
          </a:prstGeom>
          <a:noFill/>
        </p:spPr>
        <p:txBody>
          <a:bodyPr wrap="square" lIns="45720" rIns="45720">
            <a:spAutoFit/>
          </a:bodyPr>
          <a:lstStyle/>
          <a:p>
            <a:pPr algn="ctr"/>
            <a:r>
              <a:rPr sz="1000" b="0" i="0">
                <a:solidFill>
                  <a:srgbClr val="94A3B8"/>
                </a:solidFill>
                <a:latin typeface="Segoe UI"/>
              </a:rPr>
              <a:t>EfficientNet-B3 compound deep spatial feature extraction</a:t>
            </a:r>
          </a:p>
        </p:txBody>
      </p:sp>
      <p:sp>
        <p:nvSpPr>
          <p:cNvPr id="44" name="Rounded Rectangle 43"/>
          <p:cNvSpPr/>
          <p:nvPr/>
        </p:nvSpPr>
        <p:spPr>
          <a:xfrm>
            <a:off x="6172197" y="3383280"/>
            <a:ext cx="1691640" cy="28803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172197" y="3383280"/>
            <a:ext cx="1691640" cy="3810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739125" y="3566160"/>
            <a:ext cx="548640" cy="548640"/>
          </a:xfrm>
          <a:prstGeom prst="ellipse">
            <a:avLst/>
          </a:prstGeom>
          <a:solidFill>
            <a:srgbClr val="1A233A"/>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739125" y="3657600"/>
            <a:ext cx="548640" cy="365760"/>
          </a:xfrm>
          <a:prstGeom prst="rect">
            <a:avLst/>
          </a:prstGeom>
          <a:noFill/>
        </p:spPr>
        <p:txBody>
          <a:bodyPr wrap="square" lIns="45720" rIns="45720">
            <a:spAutoFit/>
          </a:bodyPr>
          <a:lstStyle/>
          <a:p>
            <a:pPr algn="ctr"/>
            <a:r>
              <a:rPr sz="1400" b="1" i="0">
                <a:solidFill>
                  <a:srgbClr val="F43F5E"/>
                </a:solidFill>
                <a:latin typeface="Segoe UI"/>
              </a:rPr>
              <a:t>4</a:t>
            </a:r>
          </a:p>
        </p:txBody>
      </p:sp>
      <p:sp>
        <p:nvSpPr>
          <p:cNvPr id="48" name="TextBox 47"/>
          <p:cNvSpPr txBox="1"/>
          <p:nvPr/>
        </p:nvSpPr>
        <p:spPr>
          <a:xfrm>
            <a:off x="6245349" y="4251960"/>
            <a:ext cx="1545336" cy="365760"/>
          </a:xfrm>
          <a:prstGeom prst="rect">
            <a:avLst/>
          </a:prstGeom>
          <a:noFill/>
        </p:spPr>
        <p:txBody>
          <a:bodyPr wrap="square" lIns="45720" rIns="45720">
            <a:spAutoFit/>
          </a:bodyPr>
          <a:lstStyle/>
          <a:p>
            <a:pPr algn="ctr"/>
            <a:r>
              <a:rPr sz="1200" b="1" i="0">
                <a:solidFill>
                  <a:srgbClr val="F8FAFC"/>
                </a:solidFill>
                <a:latin typeface="Segoe UI"/>
              </a:rPr>
              <a:t>4.0 Explainable XAI</a:t>
            </a:r>
          </a:p>
        </p:txBody>
      </p:sp>
      <p:sp>
        <p:nvSpPr>
          <p:cNvPr id="49" name="Rectangle 48"/>
          <p:cNvSpPr/>
          <p:nvPr/>
        </p:nvSpPr>
        <p:spPr>
          <a:xfrm>
            <a:off x="6309357" y="4663440"/>
            <a:ext cx="1417320" cy="635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45349" y="4754880"/>
            <a:ext cx="1545336" cy="1280160"/>
          </a:xfrm>
          <a:prstGeom prst="rect">
            <a:avLst/>
          </a:prstGeom>
          <a:noFill/>
        </p:spPr>
        <p:txBody>
          <a:bodyPr wrap="square" lIns="45720" rIns="45720">
            <a:spAutoFit/>
          </a:bodyPr>
          <a:lstStyle/>
          <a:p>
            <a:pPr algn="ctr"/>
            <a:r>
              <a:rPr sz="1000" b="0" i="0">
                <a:solidFill>
                  <a:srgbClr val="94A3B8"/>
                </a:solidFill>
                <a:latin typeface="Segoe UI"/>
              </a:rPr>
              <a:t>Grad-CAM gradient backprop -&gt; JET heatmap overlay</a:t>
            </a:r>
          </a:p>
        </p:txBody>
      </p:sp>
      <p:sp>
        <p:nvSpPr>
          <p:cNvPr id="51" name="Rounded Rectangle 50"/>
          <p:cNvSpPr/>
          <p:nvPr/>
        </p:nvSpPr>
        <p:spPr>
          <a:xfrm>
            <a:off x="8046716" y="3383280"/>
            <a:ext cx="1691640" cy="28803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046716" y="3383280"/>
            <a:ext cx="1691640" cy="381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8613644" y="3566160"/>
            <a:ext cx="548640" cy="548640"/>
          </a:xfrm>
          <a:prstGeom prst="ellipse">
            <a:avLst/>
          </a:prstGeom>
          <a:solidFill>
            <a:srgbClr val="1A233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13644" y="3657600"/>
            <a:ext cx="548640" cy="365760"/>
          </a:xfrm>
          <a:prstGeom prst="rect">
            <a:avLst/>
          </a:prstGeom>
          <a:noFill/>
        </p:spPr>
        <p:txBody>
          <a:bodyPr wrap="square" lIns="45720" rIns="45720">
            <a:spAutoFit/>
          </a:bodyPr>
          <a:lstStyle/>
          <a:p>
            <a:pPr algn="ctr"/>
            <a:r>
              <a:rPr sz="1400" b="1" i="0">
                <a:solidFill>
                  <a:srgbClr val="F59E0B"/>
                </a:solidFill>
                <a:latin typeface="Segoe UI"/>
              </a:rPr>
              <a:t>5</a:t>
            </a:r>
          </a:p>
        </p:txBody>
      </p:sp>
      <p:sp>
        <p:nvSpPr>
          <p:cNvPr id="55" name="TextBox 54"/>
          <p:cNvSpPr txBox="1"/>
          <p:nvPr/>
        </p:nvSpPr>
        <p:spPr>
          <a:xfrm>
            <a:off x="8119868" y="4251960"/>
            <a:ext cx="1545336" cy="365760"/>
          </a:xfrm>
          <a:prstGeom prst="rect">
            <a:avLst/>
          </a:prstGeom>
          <a:noFill/>
        </p:spPr>
        <p:txBody>
          <a:bodyPr wrap="square" lIns="45720" rIns="45720">
            <a:spAutoFit/>
          </a:bodyPr>
          <a:lstStyle/>
          <a:p>
            <a:pPr algn="ctr"/>
            <a:r>
              <a:rPr sz="1200" b="1" i="0">
                <a:solidFill>
                  <a:srgbClr val="F8FAFC"/>
                </a:solidFill>
                <a:latin typeface="Segoe UI"/>
              </a:rPr>
              <a:t>5.0 Risk Aggregation</a:t>
            </a:r>
          </a:p>
        </p:txBody>
      </p:sp>
      <p:sp>
        <p:nvSpPr>
          <p:cNvPr id="56" name="Rectangle 55"/>
          <p:cNvSpPr/>
          <p:nvPr/>
        </p:nvSpPr>
        <p:spPr>
          <a:xfrm>
            <a:off x="8183876" y="4663440"/>
            <a:ext cx="1417320" cy="635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119868" y="4754880"/>
            <a:ext cx="1545336" cy="1280160"/>
          </a:xfrm>
          <a:prstGeom prst="rect">
            <a:avLst/>
          </a:prstGeom>
          <a:noFill/>
        </p:spPr>
        <p:txBody>
          <a:bodyPr wrap="square" lIns="45720" rIns="45720">
            <a:spAutoFit/>
          </a:bodyPr>
          <a:lstStyle/>
          <a:p>
            <a:pPr algn="ctr"/>
            <a:r>
              <a:rPr sz="1000" b="0" i="0">
                <a:solidFill>
                  <a:srgbClr val="94A3B8"/>
                </a:solidFill>
                <a:latin typeface="Segoe UI"/>
              </a:rPr>
              <a:t>Confidence calibration, thresholding, temporal frame stats</a:t>
            </a:r>
          </a:p>
        </p:txBody>
      </p:sp>
      <p:sp>
        <p:nvSpPr>
          <p:cNvPr id="58" name="Rounded Rectangle 57"/>
          <p:cNvSpPr/>
          <p:nvPr/>
        </p:nvSpPr>
        <p:spPr>
          <a:xfrm>
            <a:off x="9921235" y="3383280"/>
            <a:ext cx="1691640" cy="28803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921235" y="3383280"/>
            <a:ext cx="169164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0488163" y="3566160"/>
            <a:ext cx="548640" cy="548640"/>
          </a:xfrm>
          <a:prstGeom prst="ellipse">
            <a:avLst/>
          </a:prstGeom>
          <a:solidFill>
            <a:srgbClr val="1A233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488163" y="3657600"/>
            <a:ext cx="548640" cy="365760"/>
          </a:xfrm>
          <a:prstGeom prst="rect">
            <a:avLst/>
          </a:prstGeom>
          <a:noFill/>
        </p:spPr>
        <p:txBody>
          <a:bodyPr wrap="square" lIns="45720" rIns="45720">
            <a:spAutoFit/>
          </a:bodyPr>
          <a:lstStyle/>
          <a:p>
            <a:pPr algn="ctr"/>
            <a:r>
              <a:rPr sz="1400" b="1" i="0">
                <a:solidFill>
                  <a:srgbClr val="10B981"/>
                </a:solidFill>
                <a:latin typeface="Segoe UI"/>
              </a:rPr>
              <a:t>6</a:t>
            </a:r>
          </a:p>
        </p:txBody>
      </p:sp>
      <p:sp>
        <p:nvSpPr>
          <p:cNvPr id="62" name="TextBox 61"/>
          <p:cNvSpPr txBox="1"/>
          <p:nvPr/>
        </p:nvSpPr>
        <p:spPr>
          <a:xfrm>
            <a:off x="9994387" y="4251960"/>
            <a:ext cx="1545336" cy="365760"/>
          </a:xfrm>
          <a:prstGeom prst="rect">
            <a:avLst/>
          </a:prstGeom>
          <a:noFill/>
        </p:spPr>
        <p:txBody>
          <a:bodyPr wrap="square" lIns="45720" rIns="45720">
            <a:spAutoFit/>
          </a:bodyPr>
          <a:lstStyle/>
          <a:p>
            <a:pPr algn="ctr"/>
            <a:r>
              <a:rPr sz="1200" b="1" i="0">
                <a:solidFill>
                  <a:srgbClr val="F8FAFC"/>
                </a:solidFill>
                <a:latin typeface="Segoe UI"/>
              </a:rPr>
              <a:t>6.0 Dossier Assembly</a:t>
            </a:r>
          </a:p>
        </p:txBody>
      </p:sp>
      <p:sp>
        <p:nvSpPr>
          <p:cNvPr id="63" name="Rectangle 62"/>
          <p:cNvSpPr/>
          <p:nvPr/>
        </p:nvSpPr>
        <p:spPr>
          <a:xfrm>
            <a:off x="10058395" y="4663440"/>
            <a:ext cx="1417320" cy="635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994387" y="4754880"/>
            <a:ext cx="1545336" cy="1280160"/>
          </a:xfrm>
          <a:prstGeom prst="rect">
            <a:avLst/>
          </a:prstGeom>
          <a:noFill/>
        </p:spPr>
        <p:txBody>
          <a:bodyPr wrap="square" lIns="45720" rIns="45720">
            <a:spAutoFit/>
          </a:bodyPr>
          <a:lstStyle/>
          <a:p>
            <a:pPr algn="ctr"/>
            <a:r>
              <a:rPr sz="1000" b="0" i="0">
                <a:solidFill>
                  <a:srgbClr val="94A3B8"/>
                </a:solidFill>
                <a:latin typeface="Segoe UI"/>
              </a:rPr>
              <a:t>SQLite case logging, ReportLab PDF synthesis, CSV export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 cy="685800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20040"/>
            <a:ext cx="2560320" cy="292608"/>
          </a:xfrm>
          <a:prstGeom prst="roundRect">
            <a:avLst/>
          </a:prstGeom>
          <a:solidFill>
            <a:srgbClr val="111827"/>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47472"/>
            <a:ext cx="2560320" cy="274320"/>
          </a:xfrm>
          <a:prstGeom prst="rect">
            <a:avLst/>
          </a:prstGeom>
          <a:noFill/>
        </p:spPr>
        <p:txBody>
          <a:bodyPr wrap="square" lIns="45720" rIns="45720">
            <a:spAutoFit/>
          </a:bodyPr>
          <a:lstStyle/>
          <a:p>
            <a:pPr algn="ctr"/>
            <a:r>
              <a:rPr sz="1000" b="1" i="0">
                <a:solidFill>
                  <a:srgbClr val="F43F5E"/>
                </a:solidFill>
                <a:latin typeface="Segoe UI"/>
              </a:rPr>
              <a:t>6. DATA FLOW &amp; USE CASES</a:t>
            </a:r>
          </a:p>
        </p:txBody>
      </p:sp>
      <p:sp>
        <p:nvSpPr>
          <p:cNvPr id="6" name="Rounded Rectangle 5"/>
          <p:cNvSpPr/>
          <p:nvPr/>
        </p:nvSpPr>
        <p:spPr>
          <a:xfrm>
            <a:off x="11064240" y="320040"/>
            <a:ext cx="640080" cy="292608"/>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47472"/>
            <a:ext cx="640080" cy="274320"/>
          </a:xfrm>
          <a:prstGeom prst="rect">
            <a:avLst/>
          </a:prstGeom>
          <a:noFill/>
        </p:spPr>
        <p:txBody>
          <a:bodyPr wrap="square" lIns="45720" rIns="45720">
            <a:spAutoFit/>
          </a:bodyPr>
          <a:lstStyle/>
          <a:p>
            <a:pPr algn="ctr"/>
            <a:r>
              <a:rPr sz="1100" b="1" i="0">
                <a:solidFill>
                  <a:srgbClr val="94A3B8"/>
                </a:solidFill>
                <a:latin typeface="Segoe UI"/>
              </a:rPr>
              <a:t>11</a:t>
            </a:r>
          </a:p>
        </p:txBody>
      </p:sp>
      <p:sp>
        <p:nvSpPr>
          <p:cNvPr id="8" name="TextBox 7"/>
          <p:cNvSpPr txBox="1"/>
          <p:nvPr/>
        </p:nvSpPr>
        <p:spPr>
          <a:xfrm>
            <a:off x="548640" y="685800"/>
            <a:ext cx="10515600" cy="502920"/>
          </a:xfrm>
          <a:prstGeom prst="rect">
            <a:avLst/>
          </a:prstGeom>
          <a:noFill/>
        </p:spPr>
        <p:txBody>
          <a:bodyPr wrap="square" lIns="45720" rIns="45720">
            <a:spAutoFit/>
          </a:bodyPr>
          <a:lstStyle/>
          <a:p>
            <a:pPr algn="l"/>
            <a:r>
              <a:rPr sz="2400" b="1" i="0">
                <a:solidFill>
                  <a:srgbClr val="F8FAFC"/>
                </a:solidFill>
                <a:latin typeface="Segoe UI"/>
              </a:rPr>
              <a:t>Use Case Diagram &amp; System Interaction Matrix</a:t>
            </a:r>
          </a:p>
        </p:txBody>
      </p:sp>
      <p:sp>
        <p:nvSpPr>
          <p:cNvPr id="9" name="Rectangle 8"/>
          <p:cNvSpPr/>
          <p:nvPr/>
        </p:nvSpPr>
        <p:spPr>
          <a:xfrm>
            <a:off x="548640" y="1234440"/>
            <a:ext cx="1115568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417320"/>
            <a:ext cx="3291840" cy="502920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329184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600200"/>
            <a:ext cx="2926080" cy="274320"/>
          </a:xfrm>
          <a:prstGeom prst="rect">
            <a:avLst/>
          </a:prstGeom>
          <a:noFill/>
        </p:spPr>
        <p:txBody>
          <a:bodyPr wrap="square" lIns="45720" rIns="45720">
            <a:spAutoFit/>
          </a:bodyPr>
          <a:lstStyle/>
          <a:p>
            <a:pPr algn="l"/>
            <a:r>
              <a:rPr sz="1300" b="1" i="0">
                <a:solidFill>
                  <a:srgbClr val="06B6D4"/>
                </a:solidFill>
                <a:latin typeface="Segoe UI"/>
              </a:rPr>
              <a:t>PRIMARY SYSTEM ACTORS</a:t>
            </a:r>
          </a:p>
        </p:txBody>
      </p:sp>
      <p:sp>
        <p:nvSpPr>
          <p:cNvPr id="13" name="Rounded Rectangle 12"/>
          <p:cNvSpPr/>
          <p:nvPr/>
        </p:nvSpPr>
        <p:spPr>
          <a:xfrm>
            <a:off x="731520" y="2011680"/>
            <a:ext cx="2926080" cy="1051560"/>
          </a:xfrm>
          <a:prstGeom prst="roundRect">
            <a:avLst/>
          </a:prstGeom>
          <a:solidFill>
            <a:srgbClr val="1A233A"/>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103120"/>
            <a:ext cx="2743200" cy="256032"/>
          </a:xfrm>
          <a:prstGeom prst="rect">
            <a:avLst/>
          </a:prstGeom>
          <a:noFill/>
        </p:spPr>
        <p:txBody>
          <a:bodyPr wrap="square" lIns="45720" rIns="45720">
            <a:spAutoFit/>
          </a:bodyPr>
          <a:lstStyle/>
          <a:p>
            <a:pPr algn="l"/>
            <a:r>
              <a:rPr sz="1100" b="1" i="0">
                <a:solidFill>
                  <a:srgbClr val="3B82F6"/>
                </a:solidFill>
                <a:latin typeface="Segoe UI"/>
              </a:rPr>
              <a:t>Forensic Investigator</a:t>
            </a:r>
          </a:p>
        </p:txBody>
      </p:sp>
      <p:sp>
        <p:nvSpPr>
          <p:cNvPr id="15" name="TextBox 14"/>
          <p:cNvSpPr txBox="1"/>
          <p:nvPr/>
        </p:nvSpPr>
        <p:spPr>
          <a:xfrm>
            <a:off x="822960" y="2359152"/>
            <a:ext cx="2743200" cy="640080"/>
          </a:xfrm>
          <a:prstGeom prst="rect">
            <a:avLst/>
          </a:prstGeom>
          <a:noFill/>
        </p:spPr>
        <p:txBody>
          <a:bodyPr wrap="square" lIns="45720" rIns="45720">
            <a:spAutoFit/>
          </a:bodyPr>
          <a:lstStyle/>
          <a:p>
            <a:pPr algn="l"/>
            <a:r>
              <a:rPr sz="900" b="0" i="0">
                <a:solidFill>
                  <a:srgbClr val="94A3B8"/>
                </a:solidFill>
                <a:latin typeface="Segoe UI"/>
              </a:rPr>
              <a:t>Uploads suspected media files, inspects temporal frame sequences, downloads legal PDF dossiers for court exhibits.</a:t>
            </a:r>
          </a:p>
        </p:txBody>
      </p:sp>
      <p:sp>
        <p:nvSpPr>
          <p:cNvPr id="16" name="Rounded Rectangle 15"/>
          <p:cNvSpPr/>
          <p:nvPr/>
        </p:nvSpPr>
        <p:spPr>
          <a:xfrm>
            <a:off x="731520" y="3154680"/>
            <a:ext cx="2926080" cy="1051560"/>
          </a:xfrm>
          <a:prstGeom prst="roundRect">
            <a:avLst/>
          </a:prstGeom>
          <a:solidFill>
            <a:srgbClr val="1A233A"/>
          </a:solidFill>
          <a:ln w="63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246120"/>
            <a:ext cx="2743200" cy="256032"/>
          </a:xfrm>
          <a:prstGeom prst="rect">
            <a:avLst/>
          </a:prstGeom>
          <a:noFill/>
        </p:spPr>
        <p:txBody>
          <a:bodyPr wrap="square" lIns="45720" rIns="45720">
            <a:spAutoFit/>
          </a:bodyPr>
          <a:lstStyle/>
          <a:p>
            <a:pPr algn="l"/>
            <a:r>
              <a:rPr sz="1100" b="1" i="0">
                <a:solidFill>
                  <a:srgbClr val="8B5CF6"/>
                </a:solidFill>
                <a:latin typeface="Segoe UI"/>
              </a:rPr>
              <a:t>Cybersecurity Analyst</a:t>
            </a:r>
          </a:p>
        </p:txBody>
      </p:sp>
      <p:sp>
        <p:nvSpPr>
          <p:cNvPr id="18" name="TextBox 17"/>
          <p:cNvSpPr txBox="1"/>
          <p:nvPr/>
        </p:nvSpPr>
        <p:spPr>
          <a:xfrm>
            <a:off x="822960" y="3502152"/>
            <a:ext cx="2743200" cy="640080"/>
          </a:xfrm>
          <a:prstGeom prst="rect">
            <a:avLst/>
          </a:prstGeom>
          <a:noFill/>
        </p:spPr>
        <p:txBody>
          <a:bodyPr wrap="square" lIns="45720" rIns="45720">
            <a:spAutoFit/>
          </a:bodyPr>
          <a:lstStyle/>
          <a:p>
            <a:pPr algn="l"/>
            <a:r>
              <a:rPr sz="900" b="0" i="0">
                <a:solidFill>
                  <a:srgbClr val="94A3B8"/>
                </a:solidFill>
                <a:latin typeface="Segoe UI"/>
              </a:rPr>
              <a:t>Triages media feeds, inspects risk distributions on dashboard, exports historical audit registries via CSV.</a:t>
            </a:r>
          </a:p>
        </p:txBody>
      </p:sp>
      <p:sp>
        <p:nvSpPr>
          <p:cNvPr id="19" name="Rounded Rectangle 18"/>
          <p:cNvSpPr/>
          <p:nvPr/>
        </p:nvSpPr>
        <p:spPr>
          <a:xfrm>
            <a:off x="731520" y="4297680"/>
            <a:ext cx="2926080" cy="1051560"/>
          </a:xfrm>
          <a:prstGeom prst="roundRect">
            <a:avLst/>
          </a:prstGeom>
          <a:solidFill>
            <a:srgbClr val="1A233A"/>
          </a:solidFill>
          <a:ln w="63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389120"/>
            <a:ext cx="2743200" cy="256032"/>
          </a:xfrm>
          <a:prstGeom prst="rect">
            <a:avLst/>
          </a:prstGeom>
          <a:noFill/>
        </p:spPr>
        <p:txBody>
          <a:bodyPr wrap="square" lIns="45720" rIns="45720">
            <a:spAutoFit/>
          </a:bodyPr>
          <a:lstStyle/>
          <a:p>
            <a:pPr algn="l"/>
            <a:r>
              <a:rPr sz="1100" b="1" i="0">
                <a:solidFill>
                  <a:srgbClr val="10B981"/>
                </a:solidFill>
                <a:latin typeface="Segoe UI"/>
              </a:rPr>
              <a:t>Enterprise REST Client</a:t>
            </a:r>
          </a:p>
        </p:txBody>
      </p:sp>
      <p:sp>
        <p:nvSpPr>
          <p:cNvPr id="21" name="TextBox 20"/>
          <p:cNvSpPr txBox="1"/>
          <p:nvPr/>
        </p:nvSpPr>
        <p:spPr>
          <a:xfrm>
            <a:off x="822960" y="4645152"/>
            <a:ext cx="2743200" cy="640080"/>
          </a:xfrm>
          <a:prstGeom prst="rect">
            <a:avLst/>
          </a:prstGeom>
          <a:noFill/>
        </p:spPr>
        <p:txBody>
          <a:bodyPr wrap="square" lIns="45720" rIns="45720">
            <a:spAutoFit/>
          </a:bodyPr>
          <a:lstStyle/>
          <a:p>
            <a:pPr algn="l"/>
            <a:r>
              <a:rPr sz="900" b="0" i="0">
                <a:solidFill>
                  <a:srgbClr val="94A3B8"/>
                </a:solidFill>
                <a:latin typeface="Segoe UI"/>
              </a:rPr>
              <a:t>Automated headless pipelines calling `/api/predict` via JSON for real-time content moderation.</a:t>
            </a:r>
          </a:p>
        </p:txBody>
      </p:sp>
      <p:sp>
        <p:nvSpPr>
          <p:cNvPr id="22" name="Rounded Rectangle 21"/>
          <p:cNvSpPr/>
          <p:nvPr/>
        </p:nvSpPr>
        <p:spPr>
          <a:xfrm>
            <a:off x="731520" y="5440680"/>
            <a:ext cx="2926080" cy="1051560"/>
          </a:xfrm>
          <a:prstGeom prst="roundRect">
            <a:avLst/>
          </a:prstGeom>
          <a:solidFill>
            <a:srgbClr val="1A233A"/>
          </a:solidFill>
          <a:ln w="63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532120"/>
            <a:ext cx="2743200" cy="256032"/>
          </a:xfrm>
          <a:prstGeom prst="rect">
            <a:avLst/>
          </a:prstGeom>
          <a:noFill/>
        </p:spPr>
        <p:txBody>
          <a:bodyPr wrap="square" lIns="45720" rIns="45720">
            <a:spAutoFit/>
          </a:bodyPr>
          <a:lstStyle/>
          <a:p>
            <a:pPr algn="l"/>
            <a:r>
              <a:rPr sz="1100" b="1" i="0">
                <a:solidFill>
                  <a:srgbClr val="F59E0B"/>
                </a:solidFill>
                <a:latin typeface="Segoe UI"/>
              </a:rPr>
              <a:t>System Administrator</a:t>
            </a:r>
          </a:p>
        </p:txBody>
      </p:sp>
      <p:sp>
        <p:nvSpPr>
          <p:cNvPr id="24" name="TextBox 23"/>
          <p:cNvSpPr txBox="1"/>
          <p:nvPr/>
        </p:nvSpPr>
        <p:spPr>
          <a:xfrm>
            <a:off x="822960" y="5788152"/>
            <a:ext cx="2743200" cy="640080"/>
          </a:xfrm>
          <a:prstGeom prst="rect">
            <a:avLst/>
          </a:prstGeom>
          <a:noFill/>
        </p:spPr>
        <p:txBody>
          <a:bodyPr wrap="square" lIns="45720" rIns="45720">
            <a:spAutoFit/>
          </a:bodyPr>
          <a:lstStyle/>
          <a:p>
            <a:pPr algn="l"/>
            <a:r>
              <a:rPr sz="900" b="0" i="0">
                <a:solidFill>
                  <a:srgbClr val="94A3B8"/>
                </a:solidFill>
                <a:latin typeface="Segoe UI"/>
              </a:rPr>
              <a:t>Monitors model weights, container health, SQLite database storage, and runtime diagnostic logs.</a:t>
            </a:r>
          </a:p>
        </p:txBody>
      </p:sp>
      <p:sp>
        <p:nvSpPr>
          <p:cNvPr id="25" name="Rounded Rectangle 24"/>
          <p:cNvSpPr/>
          <p:nvPr/>
        </p:nvSpPr>
        <p:spPr>
          <a:xfrm>
            <a:off x="4023360" y="1417320"/>
            <a:ext cx="7589520" cy="502920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023360" y="1417320"/>
            <a:ext cx="7589520" cy="3810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51960" y="1600200"/>
            <a:ext cx="7132320" cy="274320"/>
          </a:xfrm>
          <a:prstGeom prst="rect">
            <a:avLst/>
          </a:prstGeom>
          <a:noFill/>
        </p:spPr>
        <p:txBody>
          <a:bodyPr wrap="square" lIns="45720" rIns="45720">
            <a:spAutoFit/>
          </a:bodyPr>
          <a:lstStyle/>
          <a:p>
            <a:pPr algn="l"/>
            <a:r>
              <a:rPr sz="1300" b="1" i="0">
                <a:solidFill>
                  <a:srgbClr val="F43F5E"/>
                </a:solidFill>
                <a:latin typeface="Segoe UI"/>
              </a:rPr>
              <a:t>FORENSIC USE CASES &amp; SYSTEM CAPABILITIES</a:t>
            </a:r>
          </a:p>
        </p:txBody>
      </p:sp>
      <p:sp>
        <p:nvSpPr>
          <p:cNvPr id="28" name="Rounded Rectangle 27"/>
          <p:cNvSpPr/>
          <p:nvPr/>
        </p:nvSpPr>
        <p:spPr>
          <a:xfrm>
            <a:off x="4251960" y="2011680"/>
            <a:ext cx="3520440" cy="1280160"/>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361688" y="2121408"/>
            <a:ext cx="731520" cy="237744"/>
          </a:xfrm>
          <a:prstGeom prst="roundRect">
            <a:avLst/>
          </a:prstGeom>
          <a:solidFill>
            <a:srgbClr val="111827"/>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61688" y="2139696"/>
            <a:ext cx="731520" cy="201168"/>
          </a:xfrm>
          <a:prstGeom prst="rect">
            <a:avLst/>
          </a:prstGeom>
          <a:noFill/>
        </p:spPr>
        <p:txBody>
          <a:bodyPr wrap="square" lIns="45720" rIns="45720">
            <a:spAutoFit/>
          </a:bodyPr>
          <a:lstStyle/>
          <a:p>
            <a:pPr algn="ctr"/>
            <a:r>
              <a:rPr sz="900" b="1" i="0">
                <a:solidFill>
                  <a:srgbClr val="3B82F6"/>
                </a:solidFill>
                <a:latin typeface="Segoe UI"/>
              </a:rPr>
              <a:t>UC-01</a:t>
            </a:r>
          </a:p>
        </p:txBody>
      </p:sp>
      <p:sp>
        <p:nvSpPr>
          <p:cNvPr id="31" name="TextBox 30"/>
          <p:cNvSpPr txBox="1"/>
          <p:nvPr/>
        </p:nvSpPr>
        <p:spPr>
          <a:xfrm>
            <a:off x="5166360" y="2121408"/>
            <a:ext cx="2514600" cy="274320"/>
          </a:xfrm>
          <a:prstGeom prst="rect">
            <a:avLst/>
          </a:prstGeom>
          <a:noFill/>
        </p:spPr>
        <p:txBody>
          <a:bodyPr wrap="square" lIns="45720" rIns="45720">
            <a:spAutoFit/>
          </a:bodyPr>
          <a:lstStyle/>
          <a:p>
            <a:pPr algn="l"/>
            <a:r>
              <a:rPr sz="1100" b="1" i="0">
                <a:solidFill>
                  <a:srgbClr val="FFFFFF"/>
                </a:solidFill>
                <a:latin typeface="Segoe UI"/>
              </a:rPr>
              <a:t>Upload &amp; Authenticate Static Facial Image</a:t>
            </a:r>
          </a:p>
        </p:txBody>
      </p:sp>
      <p:sp>
        <p:nvSpPr>
          <p:cNvPr id="32" name="TextBox 31"/>
          <p:cNvSpPr txBox="1"/>
          <p:nvPr/>
        </p:nvSpPr>
        <p:spPr>
          <a:xfrm>
            <a:off x="4361688" y="2450592"/>
            <a:ext cx="3300984" cy="777240"/>
          </a:xfrm>
          <a:prstGeom prst="rect">
            <a:avLst/>
          </a:prstGeom>
          <a:noFill/>
        </p:spPr>
        <p:txBody>
          <a:bodyPr wrap="square" lIns="45720" rIns="45720">
            <a:spAutoFit/>
          </a:bodyPr>
          <a:lstStyle/>
          <a:p>
            <a:pPr algn="l"/>
            <a:r>
              <a:rPr sz="900" b="0" i="0">
                <a:solidFill>
                  <a:srgbClr val="94A3B8"/>
                </a:solidFill>
                <a:latin typeface="Segoe UI"/>
              </a:rPr>
              <a:t>User submits high-res image. System executes facial isolation, EfficientNet-B3 inference, and renders authenticity score.</a:t>
            </a:r>
          </a:p>
        </p:txBody>
      </p:sp>
      <p:sp>
        <p:nvSpPr>
          <p:cNvPr id="33" name="Rounded Rectangle 32"/>
          <p:cNvSpPr/>
          <p:nvPr/>
        </p:nvSpPr>
        <p:spPr>
          <a:xfrm>
            <a:off x="7909560" y="2011680"/>
            <a:ext cx="3520440" cy="1280160"/>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19288" y="2121408"/>
            <a:ext cx="731520" cy="237744"/>
          </a:xfrm>
          <a:prstGeom prst="roundRect">
            <a:avLst/>
          </a:prstGeom>
          <a:solidFill>
            <a:srgbClr val="111827"/>
          </a:solidFill>
          <a:ln w="63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19288" y="2139696"/>
            <a:ext cx="731520" cy="201168"/>
          </a:xfrm>
          <a:prstGeom prst="rect">
            <a:avLst/>
          </a:prstGeom>
          <a:noFill/>
        </p:spPr>
        <p:txBody>
          <a:bodyPr wrap="square" lIns="45720" rIns="45720">
            <a:spAutoFit/>
          </a:bodyPr>
          <a:lstStyle/>
          <a:p>
            <a:pPr algn="ctr"/>
            <a:r>
              <a:rPr sz="900" b="1" i="0">
                <a:solidFill>
                  <a:srgbClr val="06B6D4"/>
                </a:solidFill>
                <a:latin typeface="Segoe UI"/>
              </a:rPr>
              <a:t>UC-02</a:t>
            </a:r>
          </a:p>
        </p:txBody>
      </p:sp>
      <p:sp>
        <p:nvSpPr>
          <p:cNvPr id="36" name="TextBox 35"/>
          <p:cNvSpPr txBox="1"/>
          <p:nvPr/>
        </p:nvSpPr>
        <p:spPr>
          <a:xfrm>
            <a:off x="8823960" y="2121408"/>
            <a:ext cx="2514600" cy="274320"/>
          </a:xfrm>
          <a:prstGeom prst="rect">
            <a:avLst/>
          </a:prstGeom>
          <a:noFill/>
        </p:spPr>
        <p:txBody>
          <a:bodyPr wrap="square" lIns="45720" rIns="45720">
            <a:spAutoFit/>
          </a:bodyPr>
          <a:lstStyle/>
          <a:p>
            <a:pPr algn="l"/>
            <a:r>
              <a:rPr sz="1100" b="1" i="0">
                <a:solidFill>
                  <a:srgbClr val="FFFFFF"/>
                </a:solidFill>
                <a:latin typeface="Segoe UI"/>
              </a:rPr>
              <a:t>Decimated Video Stream Temporal Forensics</a:t>
            </a:r>
          </a:p>
        </p:txBody>
      </p:sp>
      <p:sp>
        <p:nvSpPr>
          <p:cNvPr id="37" name="TextBox 36"/>
          <p:cNvSpPr txBox="1"/>
          <p:nvPr/>
        </p:nvSpPr>
        <p:spPr>
          <a:xfrm>
            <a:off x="8019288" y="2450592"/>
            <a:ext cx="3300984" cy="777240"/>
          </a:xfrm>
          <a:prstGeom prst="rect">
            <a:avLst/>
          </a:prstGeom>
          <a:noFill/>
        </p:spPr>
        <p:txBody>
          <a:bodyPr wrap="square" lIns="45720" rIns="45720">
            <a:spAutoFit/>
          </a:bodyPr>
          <a:lstStyle/>
          <a:p>
            <a:pPr algn="l"/>
            <a:r>
              <a:rPr sz="900" b="0" i="0">
                <a:solidFill>
                  <a:srgbClr val="94A3B8"/>
                </a:solidFill>
                <a:latin typeface="Segoe UI"/>
              </a:rPr>
              <a:t>User uploads video file. System samples frames at 10-step intervals, computes frame-level scores, and plots temporal anomalies.</a:t>
            </a:r>
          </a:p>
        </p:txBody>
      </p:sp>
      <p:sp>
        <p:nvSpPr>
          <p:cNvPr id="38" name="Rounded Rectangle 37"/>
          <p:cNvSpPr/>
          <p:nvPr/>
        </p:nvSpPr>
        <p:spPr>
          <a:xfrm>
            <a:off x="4251960" y="3474720"/>
            <a:ext cx="3520440" cy="1280160"/>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361688" y="3584448"/>
            <a:ext cx="731520" cy="237744"/>
          </a:xfrm>
          <a:prstGeom prst="roundRect">
            <a:avLst/>
          </a:prstGeom>
          <a:solidFill>
            <a:srgbClr val="111827"/>
          </a:solidFill>
          <a:ln w="63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61688" y="3602736"/>
            <a:ext cx="731520" cy="201168"/>
          </a:xfrm>
          <a:prstGeom prst="rect">
            <a:avLst/>
          </a:prstGeom>
          <a:noFill/>
        </p:spPr>
        <p:txBody>
          <a:bodyPr wrap="square" lIns="45720" rIns="45720">
            <a:spAutoFit/>
          </a:bodyPr>
          <a:lstStyle/>
          <a:p>
            <a:pPr algn="ctr"/>
            <a:r>
              <a:rPr sz="900" b="1" i="0">
                <a:solidFill>
                  <a:srgbClr val="8B5CF6"/>
                </a:solidFill>
                <a:latin typeface="Segoe UI"/>
              </a:rPr>
              <a:t>UC-03</a:t>
            </a:r>
          </a:p>
        </p:txBody>
      </p:sp>
      <p:sp>
        <p:nvSpPr>
          <p:cNvPr id="41" name="TextBox 40"/>
          <p:cNvSpPr txBox="1"/>
          <p:nvPr/>
        </p:nvSpPr>
        <p:spPr>
          <a:xfrm>
            <a:off x="5166360" y="3584448"/>
            <a:ext cx="2514600" cy="274320"/>
          </a:xfrm>
          <a:prstGeom prst="rect">
            <a:avLst/>
          </a:prstGeom>
          <a:noFill/>
        </p:spPr>
        <p:txBody>
          <a:bodyPr wrap="square" lIns="45720" rIns="45720">
            <a:spAutoFit/>
          </a:bodyPr>
          <a:lstStyle/>
          <a:p>
            <a:pPr algn="l"/>
            <a:r>
              <a:rPr sz="1100" b="1" i="0">
                <a:solidFill>
                  <a:srgbClr val="FFFFFF"/>
                </a:solidFill>
                <a:latin typeface="Segoe UI"/>
              </a:rPr>
              <a:t>Inspect Grad-CAM Visual Attention Heatmap</a:t>
            </a:r>
          </a:p>
        </p:txBody>
      </p:sp>
      <p:sp>
        <p:nvSpPr>
          <p:cNvPr id="42" name="TextBox 41"/>
          <p:cNvSpPr txBox="1"/>
          <p:nvPr/>
        </p:nvSpPr>
        <p:spPr>
          <a:xfrm>
            <a:off x="4361688" y="3913632"/>
            <a:ext cx="3300984" cy="777240"/>
          </a:xfrm>
          <a:prstGeom prst="rect">
            <a:avLst/>
          </a:prstGeom>
          <a:noFill/>
        </p:spPr>
        <p:txBody>
          <a:bodyPr wrap="square" lIns="45720" rIns="45720">
            <a:spAutoFit/>
          </a:bodyPr>
          <a:lstStyle/>
          <a:p>
            <a:pPr algn="l"/>
            <a:r>
              <a:rPr sz="900" b="0" i="0">
                <a:solidFill>
                  <a:srgbClr val="94A3B8"/>
                </a:solidFill>
                <a:latin typeface="Segoe UI"/>
              </a:rPr>
              <a:t>Investigator examines activation overlays on eyes, nose, mouth, and boundary blend seams to verify synthetic artifacts.</a:t>
            </a:r>
          </a:p>
        </p:txBody>
      </p:sp>
      <p:sp>
        <p:nvSpPr>
          <p:cNvPr id="43" name="Rounded Rectangle 42"/>
          <p:cNvSpPr/>
          <p:nvPr/>
        </p:nvSpPr>
        <p:spPr>
          <a:xfrm>
            <a:off x="7909560" y="3474720"/>
            <a:ext cx="3520440" cy="1280160"/>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8019288" y="3584448"/>
            <a:ext cx="731520" cy="237744"/>
          </a:xfrm>
          <a:prstGeom prst="roundRect">
            <a:avLst/>
          </a:prstGeom>
          <a:solidFill>
            <a:srgbClr val="111827"/>
          </a:solidFill>
          <a:ln w="63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19288" y="3602736"/>
            <a:ext cx="731520" cy="201168"/>
          </a:xfrm>
          <a:prstGeom prst="rect">
            <a:avLst/>
          </a:prstGeom>
          <a:noFill/>
        </p:spPr>
        <p:txBody>
          <a:bodyPr wrap="square" lIns="45720" rIns="45720">
            <a:spAutoFit/>
          </a:bodyPr>
          <a:lstStyle/>
          <a:p>
            <a:pPr algn="ctr"/>
            <a:r>
              <a:rPr sz="900" b="1" i="0">
                <a:solidFill>
                  <a:srgbClr val="F43F5E"/>
                </a:solidFill>
                <a:latin typeface="Segoe UI"/>
              </a:rPr>
              <a:t>UC-04</a:t>
            </a:r>
          </a:p>
        </p:txBody>
      </p:sp>
      <p:sp>
        <p:nvSpPr>
          <p:cNvPr id="46" name="TextBox 45"/>
          <p:cNvSpPr txBox="1"/>
          <p:nvPr/>
        </p:nvSpPr>
        <p:spPr>
          <a:xfrm>
            <a:off x="8823960" y="3584448"/>
            <a:ext cx="2514600" cy="274320"/>
          </a:xfrm>
          <a:prstGeom prst="rect">
            <a:avLst/>
          </a:prstGeom>
          <a:noFill/>
        </p:spPr>
        <p:txBody>
          <a:bodyPr wrap="square" lIns="45720" rIns="45720">
            <a:spAutoFit/>
          </a:bodyPr>
          <a:lstStyle/>
          <a:p>
            <a:pPr algn="l"/>
            <a:r>
              <a:rPr sz="1100" b="1" i="0">
                <a:solidFill>
                  <a:srgbClr val="FFFFFF"/>
                </a:solidFill>
                <a:latin typeface="Segoe UI"/>
              </a:rPr>
              <a:t>Generate Courtroom-Ready Forensic PDF Dossier</a:t>
            </a:r>
          </a:p>
        </p:txBody>
      </p:sp>
      <p:sp>
        <p:nvSpPr>
          <p:cNvPr id="47" name="TextBox 46"/>
          <p:cNvSpPr txBox="1"/>
          <p:nvPr/>
        </p:nvSpPr>
        <p:spPr>
          <a:xfrm>
            <a:off x="8019288" y="3913632"/>
            <a:ext cx="3300984" cy="777240"/>
          </a:xfrm>
          <a:prstGeom prst="rect">
            <a:avLst/>
          </a:prstGeom>
          <a:noFill/>
        </p:spPr>
        <p:txBody>
          <a:bodyPr wrap="square" lIns="45720" rIns="45720">
            <a:spAutoFit/>
          </a:bodyPr>
          <a:lstStyle/>
          <a:p>
            <a:pPr algn="l"/>
            <a:r>
              <a:rPr sz="900" b="0" i="0">
                <a:solidFill>
                  <a:srgbClr val="94A3B8"/>
                </a:solidFill>
                <a:latin typeface="Segoe UI"/>
              </a:rPr>
              <a:t>System automatically synthesizes comprehensive PDF document with Case ID, SHA hash, timestamps, and examiner signature block.</a:t>
            </a:r>
          </a:p>
        </p:txBody>
      </p:sp>
      <p:sp>
        <p:nvSpPr>
          <p:cNvPr id="48" name="Rounded Rectangle 47"/>
          <p:cNvSpPr/>
          <p:nvPr/>
        </p:nvSpPr>
        <p:spPr>
          <a:xfrm>
            <a:off x="4251960" y="4892040"/>
            <a:ext cx="3520440" cy="1280160"/>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4361688" y="5001768"/>
            <a:ext cx="731520" cy="237744"/>
          </a:xfrm>
          <a:prstGeom prst="roundRect">
            <a:avLst/>
          </a:prstGeom>
          <a:solidFill>
            <a:srgbClr val="111827"/>
          </a:solidFill>
          <a:ln w="63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361688" y="5020056"/>
            <a:ext cx="731520" cy="201168"/>
          </a:xfrm>
          <a:prstGeom prst="rect">
            <a:avLst/>
          </a:prstGeom>
          <a:noFill/>
        </p:spPr>
        <p:txBody>
          <a:bodyPr wrap="square" lIns="45720" rIns="45720">
            <a:spAutoFit/>
          </a:bodyPr>
          <a:lstStyle/>
          <a:p>
            <a:pPr algn="ctr"/>
            <a:r>
              <a:rPr sz="900" b="1" i="0">
                <a:solidFill>
                  <a:srgbClr val="10B981"/>
                </a:solidFill>
                <a:latin typeface="Segoe UI"/>
              </a:rPr>
              <a:t>UC-05</a:t>
            </a:r>
          </a:p>
        </p:txBody>
      </p:sp>
      <p:sp>
        <p:nvSpPr>
          <p:cNvPr id="51" name="TextBox 50"/>
          <p:cNvSpPr txBox="1"/>
          <p:nvPr/>
        </p:nvSpPr>
        <p:spPr>
          <a:xfrm>
            <a:off x="5166360" y="5001768"/>
            <a:ext cx="2514600" cy="274320"/>
          </a:xfrm>
          <a:prstGeom prst="rect">
            <a:avLst/>
          </a:prstGeom>
          <a:noFill/>
        </p:spPr>
        <p:txBody>
          <a:bodyPr wrap="square" lIns="45720" rIns="45720">
            <a:spAutoFit/>
          </a:bodyPr>
          <a:lstStyle/>
          <a:p>
            <a:pPr algn="l"/>
            <a:r>
              <a:rPr sz="1100" b="1" i="0">
                <a:solidFill>
                  <a:srgbClr val="FFFFFF"/>
                </a:solidFill>
                <a:latin typeface="Segoe UI"/>
              </a:rPr>
              <a:t>Automated Headless Inference via REST API</a:t>
            </a:r>
          </a:p>
        </p:txBody>
      </p:sp>
      <p:sp>
        <p:nvSpPr>
          <p:cNvPr id="52" name="TextBox 51"/>
          <p:cNvSpPr txBox="1"/>
          <p:nvPr/>
        </p:nvSpPr>
        <p:spPr>
          <a:xfrm>
            <a:off x="4361688" y="5330952"/>
            <a:ext cx="3300984" cy="777240"/>
          </a:xfrm>
          <a:prstGeom prst="rect">
            <a:avLst/>
          </a:prstGeom>
          <a:noFill/>
        </p:spPr>
        <p:txBody>
          <a:bodyPr wrap="square" lIns="45720" rIns="45720">
            <a:spAutoFit/>
          </a:bodyPr>
          <a:lstStyle/>
          <a:p>
            <a:pPr algn="l"/>
            <a:r>
              <a:rPr sz="900" b="0" i="0">
                <a:solidFill>
                  <a:srgbClr val="94A3B8"/>
                </a:solidFill>
                <a:latin typeface="Segoe UI"/>
              </a:rPr>
              <a:t>External client posts multipart image to `/api/predict`, receiving structured JSON with classification, confidence, and risk tier.</a:t>
            </a:r>
          </a:p>
        </p:txBody>
      </p:sp>
      <p:sp>
        <p:nvSpPr>
          <p:cNvPr id="53" name="Rounded Rectangle 52"/>
          <p:cNvSpPr/>
          <p:nvPr/>
        </p:nvSpPr>
        <p:spPr>
          <a:xfrm>
            <a:off x="7909560" y="4892040"/>
            <a:ext cx="3520440" cy="1280160"/>
          </a:xfrm>
          <a:prstGeom prst="roundRect">
            <a:avLst/>
          </a:prstGeom>
          <a:solidFill>
            <a:srgbClr val="1A233A"/>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8019288" y="5001768"/>
            <a:ext cx="731520" cy="237744"/>
          </a:xfrm>
          <a:prstGeom prst="roundRect">
            <a:avLst/>
          </a:prstGeom>
          <a:solidFill>
            <a:srgbClr val="111827"/>
          </a:solidFill>
          <a:ln w="63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019288" y="5020056"/>
            <a:ext cx="731520" cy="201168"/>
          </a:xfrm>
          <a:prstGeom prst="rect">
            <a:avLst/>
          </a:prstGeom>
          <a:noFill/>
        </p:spPr>
        <p:txBody>
          <a:bodyPr wrap="square" lIns="45720" rIns="45720">
            <a:spAutoFit/>
          </a:bodyPr>
          <a:lstStyle/>
          <a:p>
            <a:pPr algn="ctr"/>
            <a:r>
              <a:rPr sz="900" b="1" i="0">
                <a:solidFill>
                  <a:srgbClr val="F59E0B"/>
                </a:solidFill>
                <a:latin typeface="Segoe UI"/>
              </a:rPr>
              <a:t>UC-06</a:t>
            </a:r>
          </a:p>
        </p:txBody>
      </p:sp>
      <p:sp>
        <p:nvSpPr>
          <p:cNvPr id="56" name="TextBox 55"/>
          <p:cNvSpPr txBox="1"/>
          <p:nvPr/>
        </p:nvSpPr>
        <p:spPr>
          <a:xfrm>
            <a:off x="8823960" y="5001768"/>
            <a:ext cx="2514600" cy="274320"/>
          </a:xfrm>
          <a:prstGeom prst="rect">
            <a:avLst/>
          </a:prstGeom>
          <a:noFill/>
        </p:spPr>
        <p:txBody>
          <a:bodyPr wrap="square" lIns="45720" rIns="45720">
            <a:spAutoFit/>
          </a:bodyPr>
          <a:lstStyle/>
          <a:p>
            <a:pPr algn="l"/>
            <a:r>
              <a:rPr sz="1100" b="1" i="0">
                <a:solidFill>
                  <a:srgbClr val="FFFFFF"/>
                </a:solidFill>
                <a:latin typeface="Segoe UI"/>
              </a:rPr>
              <a:t>Historical Case Search &amp; RFC 4180 CSV Export</a:t>
            </a:r>
          </a:p>
        </p:txBody>
      </p:sp>
      <p:sp>
        <p:nvSpPr>
          <p:cNvPr id="57" name="TextBox 56"/>
          <p:cNvSpPr txBox="1"/>
          <p:nvPr/>
        </p:nvSpPr>
        <p:spPr>
          <a:xfrm>
            <a:off x="8019288" y="5330952"/>
            <a:ext cx="3300984" cy="777240"/>
          </a:xfrm>
          <a:prstGeom prst="rect">
            <a:avLst/>
          </a:prstGeom>
          <a:noFill/>
        </p:spPr>
        <p:txBody>
          <a:bodyPr wrap="square" lIns="45720" rIns="45720">
            <a:spAutoFit/>
          </a:bodyPr>
          <a:lstStyle/>
          <a:p>
            <a:pPr algn="l"/>
            <a:r>
              <a:rPr sz="900" b="0" i="0">
                <a:solidFill>
                  <a:srgbClr val="94A3B8"/>
                </a:solidFill>
                <a:latin typeface="Segoe UI"/>
              </a:rPr>
              <a:t>Auditor queries past case logs, filters by verdict/risk, and downloads complete registry for offline compliance archiving.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20040"/>
            <a:ext cx="2560320" cy="292608"/>
          </a:xfrm>
          <a:prstGeom prst="roundRect">
            <a:avLst/>
          </a:prstGeom>
          <a:solidFill>
            <a:srgbClr val="111827"/>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47472"/>
            <a:ext cx="2560320" cy="274320"/>
          </a:xfrm>
          <a:prstGeom prst="rect">
            <a:avLst/>
          </a:prstGeom>
          <a:noFill/>
        </p:spPr>
        <p:txBody>
          <a:bodyPr wrap="square" lIns="45720" rIns="45720">
            <a:spAutoFit/>
          </a:bodyPr>
          <a:lstStyle/>
          <a:p>
            <a:pPr algn="ctr"/>
            <a:r>
              <a:rPr sz="1000" b="1" i="0">
                <a:solidFill>
                  <a:srgbClr val="06B6D4"/>
                </a:solidFill>
                <a:latin typeface="Segoe UI"/>
              </a:rPr>
              <a:t>7. CONCLUSION</a:t>
            </a:r>
          </a:p>
        </p:txBody>
      </p:sp>
      <p:sp>
        <p:nvSpPr>
          <p:cNvPr id="6" name="Rounded Rectangle 5"/>
          <p:cNvSpPr/>
          <p:nvPr/>
        </p:nvSpPr>
        <p:spPr>
          <a:xfrm>
            <a:off x="11064240" y="320040"/>
            <a:ext cx="640080" cy="292608"/>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47472"/>
            <a:ext cx="640080" cy="274320"/>
          </a:xfrm>
          <a:prstGeom prst="rect">
            <a:avLst/>
          </a:prstGeom>
          <a:noFill/>
        </p:spPr>
        <p:txBody>
          <a:bodyPr wrap="square" lIns="45720" rIns="45720">
            <a:spAutoFit/>
          </a:bodyPr>
          <a:lstStyle/>
          <a:p>
            <a:pPr algn="ctr"/>
            <a:r>
              <a:rPr sz="1100" b="1" i="0">
                <a:solidFill>
                  <a:srgbClr val="94A3B8"/>
                </a:solidFill>
                <a:latin typeface="Segoe UI"/>
              </a:rPr>
              <a:t>12</a:t>
            </a:r>
          </a:p>
        </p:txBody>
      </p:sp>
      <p:sp>
        <p:nvSpPr>
          <p:cNvPr id="8" name="TextBox 7"/>
          <p:cNvSpPr txBox="1"/>
          <p:nvPr/>
        </p:nvSpPr>
        <p:spPr>
          <a:xfrm>
            <a:off x="548640" y="685800"/>
            <a:ext cx="10515600" cy="502920"/>
          </a:xfrm>
          <a:prstGeom prst="rect">
            <a:avLst/>
          </a:prstGeom>
          <a:noFill/>
        </p:spPr>
        <p:txBody>
          <a:bodyPr wrap="square" lIns="45720" rIns="45720">
            <a:spAutoFit/>
          </a:bodyPr>
          <a:lstStyle/>
          <a:p>
            <a:pPr algn="l"/>
            <a:r>
              <a:rPr sz="2400" b="1" i="0">
                <a:solidFill>
                  <a:srgbClr val="F8FAFC"/>
                </a:solidFill>
                <a:latin typeface="Segoe UI"/>
              </a:rPr>
              <a:t>Summary of Achievements &amp; Forensic Value</a:t>
            </a:r>
          </a:p>
        </p:txBody>
      </p:sp>
      <p:sp>
        <p:nvSpPr>
          <p:cNvPr id="9" name="Rectangle 8"/>
          <p:cNvSpPr/>
          <p:nvPr/>
        </p:nvSpPr>
        <p:spPr>
          <a:xfrm>
            <a:off x="548640" y="1234440"/>
            <a:ext cx="1115568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417320"/>
            <a:ext cx="5394960" cy="17373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73152" cy="1737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1581912"/>
            <a:ext cx="2194560" cy="237744"/>
          </a:xfrm>
          <a:prstGeom prst="roundRect">
            <a:avLst/>
          </a:prstGeom>
          <a:solidFill>
            <a:srgbClr val="1A233A"/>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600200"/>
            <a:ext cx="2194560" cy="201168"/>
          </a:xfrm>
          <a:prstGeom prst="rect">
            <a:avLst/>
          </a:prstGeom>
          <a:noFill/>
        </p:spPr>
        <p:txBody>
          <a:bodyPr wrap="square" lIns="45720" rIns="45720">
            <a:spAutoFit/>
          </a:bodyPr>
          <a:lstStyle/>
          <a:p>
            <a:pPr algn="ctr"/>
            <a:r>
              <a:rPr sz="900" b="1" i="0">
                <a:solidFill>
                  <a:srgbClr val="3B82F6"/>
                </a:solidFill>
                <a:latin typeface="Segoe UI"/>
              </a:rPr>
              <a:t>92.00% OVERALL ACCURACY</a:t>
            </a:r>
          </a:p>
        </p:txBody>
      </p:sp>
      <p:sp>
        <p:nvSpPr>
          <p:cNvPr id="14" name="TextBox 13"/>
          <p:cNvSpPr txBox="1"/>
          <p:nvPr/>
        </p:nvSpPr>
        <p:spPr>
          <a:xfrm>
            <a:off x="731520" y="1920240"/>
            <a:ext cx="5029200" cy="320040"/>
          </a:xfrm>
          <a:prstGeom prst="rect">
            <a:avLst/>
          </a:prstGeom>
          <a:noFill/>
        </p:spPr>
        <p:txBody>
          <a:bodyPr wrap="square" lIns="45720" rIns="45720">
            <a:spAutoFit/>
          </a:bodyPr>
          <a:lstStyle/>
          <a:p>
            <a:pPr algn="l"/>
            <a:r>
              <a:rPr sz="1400" b="1" i="0">
                <a:solidFill>
                  <a:srgbClr val="F8FAFC"/>
                </a:solidFill>
                <a:latin typeface="Segoe UI"/>
              </a:rPr>
              <a:t>Production-Grade AI Detection</a:t>
            </a:r>
          </a:p>
        </p:txBody>
      </p:sp>
      <p:sp>
        <p:nvSpPr>
          <p:cNvPr id="15" name="TextBox 14"/>
          <p:cNvSpPr txBox="1"/>
          <p:nvPr/>
        </p:nvSpPr>
        <p:spPr>
          <a:xfrm>
            <a:off x="731520" y="2286000"/>
            <a:ext cx="5029200" cy="777240"/>
          </a:xfrm>
          <a:prstGeom prst="rect">
            <a:avLst/>
          </a:prstGeom>
          <a:noFill/>
        </p:spPr>
        <p:txBody>
          <a:bodyPr wrap="square" lIns="45720" rIns="45720">
            <a:spAutoFit/>
          </a:bodyPr>
          <a:lstStyle/>
          <a:p>
            <a:pPr algn="l"/>
            <a:r>
              <a:rPr sz="1100" b="0" i="0">
                <a:solidFill>
                  <a:srgbClr val="94A3B8"/>
                </a:solidFill>
                <a:latin typeface="Segoe UI"/>
              </a:rPr>
              <a:t>Successfully integrated multi-scale EfficientNet ensemble with high-pass frequency residual filtering, achieving 92.00% overall benchmark accuracy across diverse synthetic manipulation techniques.</a:t>
            </a:r>
          </a:p>
        </p:txBody>
      </p:sp>
      <p:sp>
        <p:nvSpPr>
          <p:cNvPr id="16" name="Rounded Rectangle 15"/>
          <p:cNvSpPr/>
          <p:nvPr/>
        </p:nvSpPr>
        <p:spPr>
          <a:xfrm>
            <a:off x="6217920" y="1417320"/>
            <a:ext cx="5394960" cy="17373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417320"/>
            <a:ext cx="73152" cy="17373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00800" y="1581912"/>
            <a:ext cx="2194560" cy="237744"/>
          </a:xfrm>
          <a:prstGeom prst="roundRect">
            <a:avLst/>
          </a:prstGeom>
          <a:solidFill>
            <a:srgbClr val="1A233A"/>
          </a:solidFill>
          <a:ln w="63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600200"/>
            <a:ext cx="2194560" cy="201168"/>
          </a:xfrm>
          <a:prstGeom prst="rect">
            <a:avLst/>
          </a:prstGeom>
          <a:noFill/>
        </p:spPr>
        <p:txBody>
          <a:bodyPr wrap="square" lIns="45720" rIns="45720">
            <a:spAutoFit/>
          </a:bodyPr>
          <a:lstStyle/>
          <a:p>
            <a:pPr algn="ctr"/>
            <a:r>
              <a:rPr sz="900" b="1" i="0">
                <a:solidFill>
                  <a:srgbClr val="06B6D4"/>
                </a:solidFill>
                <a:latin typeface="Segoe UI"/>
              </a:rPr>
              <a:t>EXPLAINABLE AI (GRAD-CAM)</a:t>
            </a:r>
          </a:p>
        </p:txBody>
      </p:sp>
      <p:sp>
        <p:nvSpPr>
          <p:cNvPr id="20" name="TextBox 19"/>
          <p:cNvSpPr txBox="1"/>
          <p:nvPr/>
        </p:nvSpPr>
        <p:spPr>
          <a:xfrm>
            <a:off x="6400800" y="1920240"/>
            <a:ext cx="5029200" cy="320040"/>
          </a:xfrm>
          <a:prstGeom prst="rect">
            <a:avLst/>
          </a:prstGeom>
          <a:noFill/>
        </p:spPr>
        <p:txBody>
          <a:bodyPr wrap="square" lIns="45720" rIns="45720">
            <a:spAutoFit/>
          </a:bodyPr>
          <a:lstStyle/>
          <a:p>
            <a:pPr algn="l"/>
            <a:r>
              <a:rPr sz="1400" b="1" i="0">
                <a:solidFill>
                  <a:srgbClr val="F8FAFC"/>
                </a:solidFill>
                <a:latin typeface="Segoe UI"/>
              </a:rPr>
              <a:t>Overcoming the 'Black-Box' Barrier</a:t>
            </a:r>
          </a:p>
        </p:txBody>
      </p:sp>
      <p:sp>
        <p:nvSpPr>
          <p:cNvPr id="21" name="TextBox 20"/>
          <p:cNvSpPr txBox="1"/>
          <p:nvPr/>
        </p:nvSpPr>
        <p:spPr>
          <a:xfrm>
            <a:off x="6400800" y="2286000"/>
            <a:ext cx="5029200" cy="777240"/>
          </a:xfrm>
          <a:prstGeom prst="rect">
            <a:avLst/>
          </a:prstGeom>
          <a:noFill/>
        </p:spPr>
        <p:txBody>
          <a:bodyPr wrap="square" lIns="45720" rIns="45720">
            <a:spAutoFit/>
          </a:bodyPr>
          <a:lstStyle/>
          <a:p>
            <a:pPr algn="l"/>
            <a:r>
              <a:rPr sz="1100" b="0" i="0">
                <a:solidFill>
                  <a:srgbClr val="94A3B8"/>
                </a:solidFill>
                <a:latin typeface="Segoe UI"/>
              </a:rPr>
              <a:t>Bridged the critical gap between academic neural networks and legal forensic scrutiny by outputting transparent pixel activation heatmaps that prove where forgery occurred.</a:t>
            </a:r>
          </a:p>
        </p:txBody>
      </p:sp>
      <p:sp>
        <p:nvSpPr>
          <p:cNvPr id="22" name="Rounded Rectangle 21"/>
          <p:cNvSpPr/>
          <p:nvPr/>
        </p:nvSpPr>
        <p:spPr>
          <a:xfrm>
            <a:off x="548640" y="3291840"/>
            <a:ext cx="5394960" cy="17373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291840"/>
            <a:ext cx="73152" cy="17373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1520" y="3456432"/>
            <a:ext cx="2194560" cy="237744"/>
          </a:xfrm>
          <a:prstGeom prst="roundRect">
            <a:avLst/>
          </a:prstGeom>
          <a:solidFill>
            <a:srgbClr val="1A233A"/>
          </a:solidFill>
          <a:ln w="63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474720"/>
            <a:ext cx="2194560" cy="201168"/>
          </a:xfrm>
          <a:prstGeom prst="rect">
            <a:avLst/>
          </a:prstGeom>
          <a:noFill/>
        </p:spPr>
        <p:txBody>
          <a:bodyPr wrap="square" lIns="45720" rIns="45720">
            <a:spAutoFit/>
          </a:bodyPr>
          <a:lstStyle/>
          <a:p>
            <a:pPr algn="ctr"/>
            <a:r>
              <a:rPr sz="900" b="1" i="0">
                <a:solidFill>
                  <a:srgbClr val="8B5CF6"/>
                </a:solidFill>
                <a:latin typeface="Segoe UI"/>
              </a:rPr>
              <a:t>IMAGE &amp; VIDEO PIPELINE</a:t>
            </a:r>
          </a:p>
        </p:txBody>
      </p:sp>
      <p:sp>
        <p:nvSpPr>
          <p:cNvPr id="26" name="TextBox 25"/>
          <p:cNvSpPr txBox="1"/>
          <p:nvPr/>
        </p:nvSpPr>
        <p:spPr>
          <a:xfrm>
            <a:off x="731520" y="3794760"/>
            <a:ext cx="5029200" cy="320040"/>
          </a:xfrm>
          <a:prstGeom prst="rect">
            <a:avLst/>
          </a:prstGeom>
          <a:noFill/>
        </p:spPr>
        <p:txBody>
          <a:bodyPr wrap="square" lIns="45720" rIns="45720">
            <a:spAutoFit/>
          </a:bodyPr>
          <a:lstStyle/>
          <a:p>
            <a:pPr algn="l"/>
            <a:r>
              <a:rPr sz="1400" b="1" i="0">
                <a:solidFill>
                  <a:srgbClr val="F8FAFC"/>
                </a:solidFill>
                <a:latin typeface="Segoe UI"/>
              </a:rPr>
              <a:t>Dual Modality Forensic Coverage</a:t>
            </a:r>
          </a:p>
        </p:txBody>
      </p:sp>
      <p:sp>
        <p:nvSpPr>
          <p:cNvPr id="27" name="TextBox 26"/>
          <p:cNvSpPr txBox="1"/>
          <p:nvPr/>
        </p:nvSpPr>
        <p:spPr>
          <a:xfrm>
            <a:off x="731520" y="4160520"/>
            <a:ext cx="5029200" cy="777240"/>
          </a:xfrm>
          <a:prstGeom prst="rect">
            <a:avLst/>
          </a:prstGeom>
          <a:noFill/>
        </p:spPr>
        <p:txBody>
          <a:bodyPr wrap="square" lIns="45720" rIns="45720">
            <a:spAutoFit/>
          </a:bodyPr>
          <a:lstStyle/>
          <a:p>
            <a:pPr algn="l"/>
            <a:r>
              <a:rPr sz="1100" b="0" i="0">
                <a:solidFill>
                  <a:srgbClr val="94A3B8"/>
                </a:solidFill>
                <a:latin typeface="Segoe UI"/>
              </a:rPr>
              <a:t>Engineered an automated face detection and decimation pipeline capable of processing both single snapshots and extended temporal video streams without memory exhaustion.</a:t>
            </a:r>
          </a:p>
        </p:txBody>
      </p:sp>
      <p:sp>
        <p:nvSpPr>
          <p:cNvPr id="28" name="Rounded Rectangle 27"/>
          <p:cNvSpPr/>
          <p:nvPr/>
        </p:nvSpPr>
        <p:spPr>
          <a:xfrm>
            <a:off x="6217920" y="3291840"/>
            <a:ext cx="5394960" cy="17373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291840"/>
            <a:ext cx="73152" cy="1737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400800" y="3456432"/>
            <a:ext cx="2194560" cy="237744"/>
          </a:xfrm>
          <a:prstGeom prst="roundRect">
            <a:avLst/>
          </a:prstGeom>
          <a:solidFill>
            <a:srgbClr val="1A233A"/>
          </a:solidFill>
          <a:ln w="63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3474720"/>
            <a:ext cx="2194560" cy="201168"/>
          </a:xfrm>
          <a:prstGeom prst="rect">
            <a:avLst/>
          </a:prstGeom>
          <a:noFill/>
        </p:spPr>
        <p:txBody>
          <a:bodyPr wrap="square" lIns="45720" rIns="45720">
            <a:spAutoFit/>
          </a:bodyPr>
          <a:lstStyle/>
          <a:p>
            <a:pPr algn="ctr"/>
            <a:r>
              <a:rPr sz="900" b="1" i="0">
                <a:solidFill>
                  <a:srgbClr val="10B981"/>
                </a:solidFill>
                <a:latin typeface="Segoe UI"/>
              </a:rPr>
              <a:t>AUTOMATED DOSSIERS &amp; REST API</a:t>
            </a:r>
          </a:p>
        </p:txBody>
      </p:sp>
      <p:sp>
        <p:nvSpPr>
          <p:cNvPr id="32" name="TextBox 31"/>
          <p:cNvSpPr txBox="1"/>
          <p:nvPr/>
        </p:nvSpPr>
        <p:spPr>
          <a:xfrm>
            <a:off x="6400800" y="3794760"/>
            <a:ext cx="5029200" cy="320040"/>
          </a:xfrm>
          <a:prstGeom prst="rect">
            <a:avLst/>
          </a:prstGeom>
          <a:noFill/>
        </p:spPr>
        <p:txBody>
          <a:bodyPr wrap="square" lIns="45720" rIns="45720">
            <a:spAutoFit/>
          </a:bodyPr>
          <a:lstStyle/>
          <a:p>
            <a:pPr algn="l"/>
            <a:r>
              <a:rPr sz="1400" b="1" i="0">
                <a:solidFill>
                  <a:srgbClr val="F8FAFC"/>
                </a:solidFill>
                <a:latin typeface="Segoe UI"/>
              </a:rPr>
              <a:t>End-to-End Operational Readiness</a:t>
            </a:r>
          </a:p>
        </p:txBody>
      </p:sp>
      <p:sp>
        <p:nvSpPr>
          <p:cNvPr id="33" name="TextBox 32"/>
          <p:cNvSpPr txBox="1"/>
          <p:nvPr/>
        </p:nvSpPr>
        <p:spPr>
          <a:xfrm>
            <a:off x="6400800" y="4160520"/>
            <a:ext cx="5029200" cy="777240"/>
          </a:xfrm>
          <a:prstGeom prst="rect">
            <a:avLst/>
          </a:prstGeom>
          <a:noFill/>
        </p:spPr>
        <p:txBody>
          <a:bodyPr wrap="square" lIns="45720" rIns="45720">
            <a:spAutoFit/>
          </a:bodyPr>
          <a:lstStyle/>
          <a:p>
            <a:pPr algn="l"/>
            <a:r>
              <a:rPr sz="1100" b="0" i="0">
                <a:solidFill>
                  <a:srgbClr val="94A3B8"/>
                </a:solidFill>
                <a:latin typeface="Segoe UI"/>
              </a:rPr>
              <a:t>Delivered an enterprise-ready solution featuring 1-click legal PDF dossier compilation, historical SQLite audit registries, and headless REST endpoints for automated triage.</a:t>
            </a:r>
          </a:p>
        </p:txBody>
      </p:sp>
      <p:sp>
        <p:nvSpPr>
          <p:cNvPr id="34" name="Rounded Rectangle 33"/>
          <p:cNvSpPr/>
          <p:nvPr/>
        </p:nvSpPr>
        <p:spPr>
          <a:xfrm>
            <a:off x="548640" y="5166360"/>
            <a:ext cx="11064240" cy="1280160"/>
          </a:xfrm>
          <a:prstGeom prst="roundRect">
            <a:avLst/>
          </a:prstGeom>
          <a:solidFill>
            <a:srgbClr val="1A233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5303520"/>
            <a:ext cx="10607040" cy="228600"/>
          </a:xfrm>
          <a:prstGeom prst="rect">
            <a:avLst/>
          </a:prstGeom>
          <a:noFill/>
        </p:spPr>
        <p:txBody>
          <a:bodyPr wrap="square" lIns="45720" rIns="45720">
            <a:spAutoFit/>
          </a:bodyPr>
          <a:lstStyle/>
          <a:p>
            <a:pPr algn="l"/>
            <a:r>
              <a:rPr sz="1100" b="1" i="0">
                <a:solidFill>
                  <a:srgbClr val="06B6D4"/>
                </a:solidFill>
                <a:latin typeface="Segoe UI"/>
              </a:rPr>
              <a:t>SOCIETAL &amp; LEGAL IMPACT</a:t>
            </a:r>
          </a:p>
        </p:txBody>
      </p:sp>
      <p:sp>
        <p:nvSpPr>
          <p:cNvPr id="36" name="TextBox 35"/>
          <p:cNvSpPr txBox="1"/>
          <p:nvPr/>
        </p:nvSpPr>
        <p:spPr>
          <a:xfrm>
            <a:off x="777240" y="5577840"/>
            <a:ext cx="10607040" cy="777240"/>
          </a:xfrm>
          <a:prstGeom prst="rect">
            <a:avLst/>
          </a:prstGeom>
          <a:noFill/>
        </p:spPr>
        <p:txBody>
          <a:bodyPr wrap="square" lIns="45720" rIns="45720">
            <a:spAutoFit/>
          </a:bodyPr>
          <a:lstStyle/>
          <a:p>
            <a:pPr algn="l"/>
            <a:r>
              <a:rPr sz="1200" b="0" i="1">
                <a:solidFill>
                  <a:srgbClr val="F8FAFC"/>
                </a:solidFill>
                <a:latin typeface="Segoe UI"/>
              </a:rPr>
              <a:t>The Deepfake Investigation System establishes a reproducible, explainable, and tamper-evident framework for safeguarding media integrity. By converting complex neural network tensors into understandable visual heatmaps and certified forensic reports, it restores evidentiary trust for legal authorities, journalists, and enterprise cybersecurity.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20040"/>
            <a:ext cx="2560320" cy="292608"/>
          </a:xfrm>
          <a:prstGeom prst="roundRect">
            <a:avLst/>
          </a:prstGeom>
          <a:solidFill>
            <a:srgbClr val="111827"/>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47472"/>
            <a:ext cx="2560320" cy="274320"/>
          </a:xfrm>
          <a:prstGeom prst="rect">
            <a:avLst/>
          </a:prstGeom>
          <a:noFill/>
        </p:spPr>
        <p:txBody>
          <a:bodyPr wrap="square" lIns="45720" rIns="45720">
            <a:spAutoFit/>
          </a:bodyPr>
          <a:lstStyle/>
          <a:p>
            <a:pPr algn="ctr"/>
            <a:r>
              <a:rPr sz="1000" b="1" i="0">
                <a:solidFill>
                  <a:srgbClr val="06B6D4"/>
                </a:solidFill>
                <a:latin typeface="Segoe UI"/>
              </a:rPr>
              <a:t>7. CONCLUSION</a:t>
            </a:r>
          </a:p>
        </p:txBody>
      </p:sp>
      <p:sp>
        <p:nvSpPr>
          <p:cNvPr id="6" name="Rounded Rectangle 5"/>
          <p:cNvSpPr/>
          <p:nvPr/>
        </p:nvSpPr>
        <p:spPr>
          <a:xfrm>
            <a:off x="11064240" y="320040"/>
            <a:ext cx="640080" cy="292608"/>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347472"/>
            <a:ext cx="640080" cy="274320"/>
          </a:xfrm>
          <a:prstGeom prst="rect">
            <a:avLst/>
          </a:prstGeom>
          <a:noFill/>
        </p:spPr>
        <p:txBody>
          <a:bodyPr wrap="square" lIns="45720" rIns="45720">
            <a:spAutoFit/>
          </a:bodyPr>
          <a:lstStyle/>
          <a:p>
            <a:pPr algn="ctr"/>
            <a:r>
              <a:rPr sz="1100" b="1" i="0">
                <a:solidFill>
                  <a:srgbClr val="94A3B8"/>
                </a:solidFill>
                <a:latin typeface="Segoe UI"/>
              </a:rPr>
              <a:t>13</a:t>
            </a:r>
          </a:p>
        </p:txBody>
      </p:sp>
      <p:sp>
        <p:nvSpPr>
          <p:cNvPr id="8" name="TextBox 7"/>
          <p:cNvSpPr txBox="1"/>
          <p:nvPr/>
        </p:nvSpPr>
        <p:spPr>
          <a:xfrm>
            <a:off x="548640" y="685800"/>
            <a:ext cx="10515600" cy="502920"/>
          </a:xfrm>
          <a:prstGeom prst="rect">
            <a:avLst/>
          </a:prstGeom>
          <a:noFill/>
        </p:spPr>
        <p:txBody>
          <a:bodyPr wrap="square" lIns="45720" rIns="45720">
            <a:spAutoFit/>
          </a:bodyPr>
          <a:lstStyle/>
          <a:p>
            <a:pPr algn="l"/>
            <a:r>
              <a:rPr sz="2400" b="1" i="0">
                <a:solidFill>
                  <a:srgbClr val="F8FAFC"/>
                </a:solidFill>
                <a:latin typeface="Segoe UI"/>
              </a:rPr>
              <a:t>Future Enhancements &amp; Research Roadmap</a:t>
            </a:r>
          </a:p>
        </p:txBody>
      </p:sp>
      <p:sp>
        <p:nvSpPr>
          <p:cNvPr id="9" name="Rectangle 8"/>
          <p:cNvSpPr/>
          <p:nvPr/>
        </p:nvSpPr>
        <p:spPr>
          <a:xfrm>
            <a:off x="548640" y="1234440"/>
            <a:ext cx="11155680"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417320"/>
            <a:ext cx="2651760" cy="502920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65176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85800" y="1600200"/>
            <a:ext cx="2377440" cy="292608"/>
          </a:xfrm>
          <a:prstGeom prst="roundRect">
            <a:avLst/>
          </a:prstGeom>
          <a:solidFill>
            <a:srgbClr val="1A233A"/>
          </a:solidFill>
          <a:ln w="63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1636776"/>
            <a:ext cx="2377440" cy="228600"/>
          </a:xfrm>
          <a:prstGeom prst="rect">
            <a:avLst/>
          </a:prstGeom>
          <a:noFill/>
        </p:spPr>
        <p:txBody>
          <a:bodyPr wrap="square" lIns="45720" rIns="45720">
            <a:spAutoFit/>
          </a:bodyPr>
          <a:lstStyle/>
          <a:p>
            <a:pPr algn="ctr"/>
            <a:r>
              <a:rPr sz="900" b="1" i="0">
                <a:solidFill>
                  <a:srgbClr val="06B6D4"/>
                </a:solidFill>
                <a:latin typeface="Segoe UI"/>
              </a:rPr>
              <a:t>LIP-SYNC &amp; VOCAL ANALYSIS</a:t>
            </a:r>
          </a:p>
        </p:txBody>
      </p:sp>
      <p:sp>
        <p:nvSpPr>
          <p:cNvPr id="14" name="TextBox 13"/>
          <p:cNvSpPr txBox="1"/>
          <p:nvPr/>
        </p:nvSpPr>
        <p:spPr>
          <a:xfrm>
            <a:off x="685800" y="2039112"/>
            <a:ext cx="2377440" cy="640080"/>
          </a:xfrm>
          <a:prstGeom prst="rect">
            <a:avLst/>
          </a:prstGeom>
          <a:noFill/>
        </p:spPr>
        <p:txBody>
          <a:bodyPr wrap="square" lIns="45720" rIns="45720">
            <a:spAutoFit/>
          </a:bodyPr>
          <a:lstStyle/>
          <a:p>
            <a:pPr algn="l"/>
            <a:r>
              <a:rPr sz="1300" b="1" i="0">
                <a:solidFill>
                  <a:srgbClr val="F8FAFC"/>
                </a:solidFill>
                <a:latin typeface="Segoe UI"/>
              </a:rPr>
              <a:t>Phase 1: Audio-Visual Multimodal Fusion</a:t>
            </a:r>
          </a:p>
        </p:txBody>
      </p:sp>
      <p:sp>
        <p:nvSpPr>
          <p:cNvPr id="15" name="Rectangle 14"/>
          <p:cNvSpPr/>
          <p:nvPr/>
        </p:nvSpPr>
        <p:spPr>
          <a:xfrm>
            <a:off x="685800" y="2743200"/>
            <a:ext cx="2377440" cy="635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880360"/>
            <a:ext cx="2377440" cy="3291840"/>
          </a:xfrm>
          <a:prstGeom prst="rect">
            <a:avLst/>
          </a:prstGeom>
          <a:noFill/>
        </p:spPr>
        <p:txBody>
          <a:bodyPr wrap="square" lIns="45720" rIns="45720">
            <a:spAutoFit/>
          </a:bodyPr>
          <a:lstStyle/>
          <a:p>
            <a:pPr>
              <a:spcBef>
                <a:spcPts val="600"/>
              </a:spcBef>
            </a:pPr>
            <a:r>
              <a:rPr sz="1100" b="1">
                <a:solidFill>
                  <a:srgbClr val="06B6D4"/>
                </a:solidFill>
                <a:latin typeface="Segoe UI"/>
              </a:rPr>
              <a:t>•  </a:t>
            </a:r>
            <a:r>
              <a:rPr sz="1100">
                <a:solidFill>
                  <a:srgbClr val="94A3B8"/>
                </a:solidFill>
                <a:latin typeface="Segoe UI"/>
              </a:rPr>
              <a:t>Cross-reference visual lip movements against acoustic phonemes to detect dubbing.</a:t>
            </a:r>
          </a:p>
          <a:p>
            <a:pPr>
              <a:spcBef>
                <a:spcPts val="600"/>
              </a:spcBef>
            </a:pPr>
            <a:r>
              <a:rPr sz="1100" b="1">
                <a:solidFill>
                  <a:srgbClr val="06B6D4"/>
                </a:solidFill>
                <a:latin typeface="Segoe UI"/>
              </a:rPr>
              <a:t>•  </a:t>
            </a:r>
            <a:r>
              <a:rPr sz="1100">
                <a:solidFill>
                  <a:srgbClr val="94A3B8"/>
                </a:solidFill>
                <a:latin typeface="Segoe UI"/>
              </a:rPr>
              <a:t>Incorporate Wav2Vec / Mel-spectrogram frequency anomaly classifiers.</a:t>
            </a:r>
          </a:p>
          <a:p>
            <a:pPr>
              <a:spcBef>
                <a:spcPts val="600"/>
              </a:spcBef>
            </a:pPr>
            <a:r>
              <a:rPr sz="1100" b="1">
                <a:solidFill>
                  <a:srgbClr val="06B6D4"/>
                </a:solidFill>
                <a:latin typeface="Segoe UI"/>
              </a:rPr>
              <a:t>•  </a:t>
            </a:r>
            <a:r>
              <a:rPr sz="1100">
                <a:solidFill>
                  <a:srgbClr val="94A3B8"/>
                </a:solidFill>
                <a:latin typeface="Segoe UI"/>
              </a:rPr>
              <a:t>Calculate audio-visual synchronization confidence coefficients.</a:t>
            </a:r>
          </a:p>
        </p:txBody>
      </p:sp>
      <p:sp>
        <p:nvSpPr>
          <p:cNvPr id="17" name="Rounded Rectangle 16"/>
          <p:cNvSpPr/>
          <p:nvPr/>
        </p:nvSpPr>
        <p:spPr>
          <a:xfrm>
            <a:off x="3355848" y="1417320"/>
            <a:ext cx="2651760" cy="502920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55848" y="1417320"/>
            <a:ext cx="2651760" cy="381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493008" y="1600200"/>
            <a:ext cx="2377440" cy="292608"/>
          </a:xfrm>
          <a:prstGeom prst="roundRect">
            <a:avLst/>
          </a:prstGeom>
          <a:solidFill>
            <a:srgbClr val="1A233A"/>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93008" y="1636776"/>
            <a:ext cx="2377440" cy="228600"/>
          </a:xfrm>
          <a:prstGeom prst="rect">
            <a:avLst/>
          </a:prstGeom>
          <a:noFill/>
        </p:spPr>
        <p:txBody>
          <a:bodyPr wrap="square" lIns="45720" rIns="45720">
            <a:spAutoFit/>
          </a:bodyPr>
          <a:lstStyle/>
          <a:p>
            <a:pPr algn="ctr"/>
            <a:r>
              <a:rPr sz="900" b="1" i="0">
                <a:solidFill>
                  <a:srgbClr val="3B82F6"/>
                </a:solidFill>
                <a:latin typeface="Segoe UI"/>
              </a:rPr>
              <a:t>MICRO-EXPRESSION CONTINUITY</a:t>
            </a:r>
          </a:p>
        </p:txBody>
      </p:sp>
      <p:sp>
        <p:nvSpPr>
          <p:cNvPr id="21" name="TextBox 20"/>
          <p:cNvSpPr txBox="1"/>
          <p:nvPr/>
        </p:nvSpPr>
        <p:spPr>
          <a:xfrm>
            <a:off x="3493008" y="2039112"/>
            <a:ext cx="2377440" cy="640080"/>
          </a:xfrm>
          <a:prstGeom prst="rect">
            <a:avLst/>
          </a:prstGeom>
          <a:noFill/>
        </p:spPr>
        <p:txBody>
          <a:bodyPr wrap="square" lIns="45720" rIns="45720">
            <a:spAutoFit/>
          </a:bodyPr>
          <a:lstStyle/>
          <a:p>
            <a:pPr algn="l"/>
            <a:r>
              <a:rPr sz="1300" b="1" i="0">
                <a:solidFill>
                  <a:srgbClr val="F8FAFC"/>
                </a:solidFill>
                <a:latin typeface="Segoe UI"/>
              </a:rPr>
              <a:t>Phase 2: Spatio-Temporal 3D-CNNs &amp; Transformers</a:t>
            </a:r>
          </a:p>
        </p:txBody>
      </p:sp>
      <p:sp>
        <p:nvSpPr>
          <p:cNvPr id="22" name="Rectangle 21"/>
          <p:cNvSpPr/>
          <p:nvPr/>
        </p:nvSpPr>
        <p:spPr>
          <a:xfrm>
            <a:off x="3493008" y="2743200"/>
            <a:ext cx="2377440" cy="635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93008" y="2880360"/>
            <a:ext cx="2377440" cy="3291840"/>
          </a:xfrm>
          <a:prstGeom prst="rect">
            <a:avLst/>
          </a:prstGeom>
          <a:noFill/>
        </p:spPr>
        <p:txBody>
          <a:bodyPr wrap="square" lIns="45720" rIns="45720">
            <a:spAutoFit/>
          </a:bodyPr>
          <a:lstStyle/>
          <a:p>
            <a:pPr>
              <a:spcBef>
                <a:spcPts val="600"/>
              </a:spcBef>
            </a:pPr>
            <a:r>
              <a:rPr sz="1100" b="1">
                <a:solidFill>
                  <a:srgbClr val="06B6D4"/>
                </a:solidFill>
                <a:latin typeface="Segoe UI"/>
              </a:rPr>
              <a:t>•  </a:t>
            </a:r>
            <a:r>
              <a:rPr sz="1100">
                <a:solidFill>
                  <a:srgbClr val="94A3B8"/>
                </a:solidFill>
                <a:latin typeface="Segoe UI"/>
              </a:rPr>
              <a:t>Deploy 3D-ResNet / Video Vision Transformers (TimeSformer) for motion dynamics.</a:t>
            </a:r>
          </a:p>
          <a:p>
            <a:pPr>
              <a:spcBef>
                <a:spcPts val="600"/>
              </a:spcBef>
            </a:pPr>
            <a:r>
              <a:rPr sz="1100" b="1">
                <a:solidFill>
                  <a:srgbClr val="06B6D4"/>
                </a:solidFill>
                <a:latin typeface="Segoe UI"/>
              </a:rPr>
              <a:t>•  </a:t>
            </a:r>
            <a:r>
              <a:rPr sz="1100">
                <a:solidFill>
                  <a:srgbClr val="94A3B8"/>
                </a:solidFill>
                <a:latin typeface="Segoe UI"/>
              </a:rPr>
              <a:t>Track micro-expression flicker and temporal blending inconsistencies across frames.</a:t>
            </a:r>
          </a:p>
          <a:p>
            <a:pPr>
              <a:spcBef>
                <a:spcPts val="600"/>
              </a:spcBef>
            </a:pPr>
            <a:r>
              <a:rPr sz="1100" b="1">
                <a:solidFill>
                  <a:srgbClr val="06B6D4"/>
                </a:solidFill>
                <a:latin typeface="Segoe UI"/>
              </a:rPr>
              <a:t>•  </a:t>
            </a:r>
            <a:r>
              <a:rPr sz="1100">
                <a:solidFill>
                  <a:srgbClr val="94A3B8"/>
                </a:solidFill>
                <a:latin typeface="Segoe UI"/>
              </a:rPr>
              <a:t>Reduce per-frame decimation reliance with optical flow continuity modeling.</a:t>
            </a:r>
          </a:p>
        </p:txBody>
      </p:sp>
      <p:sp>
        <p:nvSpPr>
          <p:cNvPr id="24" name="Rounded Rectangle 23"/>
          <p:cNvSpPr/>
          <p:nvPr/>
        </p:nvSpPr>
        <p:spPr>
          <a:xfrm>
            <a:off x="6163056" y="1417320"/>
            <a:ext cx="2651760" cy="502920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63056" y="1417320"/>
            <a:ext cx="2651760" cy="381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300216" y="1600200"/>
            <a:ext cx="2377440" cy="292608"/>
          </a:xfrm>
          <a:prstGeom prst="roundRect">
            <a:avLst/>
          </a:prstGeom>
          <a:solidFill>
            <a:srgbClr val="1A233A"/>
          </a:solidFill>
          <a:ln w="63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0216" y="1636776"/>
            <a:ext cx="2377440" cy="228600"/>
          </a:xfrm>
          <a:prstGeom prst="rect">
            <a:avLst/>
          </a:prstGeom>
          <a:noFill/>
        </p:spPr>
        <p:txBody>
          <a:bodyPr wrap="square" lIns="45720" rIns="45720">
            <a:spAutoFit/>
          </a:bodyPr>
          <a:lstStyle/>
          <a:p>
            <a:pPr algn="ctr"/>
            <a:r>
              <a:rPr sz="900" b="1" i="0">
                <a:solidFill>
                  <a:srgbClr val="8B5CF6"/>
                </a:solidFill>
                <a:latin typeface="Segoe UI"/>
              </a:rPr>
              <a:t>CRYPTOGRAPHIC TAMPER-PROOFING</a:t>
            </a:r>
          </a:p>
        </p:txBody>
      </p:sp>
      <p:sp>
        <p:nvSpPr>
          <p:cNvPr id="28" name="TextBox 27"/>
          <p:cNvSpPr txBox="1"/>
          <p:nvPr/>
        </p:nvSpPr>
        <p:spPr>
          <a:xfrm>
            <a:off x="6300216" y="2039112"/>
            <a:ext cx="2377440" cy="640080"/>
          </a:xfrm>
          <a:prstGeom prst="rect">
            <a:avLst/>
          </a:prstGeom>
          <a:noFill/>
        </p:spPr>
        <p:txBody>
          <a:bodyPr wrap="square" lIns="45720" rIns="45720">
            <a:spAutoFit/>
          </a:bodyPr>
          <a:lstStyle/>
          <a:p>
            <a:pPr algn="l"/>
            <a:r>
              <a:rPr sz="1300" b="1" i="0">
                <a:solidFill>
                  <a:srgbClr val="F8FAFC"/>
                </a:solidFill>
                <a:latin typeface="Segoe UI"/>
              </a:rPr>
              <a:t>Phase 3: Blockchain Evidence Chain-of-Custody</a:t>
            </a:r>
          </a:p>
        </p:txBody>
      </p:sp>
      <p:sp>
        <p:nvSpPr>
          <p:cNvPr id="29" name="Rectangle 28"/>
          <p:cNvSpPr/>
          <p:nvPr/>
        </p:nvSpPr>
        <p:spPr>
          <a:xfrm>
            <a:off x="6300216" y="2743200"/>
            <a:ext cx="2377440" cy="635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0216" y="2880360"/>
            <a:ext cx="2377440" cy="3291840"/>
          </a:xfrm>
          <a:prstGeom prst="rect">
            <a:avLst/>
          </a:prstGeom>
          <a:noFill/>
        </p:spPr>
        <p:txBody>
          <a:bodyPr wrap="square" lIns="45720" rIns="45720">
            <a:spAutoFit/>
          </a:bodyPr>
          <a:lstStyle/>
          <a:p>
            <a:pPr>
              <a:spcBef>
                <a:spcPts val="600"/>
              </a:spcBef>
            </a:pPr>
            <a:r>
              <a:rPr sz="1100" b="1">
                <a:solidFill>
                  <a:srgbClr val="06B6D4"/>
                </a:solidFill>
                <a:latin typeface="Segoe UI"/>
              </a:rPr>
              <a:t>•  </a:t>
            </a:r>
            <a:r>
              <a:rPr sz="1100">
                <a:solidFill>
                  <a:srgbClr val="94A3B8"/>
                </a:solidFill>
                <a:latin typeface="Segoe UI"/>
              </a:rPr>
              <a:t>Anchor SHA-256 evidence hashes onto immutable distributed ledgers.</a:t>
            </a:r>
          </a:p>
          <a:p>
            <a:pPr>
              <a:spcBef>
                <a:spcPts val="600"/>
              </a:spcBef>
            </a:pPr>
            <a:r>
              <a:rPr sz="1100" b="1">
                <a:solidFill>
                  <a:srgbClr val="06B6D4"/>
                </a:solidFill>
                <a:latin typeface="Segoe UI"/>
              </a:rPr>
              <a:t>•  </a:t>
            </a:r>
            <a:r>
              <a:rPr sz="1100">
                <a:solidFill>
                  <a:srgbClr val="94A3B8"/>
                </a:solidFill>
                <a:latin typeface="Segoe UI"/>
              </a:rPr>
              <a:t>Cryptographically sign forensic PDF dossiers with verifiable examiner private keys.</a:t>
            </a:r>
          </a:p>
          <a:p>
            <a:pPr>
              <a:spcBef>
                <a:spcPts val="600"/>
              </a:spcBef>
            </a:pPr>
            <a:r>
              <a:rPr sz="1100" b="1">
                <a:solidFill>
                  <a:srgbClr val="06B6D4"/>
                </a:solidFill>
                <a:latin typeface="Segoe UI"/>
              </a:rPr>
              <a:t>•  </a:t>
            </a:r>
            <a:r>
              <a:rPr sz="1100">
                <a:solidFill>
                  <a:srgbClr val="94A3B8"/>
                </a:solidFill>
                <a:latin typeface="Segoe UI"/>
              </a:rPr>
              <a:t>Ensure unbroken chain-of-custody compliant with federal digital forensic rules.</a:t>
            </a:r>
          </a:p>
        </p:txBody>
      </p:sp>
      <p:sp>
        <p:nvSpPr>
          <p:cNvPr id="31" name="Rounded Rectangle 30"/>
          <p:cNvSpPr/>
          <p:nvPr/>
        </p:nvSpPr>
        <p:spPr>
          <a:xfrm>
            <a:off x="8970264" y="1417320"/>
            <a:ext cx="2651760" cy="502920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970264" y="1417320"/>
            <a:ext cx="265176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107424" y="1600200"/>
            <a:ext cx="2377440" cy="292608"/>
          </a:xfrm>
          <a:prstGeom prst="roundRect">
            <a:avLst/>
          </a:prstGeom>
          <a:solidFill>
            <a:srgbClr val="1A233A"/>
          </a:solidFill>
          <a:ln w="63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07424" y="1636776"/>
            <a:ext cx="2377440" cy="228600"/>
          </a:xfrm>
          <a:prstGeom prst="rect">
            <a:avLst/>
          </a:prstGeom>
          <a:noFill/>
        </p:spPr>
        <p:txBody>
          <a:bodyPr wrap="square" lIns="45720" rIns="45720">
            <a:spAutoFit/>
          </a:bodyPr>
          <a:lstStyle/>
          <a:p>
            <a:pPr algn="ctr"/>
            <a:r>
              <a:rPr sz="900" b="1" i="0">
                <a:solidFill>
                  <a:srgbClr val="10B981"/>
                </a:solidFill>
                <a:latin typeface="Segoe UI"/>
              </a:rPr>
              <a:t>NEXT-GEN GENERATIVE COUNTERMEASURES</a:t>
            </a:r>
          </a:p>
        </p:txBody>
      </p:sp>
      <p:sp>
        <p:nvSpPr>
          <p:cNvPr id="35" name="TextBox 34"/>
          <p:cNvSpPr txBox="1"/>
          <p:nvPr/>
        </p:nvSpPr>
        <p:spPr>
          <a:xfrm>
            <a:off x="9107424" y="2039112"/>
            <a:ext cx="2377440" cy="640080"/>
          </a:xfrm>
          <a:prstGeom prst="rect">
            <a:avLst/>
          </a:prstGeom>
          <a:noFill/>
        </p:spPr>
        <p:txBody>
          <a:bodyPr wrap="square" lIns="45720" rIns="45720">
            <a:spAutoFit/>
          </a:bodyPr>
          <a:lstStyle/>
          <a:p>
            <a:pPr algn="l"/>
            <a:r>
              <a:rPr sz="1300" b="1" i="0">
                <a:solidFill>
                  <a:srgbClr val="F8FAFC"/>
                </a:solidFill>
                <a:latin typeface="Segoe UI"/>
              </a:rPr>
              <a:t>Phase 4: Diffusion &amp; Latent Reconstruction Defense</a:t>
            </a:r>
          </a:p>
        </p:txBody>
      </p:sp>
      <p:sp>
        <p:nvSpPr>
          <p:cNvPr id="36" name="Rectangle 35"/>
          <p:cNvSpPr/>
          <p:nvPr/>
        </p:nvSpPr>
        <p:spPr>
          <a:xfrm>
            <a:off x="9107424" y="2743200"/>
            <a:ext cx="2377440" cy="635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424" y="2880360"/>
            <a:ext cx="2377440" cy="3291840"/>
          </a:xfrm>
          <a:prstGeom prst="rect">
            <a:avLst/>
          </a:prstGeom>
          <a:noFill/>
        </p:spPr>
        <p:txBody>
          <a:bodyPr wrap="square" lIns="45720" rIns="45720">
            <a:spAutoFit/>
          </a:bodyPr>
          <a:lstStyle/>
          <a:p>
            <a:pPr>
              <a:spcBef>
                <a:spcPts val="600"/>
              </a:spcBef>
            </a:pPr>
            <a:r>
              <a:rPr sz="1100" b="1">
                <a:solidFill>
                  <a:srgbClr val="06B6D4"/>
                </a:solidFill>
                <a:latin typeface="Segoe UI"/>
              </a:rPr>
              <a:t>•  </a:t>
            </a:r>
            <a:r>
              <a:rPr sz="1100">
                <a:solidFill>
                  <a:srgbClr val="94A3B8"/>
                </a:solidFill>
                <a:latin typeface="Segoe UI"/>
              </a:rPr>
              <a:t>Engineer specific detectors for Stable Diffusion, Midjourney v6, and Sora artifacts.</a:t>
            </a:r>
          </a:p>
          <a:p>
            <a:pPr>
              <a:spcBef>
                <a:spcPts val="600"/>
              </a:spcBef>
            </a:pPr>
            <a:r>
              <a:rPr sz="1100" b="1">
                <a:solidFill>
                  <a:srgbClr val="06B6D4"/>
                </a:solidFill>
                <a:latin typeface="Segoe UI"/>
              </a:rPr>
              <a:t>•  </a:t>
            </a:r>
            <a:r>
              <a:rPr sz="1100">
                <a:solidFill>
                  <a:srgbClr val="94A3B8"/>
                </a:solidFill>
                <a:latin typeface="Segoe UI"/>
              </a:rPr>
              <a:t>Incorporate latent reverse-engineering to reconstruct original unmodified faces.</a:t>
            </a:r>
          </a:p>
          <a:p>
            <a:pPr>
              <a:spcBef>
                <a:spcPts val="600"/>
              </a:spcBef>
            </a:pPr>
            <a:r>
              <a:rPr sz="1100" b="1">
                <a:solidFill>
                  <a:srgbClr val="06B6D4"/>
                </a:solidFill>
                <a:latin typeface="Segoe UI"/>
              </a:rPr>
              <a:t>•  </a:t>
            </a:r>
            <a:r>
              <a:rPr sz="1100">
                <a:solidFill>
                  <a:srgbClr val="94A3B8"/>
                </a:solidFill>
                <a:latin typeface="Segoe UI"/>
              </a:rPr>
              <a:t>Implement self-updating continual learning loops against zero-day generative models.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71600" y="1097280"/>
            <a:ext cx="9445752" cy="46634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371600" y="1097280"/>
            <a:ext cx="9445752"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0" y="1554480"/>
            <a:ext cx="3959352" cy="384048"/>
          </a:xfrm>
          <a:prstGeom prst="roundRect">
            <a:avLst/>
          </a:prstGeom>
          <a:solidFill>
            <a:srgbClr val="1A233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0" y="1627632"/>
            <a:ext cx="3959352" cy="320040"/>
          </a:xfrm>
          <a:prstGeom prst="rect">
            <a:avLst/>
          </a:prstGeom>
          <a:noFill/>
        </p:spPr>
        <p:txBody>
          <a:bodyPr wrap="square" lIns="45720" rIns="45720">
            <a:spAutoFit/>
          </a:bodyPr>
          <a:lstStyle/>
          <a:p>
            <a:pPr algn="ctr"/>
            <a:r>
              <a:rPr sz="1100" b="1" i="0">
                <a:solidFill>
                  <a:srgbClr val="06B6D4"/>
                </a:solidFill>
                <a:latin typeface="Segoe UI"/>
              </a:rPr>
              <a:t>FINAL EVALUATION &amp; DEMONSTRATION</a:t>
            </a:r>
          </a:p>
        </p:txBody>
      </p:sp>
      <p:sp>
        <p:nvSpPr>
          <p:cNvPr id="8" name="TextBox 7"/>
          <p:cNvSpPr txBox="1"/>
          <p:nvPr/>
        </p:nvSpPr>
        <p:spPr>
          <a:xfrm>
            <a:off x="1645920" y="2194560"/>
            <a:ext cx="8897112" cy="731520"/>
          </a:xfrm>
          <a:prstGeom prst="rect">
            <a:avLst/>
          </a:prstGeom>
          <a:noFill/>
        </p:spPr>
        <p:txBody>
          <a:bodyPr wrap="square" lIns="45720" rIns="45720">
            <a:spAutoFit/>
          </a:bodyPr>
          <a:lstStyle/>
          <a:p>
            <a:pPr algn="ctr"/>
            <a:r>
              <a:rPr sz="4200" b="1" i="0">
                <a:solidFill>
                  <a:srgbClr val="FFFFFF"/>
                </a:solidFill>
                <a:latin typeface="Segoe UI"/>
              </a:rPr>
              <a:t>THANK YOU!</a:t>
            </a:r>
          </a:p>
        </p:txBody>
      </p:sp>
      <p:sp>
        <p:nvSpPr>
          <p:cNvPr id="9" name="TextBox 8"/>
          <p:cNvSpPr txBox="1"/>
          <p:nvPr/>
        </p:nvSpPr>
        <p:spPr>
          <a:xfrm>
            <a:off x="1645920" y="2971800"/>
            <a:ext cx="8897112" cy="457200"/>
          </a:xfrm>
          <a:prstGeom prst="rect">
            <a:avLst/>
          </a:prstGeom>
          <a:noFill/>
        </p:spPr>
        <p:txBody>
          <a:bodyPr wrap="square" lIns="45720" rIns="45720">
            <a:spAutoFit/>
          </a:bodyPr>
          <a:lstStyle/>
          <a:p>
            <a:pPr algn="ctr"/>
            <a:r>
              <a:rPr sz="2000" b="0" i="1">
                <a:solidFill>
                  <a:srgbClr val="06B6D4"/>
                </a:solidFill>
                <a:latin typeface="Segoe UI"/>
              </a:rPr>
              <a:t>Questions &amp; Technical Discussion</a:t>
            </a:r>
          </a:p>
        </p:txBody>
      </p:sp>
      <p:sp>
        <p:nvSpPr>
          <p:cNvPr id="10" name="Rectangle 9"/>
          <p:cNvSpPr/>
          <p:nvPr/>
        </p:nvSpPr>
        <p:spPr>
          <a:xfrm>
            <a:off x="2743200" y="3566160"/>
            <a:ext cx="6702552"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0" y="3840480"/>
            <a:ext cx="8531352" cy="548640"/>
          </a:xfrm>
          <a:prstGeom prst="rect">
            <a:avLst/>
          </a:prstGeom>
          <a:noFill/>
        </p:spPr>
        <p:txBody>
          <a:bodyPr wrap="square" lIns="45720" rIns="45720">
            <a:spAutoFit/>
          </a:bodyPr>
          <a:lstStyle/>
          <a:p>
            <a:pPr algn="ctr"/>
            <a:r>
              <a:rPr sz="1200" b="1" i="0">
                <a:solidFill>
                  <a:srgbClr val="F8FAFC"/>
                </a:solidFill>
                <a:latin typeface="Segoe UI"/>
              </a:rPr>
              <a:t>EfficientNet-B3 Deep Feature Extraction • Grad-CAM Explainable AI Heatmaps • Temporal Frame-by-Frame Video Forensics • Automated Court-Admissible PDF Reports • Production Flask REST API &amp; Web Dashboard</a:t>
            </a:r>
          </a:p>
        </p:txBody>
      </p:sp>
      <p:sp>
        <p:nvSpPr>
          <p:cNvPr id="12" name="TextBox 11"/>
          <p:cNvSpPr txBox="1"/>
          <p:nvPr/>
        </p:nvSpPr>
        <p:spPr>
          <a:xfrm>
            <a:off x="1645920" y="4754880"/>
            <a:ext cx="8897112" cy="365760"/>
          </a:xfrm>
          <a:prstGeom prst="rect">
            <a:avLst/>
          </a:prstGeom>
          <a:noFill/>
        </p:spPr>
        <p:txBody>
          <a:bodyPr wrap="square" lIns="45720" rIns="45720">
            <a:spAutoFit/>
          </a:bodyPr>
          <a:lstStyle/>
          <a:p>
            <a:pPr algn="ctr"/>
            <a:r>
              <a:rPr sz="1200" b="0" i="0">
                <a:solidFill>
                  <a:srgbClr val="94A3B8"/>
                </a:solidFill>
                <a:latin typeface="Segoe UI"/>
              </a:rPr>
              <a:t>Deepfake Investigation System  |  Digital Media Forensics &amp; AI Integrity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